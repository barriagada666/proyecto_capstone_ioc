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Lst>
  <p:sldSz cy="5143500" cx="9144000"/>
  <p:notesSz cx="6858000" cy="9144000"/>
  <p:embeddedFontLst>
    <p:embeddedFont>
      <p:font typeface="Roboto Thin"/>
      <p:regular r:id="rId54"/>
      <p:bold r:id="rId55"/>
      <p:italic r:id="rId56"/>
      <p:boldItalic r:id="rId57"/>
    </p:embeddedFont>
    <p:embeddedFont>
      <p:font typeface="Roboto"/>
      <p:regular r:id="rId58"/>
      <p:bold r:id="rId59"/>
      <p:italic r:id="rId60"/>
      <p:boldItalic r:id="rId61"/>
    </p:embeddedFont>
    <p:embeddedFont>
      <p:font typeface="Roboto Medium"/>
      <p:regular r:id="rId62"/>
      <p:bold r:id="rId63"/>
      <p:italic r:id="rId64"/>
      <p:boldItalic r:id="rId65"/>
    </p:embeddedFont>
    <p:embeddedFont>
      <p:font typeface="Manrope"/>
      <p:regular r:id="rId66"/>
      <p:bold r:id="rId67"/>
    </p:embeddedFont>
    <p:embeddedFont>
      <p:font typeface="Noto Sans Symbols"/>
      <p:regular r:id="rId68"/>
      <p:bold r:id="rId69"/>
    </p:embeddedFont>
    <p:embeddedFont>
      <p:font typeface="Merriweather"/>
      <p:regular r:id="rId70"/>
      <p:bold r:id="rId71"/>
      <p:italic r:id="rId72"/>
      <p:boldItalic r:id="rId7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1152">
          <p15:clr>
            <a:srgbClr val="747775"/>
          </p15:clr>
        </p15:guide>
        <p15:guide id="2" orient="horz" pos="1813">
          <p15:clr>
            <a:srgbClr val="747775"/>
          </p15:clr>
        </p15:guide>
        <p15:guide id="3" orient="horz" pos="510">
          <p15:clr>
            <a:srgbClr val="747775"/>
          </p15:clr>
        </p15:guide>
        <p15:guide id="4" pos="2880">
          <p15:clr>
            <a:srgbClr val="747775"/>
          </p15:clr>
        </p15:guide>
        <p15:guide id="5" pos="297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DC2890B-CCB2-4418-95B0-C929D5665814}">
  <a:tblStyle styleId="{6DC2890B-CCB2-4418-95B0-C929D5665814}"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E10A41CA-41E0-480D-933F-A3C887144839}"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F5CF0F2-9E4E-4FC4-A41D-F67B8F62A3A8}" styleName="Table_2">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152"/>
        <p:guide pos="1813" orient="horz"/>
        <p:guide pos="510" orient="horz"/>
        <p:guide pos="2880"/>
        <p:guide pos="2976"/>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Merriweather-boldItalic.fntdata"/><Relationship Id="rId72" Type="http://schemas.openxmlformats.org/officeDocument/2006/relationships/font" Target="fonts/Merriweather-italic.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Merriweather-bold.fntdata"/><Relationship Id="rId70" Type="http://schemas.openxmlformats.org/officeDocument/2006/relationships/font" Target="fonts/Merriweather-regular.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RobotoMedium-regular.fntdata"/><Relationship Id="rId61" Type="http://schemas.openxmlformats.org/officeDocument/2006/relationships/font" Target="fonts/Roboto-boldItalic.fntdata"/><Relationship Id="rId20" Type="http://schemas.openxmlformats.org/officeDocument/2006/relationships/slide" Target="slides/slide14.xml"/><Relationship Id="rId64" Type="http://schemas.openxmlformats.org/officeDocument/2006/relationships/font" Target="fonts/RobotoMedium-italic.fntdata"/><Relationship Id="rId63" Type="http://schemas.openxmlformats.org/officeDocument/2006/relationships/font" Target="fonts/RobotoMedium-bold.fntdata"/><Relationship Id="rId22" Type="http://schemas.openxmlformats.org/officeDocument/2006/relationships/slide" Target="slides/slide16.xml"/><Relationship Id="rId66" Type="http://schemas.openxmlformats.org/officeDocument/2006/relationships/font" Target="fonts/Manrope-regular.fntdata"/><Relationship Id="rId21" Type="http://schemas.openxmlformats.org/officeDocument/2006/relationships/slide" Target="slides/slide15.xml"/><Relationship Id="rId65" Type="http://schemas.openxmlformats.org/officeDocument/2006/relationships/font" Target="fonts/RobotoMedium-boldItalic.fntdata"/><Relationship Id="rId24" Type="http://schemas.openxmlformats.org/officeDocument/2006/relationships/slide" Target="slides/slide18.xml"/><Relationship Id="rId68" Type="http://schemas.openxmlformats.org/officeDocument/2006/relationships/font" Target="fonts/NotoSansSymbols-regular.fntdata"/><Relationship Id="rId23" Type="http://schemas.openxmlformats.org/officeDocument/2006/relationships/slide" Target="slides/slide17.xml"/><Relationship Id="rId67" Type="http://schemas.openxmlformats.org/officeDocument/2006/relationships/font" Target="fonts/Manrope-bold.fntdata"/><Relationship Id="rId60" Type="http://schemas.openxmlformats.org/officeDocument/2006/relationships/font" Target="fonts/Roboto-italic.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NotoSansSymbols-bold.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font" Target="fonts/RobotoThin-bold.fntdata"/><Relationship Id="rId10" Type="http://schemas.openxmlformats.org/officeDocument/2006/relationships/slide" Target="slides/slide4.xml"/><Relationship Id="rId54" Type="http://schemas.openxmlformats.org/officeDocument/2006/relationships/font" Target="fonts/RobotoThin-regular.fntdata"/><Relationship Id="rId13" Type="http://schemas.openxmlformats.org/officeDocument/2006/relationships/slide" Target="slides/slide7.xml"/><Relationship Id="rId57" Type="http://schemas.openxmlformats.org/officeDocument/2006/relationships/font" Target="fonts/RobotoThin-boldItalic.fntdata"/><Relationship Id="rId12" Type="http://schemas.openxmlformats.org/officeDocument/2006/relationships/slide" Target="slides/slide6.xml"/><Relationship Id="rId56" Type="http://schemas.openxmlformats.org/officeDocument/2006/relationships/font" Target="fonts/RobotoThin-italic.fntdata"/><Relationship Id="rId15" Type="http://schemas.openxmlformats.org/officeDocument/2006/relationships/slide" Target="slides/slide9.xml"/><Relationship Id="rId59" Type="http://schemas.openxmlformats.org/officeDocument/2006/relationships/font" Target="fonts/Roboto-bold.fntdata"/><Relationship Id="rId14" Type="http://schemas.openxmlformats.org/officeDocument/2006/relationships/slide" Target="slides/slide8.xml"/><Relationship Id="rId58" Type="http://schemas.openxmlformats.org/officeDocument/2006/relationships/font" Target="fonts/Roboto-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948c8fd3ed_0_0: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Para comenzar, es fundamental entender el escenario en el que nace nuestro proyecto. Cambiaso es una empresa líder en Chile, con marcas tan reconocidas como 'Té Supremo' y 'Superior'. Con casi 150 años de historia, su modelo de negocio se basa en un equilibrio entre la tradición y la innovación constante.</a:t>
            </a:r>
            <a:endParaRPr/>
          </a:p>
          <a:p>
            <a:pPr indent="0" lvl="0" marL="0" rtl="0" algn="l">
              <a:spcBef>
                <a:spcPts val="0"/>
              </a:spcBef>
              <a:spcAft>
                <a:spcPts val="0"/>
              </a:spcAft>
              <a:buNone/>
            </a:pPr>
            <a:r>
              <a:rPr lang="en-US"/>
              <a:t>Nuestro proyecto se sitúa precisamente en ese punto: en cómo la innovación tecnológica puede potenciar una empresa tradicional para mantener y fortalecer su liderazgo en un mercado competitivo.</a:t>
            </a:r>
            <a:endParaRPr/>
          </a:p>
        </p:txBody>
      </p:sp>
      <p:sp>
        <p:nvSpPr>
          <p:cNvPr id="186" name="Google Shape;18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85626dc141_1_1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g385626dc141_1_11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85626dc141_1_1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g385626dc141_1_12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85626dc141_1_1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g385626dc141_1_12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8582fdf06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g38582fdf06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8c501e865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g38c501e865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949560f29e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g3949560f29e_1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949560f29e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g3949560f29e_1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85626dc141_1_1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g385626dc141_1_12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82e0e0c553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g382e0e0c553_0_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85626dc141_1_16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g385626dc141_1_16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85626dc141_1_16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g385626dc141_1_16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85626dc141_1_16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g385626dc141_1_16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85626dc141_1_17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Entonces, ¿cuál es nuestra solución de alto nivel? La hemos llamado Inteligencia Operacional Cambiaso (IOC).</a:t>
            </a:r>
            <a:endParaRPr/>
          </a:p>
          <a:p>
            <a:pPr indent="0" lvl="0" marL="0" rtl="0" algn="l">
              <a:spcBef>
                <a:spcPts val="0"/>
              </a:spcBef>
              <a:spcAft>
                <a:spcPts val="0"/>
              </a:spcAft>
              <a:buNone/>
            </a:pPr>
            <a:r>
              <a:rPr lang="en-US"/>
              <a:t>Nuestra solución se basa en tres pilares:</a:t>
            </a:r>
            <a:endParaRPr/>
          </a:p>
          <a:p>
            <a:pPr indent="0" lvl="0" marL="0" rtl="0" algn="l">
              <a:spcBef>
                <a:spcPts val="0"/>
              </a:spcBef>
              <a:spcAft>
                <a:spcPts val="0"/>
              </a:spcAft>
              <a:buNone/>
            </a:pPr>
            <a:r>
              <a:rPr lang="en-US"/>
              <a:t>Primero, CENTRALIZACIÓN, donde implementaremos un proceso ETL para unificar los datos en una única fuente de verdad.</a:t>
            </a:r>
            <a:endParaRPr/>
          </a:p>
          <a:p>
            <a:pPr indent="0" lvl="0" marL="0" rtl="0" algn="l">
              <a:spcBef>
                <a:spcPts val="0"/>
              </a:spcBef>
              <a:spcAft>
                <a:spcPts val="0"/>
              </a:spcAft>
              <a:buNone/>
            </a:pPr>
            <a:r>
              <a:rPr lang="en-US"/>
              <a:t>Segundo, VISUALIZACIÓN, donde entregaremos dashboards interactivos para transformar esos datos en conocimiento.</a:t>
            </a:r>
            <a:endParaRPr/>
          </a:p>
          <a:p>
            <a:pPr indent="0" lvl="0" marL="0" rtl="0" algn="l">
              <a:spcBef>
                <a:spcPts val="0"/>
              </a:spcBef>
              <a:spcAft>
                <a:spcPts val="0"/>
              </a:spcAft>
              <a:buNone/>
            </a:pPr>
            <a:r>
              <a:rPr lang="en-US"/>
              <a:t>Y tercero, DECISIÓN, que es el resultado final: empoderar a la gerencia con una herramienta para la toma de decisiones ágil y basada en evidencia."</a:t>
            </a:r>
            <a:endParaRPr/>
          </a:p>
        </p:txBody>
      </p:sp>
      <p:sp>
        <p:nvSpPr>
          <p:cNvPr id="368" name="Google Shape;368;g385626dc141_1_170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85626dc141_1_20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g385626dc141_1_20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949560f29e_1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3949560f29e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"Para construir esta solución, hemos diseñado una arquitectura moderna, robusta y escalable, que pueden ver en este diagrama de alto nivel.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Los **usuarios** interactúan con un **Frontend** desarrollado en **React**. Este se comunica exclusivamente a través de una **API REST** con nuestro **Backend**, construido en **Spring Boot**. El backend orquesta toda la lógica de negocio, como el ETL y el motor de consultas, y se conecta a nuestra **Base de Datos**.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Aquí es donde tomamos nuestra primera gran decisión de arquitectura.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Si bien nuestra formación en Duoc UC nos ha familiarizado con la robustez y la potencia de **Oracle**, para este proyecto hemos tomado una decisión estratégica al optar por **PostgreSQL gestionado a través de Supabase**. Esta elección se basa en tres ventajas clave para un proyecto ágil como el nuestro: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1.  **Velocidad y Foco en el Valor:** Supabase no es solo una base de datos; es una plataforma de "Backend-como-Servicio". Nos provee de una base de datos PostgreSQL de nivel enterprise y, crucialmente, un **servicio de autenticación completo y seguro "de fábrica"**. Esto actúa como un inmenso acelerador de desarrollo, permitiéndonos enfocar nuestro tiempo no en construir un sistema de login desde cero, sino en la lógica de negocio que realmente aporta valor a Cambiaso.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2.  **Ecosistema y Experiencia de Desarrollo (Developer Experience):** PostgreSQL es un estándar de la industria y se integra de manera nativa y fluida con nuestro stack tecnológico (Spring Boot y React). La documentación, las librerías y el soporte de la comunidad para este ecosistema son vastos, lo que reduce la fricción y acelera la resolución de problemas.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3.  **Costo-Efectividad y Escalabilidad:** Supabase ofrece una capa gratuita extremadamente generosa, ideal para la fase de desarrollo y el MVP de un proyecto Capstone. Más importante aún, nos provee de una **ruta de escalabilidad clara y predecible**, permitiendo que la solución crezca desde un prototipo hasta un producto de nivel empresarial sin necesidad de una migración compleja.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En resumen, la elección de PostgreSQL sobre Supabase no es una decisión de tecnología por tecnología, sino una **decisión pragmática y estratégica** que prioriza la velocidad de entrega, la seguridad y la eficiencia de costos, sin sacrificar la robustez y la capacidad de crecimiento a futuro."</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85626dc141_3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g385626dc141_3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78c7817757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g378c7817757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85626dc141_3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g385626dc141_3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949560f29e_1_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3949560f29e_1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"Para construir esta solución, hemos diseñado una arquitectura moderna, robusta y escalable, que pueden ver en este diagrama de alto nivel.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Los **usuarios** interactúan con un **Frontend** desarrollado en **React**. Este se comunica exclusivamente a través de una **API REST** con nuestro **Backend**, construido en **Spring Boot**. El backend orquesta toda la lógica de negocio, como el ETL y el motor de consultas, y se conecta a nuestra **Base de Datos**.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Aquí es donde tomamos nuestra primera gran decisión de arquitectura.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Si bien nuestra formación en Duoc UC nos ha familiarizado con la robustez y la potencia de **Oracle**, para este proyecto hemos tomado una decisión estratégica al optar por **PostgreSQL gestionado a través de Supabase**. Esta elección se basa en tres ventajas clave para un proyecto ágil como el nuestro: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1.  **Velocidad y Foco en el Valor:** Supabase no es solo una base de datos; es una plataforma de "Backend-como-Servicio". Nos provee de una base de datos PostgreSQL de nivel enterprise y, crucialmente, un **servicio de autenticación completo y seguro "de fábrica"**. Esto actúa como un inmenso acelerador de desarrollo, permitiéndonos enfocar nuestro tiempo no en construir un sistema de login desde cero, sino en la lógica de negocio que realmente aporta valor a Cambiaso.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2.  **Ecosistema y Experiencia de Desarrollo (Developer Experience):** PostgreSQL es un estándar de la industria y se integra de manera nativa y fluida con nuestro stack tecnológico (Spring Boot y React). La documentación, las librerías y el soporte de la comunidad para este ecosistema son vastos, lo que reduce la fricción y acelera la resolución de problemas.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3.  **Costo-Efectividad y Escalabilidad:** Supabase ofrece una capa gratuita extremadamente generosa, ideal para la fase de desarrollo y el MVP de un proyecto Capstone. Más importante aún, nos provee de una **ruta de escalabilidad clara y predecible**, permitiendo que la solución crezca desde un prototipo hasta un producto de nivel empresarial sin necesidad de una migración compleja.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En resumen, la elección de PostgreSQL sobre Supabase no es una decisión de tecnología por tecnología, sino una **decisión pragmática y estratégica** que prioriza la velocidad de entrega, la seguridad y la eficiencia de costos, sin sacrificar la robustez y la capacidad de crecimiento a futuro."</a:t>
            </a:r>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85626dc141_1_2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g385626dc141_1_23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85626dc141_1_2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g385626dc141_1_23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3949560f29e_1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g3949560f29e_1_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38c501e865b_0_20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14" name="Google Shape;614;g38c501e865b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"Para construir esta solución, hemos diseñado una arquitectura moderna, robusta y escalable, que pueden ver en este diagrama de alto nivel.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Los **usuarios** interactúan con un **Frontend** desarrollado en **React**. Este se comunica exclusivamente a través de una **API REST** con nuestro **Backend**, construido en **Spring Boot**. El backend orquesta toda la lógica de negocio, como el ETL y el motor de consultas, y se conecta a nuestra **Base de Datos**.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Aquí es donde tomamos nuestra primera gran decisión de arquitectura.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Si bien nuestra formación en Duoc UC nos ha familiarizado con la robustez y la potencia de **Oracle**, para este proyecto hemos tomado una decisión estratégica al optar por **PostgreSQL gestionado a través de Supabase**. Esta elección se basa en tres ventajas clave para un proyecto ágil como el nuestro: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1.  **Velocidad y Foco en el Valor:** Supabase no es solo una base de datos; es una plataforma de "Backend-como-Servicio". Nos provee de una base de datos PostgreSQL de nivel enterprise y, crucialmente, un **servicio de autenticación completo y seguro "de fábrica"**. Esto actúa como un inmenso acelerador de desarrollo, permitiéndonos enfocar nuestro tiempo no en construir un sistema de login desde cero, sino en la lógica de negocio que realmente aporta valor a Cambiaso.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2.  **Ecosistema y Experiencia de Desarrollo (Developer Experience):** PostgreSQL es un estándar de la industria y se integra de manera nativa y fluida con nuestro stack tecnológico (Spring Boot y React). La documentación, las librerías y el soporte de la comunidad para este ecosistema son vastos, lo que reduce la fricción y acelera la resolución de problemas.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3.  **Costo-Efectividad y Escalabilidad:** Supabase ofrece una capa gratuita extremadamente generosa, ideal para la fase de desarrollo y el MVP de un proyecto Capstone. Más importante aún, nos provee de una **ruta de escalabilidad clara y predecible**, permitiendo que la solución crezca desde un prototipo hasta un producto de nivel empresarial sin necesidad de una migración compleja.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En resumen, la elección de PostgreSQL sobre Supabase no es una decisión de tecnología por tecnología, sino una **decisión pragmática y estratégica** que prioriza la velocidad de entrega, la seguridad y la eficiencia de costos, sin sacrificar la robustez y la capacidad de crecimiento a futuro."</a:t>
            </a:r>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38c501e865b_0_1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38c501e865b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"Para construir esta solución, hemos diseñado una arquitectura moderna, robusta y escalable, que pueden ver en este diagrama de alto nivel.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Los **usuarios** interactúan con un **Frontend** desarrollado en **React**. Este se comunica exclusivamente a través de una **API REST** con nuestro **Backend**, construido en **Spring Boot**. El backend orquesta toda la lógica de negocio, como el ETL y el motor de consultas, y se conecta a nuestra **Base de Datos**.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Aquí es donde tomamos nuestra primera gran decisión de arquitectura.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Si bien nuestra formación en Duoc UC nos ha familiarizado con la robustez y la potencia de **Oracle**, para este proyecto hemos tomado una decisión estratégica al optar por **PostgreSQL gestionado a través de Supabase**. Esta elección se basa en tres ventajas clave para un proyecto ágil como el nuestro: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1.  **Velocidad y Foco en el Valor:** Supabase no es solo una base de datos; es una plataforma de "Backend-como-Servicio". Nos provee de una base de datos PostgreSQL de nivel enterprise y, crucialmente, un **servicio de autenticación completo y seguro "de fábrica"**. Esto actúa como un inmenso acelerador de desarrollo, permitiéndonos enfocar nuestro tiempo no en construir un sistema de login desde cero, sino en la lógica de negocio que realmente aporta valor a Cambiaso.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2.  **Ecosistema y Experiencia de Desarrollo (Developer Experience):** PostgreSQL es un estándar de la industria y se integra de manera nativa y fluida con nuestro stack tecnológico (Spring Boot y React). La documentación, las librerías y el soporte de la comunidad para este ecosistema son vastos, lo que reduce la fricción y acelera la resolución de problemas.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3.  **Costo-Efectividad y Escalabilidad:** Supabase ofrece una capa gratuita extremadamente generosa, ideal para la fase de desarrollo y el MVP de un proyecto Capstone. Más importante aún, nos provee de una **ruta de escalabilidad clara y predecible**, permitiendo que la solución crezca desde un prototipo hasta un producto de nivel empresarial sin necesidad de una migración compleja.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En resumen, la elección de PostgreSQL sobre Supabase no es una decisión de tecnología por tecnología, sino una **decisión pragmática y estratégica** que prioriza la velocidad de entrega, la seguridad y la eficiencia de costos, sin sacrificar la robustez y la capacidad de crecimiento a futuro."</a:t>
            </a:r>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948c8fd3ed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g3948c8fd3ed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3949560f29e_1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Exposición (Risk Exposure)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La exposición es el valor calculado que mide el nivel general de un riesgo. Es el resultado de multiplicar la probabilidad de que ocurra por el impacto </a:t>
            </a:r>
            <a:endParaRPr/>
          </a:p>
          <a:p>
            <a:pPr indent="0" lvl="0" marL="0" rtl="0" algn="l">
              <a:spcBef>
                <a:spcPts val="0"/>
              </a:spcBef>
              <a:spcAft>
                <a:spcPts val="0"/>
              </a:spcAft>
              <a:buClr>
                <a:schemeClr val="dk1"/>
              </a:buClr>
              <a:buSzPts val="1100"/>
              <a:buFont typeface="Arial"/>
              <a:buNone/>
            </a:pPr>
            <a:r>
              <a:rPr lang="en-US"/>
              <a:t>  que tendría. Es la métrica que se usa para priorizar.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 Pregunta que responde: ¿De cuál riesgo deberíamos ocuparnos primero?</a:t>
            </a:r>
            <a:endParaRPr/>
          </a:p>
          <a:p>
            <a:pPr indent="0" lvl="0" marL="0" rtl="0" algn="l">
              <a:spcBef>
                <a:spcPts val="0"/>
              </a:spcBef>
              <a:spcAft>
                <a:spcPts val="0"/>
              </a:spcAft>
              <a:buClr>
                <a:schemeClr val="dk1"/>
              </a:buClr>
              <a:buSzPts val="1100"/>
              <a:buFont typeface="Arial"/>
              <a:buNone/>
            </a:pPr>
            <a:r>
              <a:rPr lang="en-US"/>
              <a:t>   * Naturaleza: Es cuantitativa (un número, como el 20 de tu tabla).</a:t>
            </a:r>
            <a:endParaRPr/>
          </a:p>
          <a:p>
            <a:pPr indent="0" lvl="0" marL="0" rtl="0" algn="l">
              <a:spcBef>
                <a:spcPts val="0"/>
              </a:spcBef>
              <a:spcAft>
                <a:spcPts val="0"/>
              </a:spcAft>
              <a:buClr>
                <a:schemeClr val="dk1"/>
              </a:buClr>
              <a:buSzPts val="1100"/>
              <a:buFont typeface="Arial"/>
              <a:buNone/>
            </a:pPr>
            <a:r>
              <a:rPr lang="en-US"/>
              <a:t>   * Fórmula: Exposición (E) = Probabilidad (P) x Impacto (I)</a:t>
            </a:r>
            <a:endParaRPr/>
          </a:p>
          <a:p>
            <a:pPr indent="0" lvl="0" marL="0" rtl="0" algn="l">
              <a:spcBef>
                <a:spcPts val="0"/>
              </a:spcBef>
              <a:spcAft>
                <a:spcPts val="0"/>
              </a:spcAft>
              <a:buClr>
                <a:schemeClr val="dk1"/>
              </a:buClr>
              <a:buSzPts val="1100"/>
              <a:buFont typeface="Arial"/>
              <a:buNone/>
            </a:pPr>
            <a:r>
              <a:rPr lang="en-US"/>
              <a:t>   * Ejemplo: El riesgo de que un desarrollador clave renuncie puede tener un impacto de 4 (alto) y una probabilidad de 3 (media). Su exposición sería 12 </a:t>
            </a:r>
            <a:endParaRPr/>
          </a:p>
          <a:p>
            <a:pPr indent="0" lvl="0" marL="0" rtl="0" algn="l">
              <a:spcBef>
                <a:spcPts val="0"/>
              </a:spcBef>
              <a:spcAft>
                <a:spcPts val="0"/>
              </a:spcAft>
              <a:buClr>
                <a:schemeClr val="dk1"/>
              </a:buClr>
              <a:buSzPts val="1100"/>
              <a:buFont typeface="Arial"/>
              <a:buNone/>
            </a:pPr>
            <a:r>
              <a:rPr lang="en-US"/>
              <a:t>     (E=12). Aunque el impacto no es tan catastrófico como el del meteorito, su probabilidad lo hace un riesgo mucho más relevante y que requiere acción </a:t>
            </a:r>
            <a:endParaRPr/>
          </a:p>
          <a:p>
            <a:pPr indent="0" lvl="0" marL="0" rtl="0" algn="l">
              <a:spcBef>
                <a:spcPts val="0"/>
              </a:spcBef>
              <a:spcAft>
                <a:spcPts val="0"/>
              </a:spcAft>
              <a:buClr>
                <a:schemeClr val="dk1"/>
              </a:buClr>
              <a:buSzPts val="1100"/>
              <a:buFont typeface="Arial"/>
              <a:buNone/>
            </a:pPr>
            <a:r>
              <a:rPr lang="en-US"/>
              <a:t>     inmediata.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¿Por qué usar "Exposición" en tu tabla?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En tu tabla, la columna "E" es el resultado de P x I. Por lo tanto, "Exposición" es el término técnico correcto.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Usar "Exposición" en lugar de "Criticidad" te obliga a considerar ambos factores (probabilidad e impacto) de manera disciplinada. Un riesgo puede ser muy </a:t>
            </a:r>
            <a:endParaRPr/>
          </a:p>
          <a:p>
            <a:pPr indent="0" lvl="0" marL="0" rtl="0" algn="l">
              <a:spcBef>
                <a:spcPts val="0"/>
              </a:spcBef>
              <a:spcAft>
                <a:spcPts val="0"/>
              </a:spcAft>
              <a:buClr>
                <a:schemeClr val="dk1"/>
              </a:buClr>
              <a:buSzPts val="1100"/>
              <a:buFont typeface="Arial"/>
              <a:buNone/>
            </a:pPr>
            <a:r>
              <a:rPr lang="en-US"/>
              <a:t>  crítico (alto impacto), pero si su probabilidad es extremadamente baja, su exposición puede ser menor que la de un riesgo con impacto moderado pero que es</a:t>
            </a:r>
            <a:endParaRPr/>
          </a:p>
          <a:p>
            <a:pPr indent="0" lvl="0" marL="0" rtl="0" algn="l">
              <a:spcBef>
                <a:spcPts val="0"/>
              </a:spcBef>
              <a:spcAft>
                <a:spcPts val="0"/>
              </a:spcAft>
              <a:buClr>
                <a:schemeClr val="dk1"/>
              </a:buClr>
              <a:buSzPts val="1100"/>
              <a:buFont typeface="Arial"/>
              <a:buNone/>
            </a:pPr>
            <a:r>
              <a:rPr lang="en-US"/>
              <a:t>   casi seguro que ocurra.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635" name="Google Shape;635;g3949560f29e_1_1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3948c8fd3ed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g3948c8fd3ed_0_1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948c8fd3ed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g3948c8fd3ed_0_1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385626dc141_1_2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g385626dc141_1_21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3948c8fd3ed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g3948c8fd3ed_0_1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g3948c8fd3ed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g3948c8fd3ed_0_1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3948c8fd3e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g3948c8fd3ed_0_1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948c8fd3e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g3948c8fd3ed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3948c8fd3ed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g3948c8fd3ed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385626dc141_1_30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g385626dc141_1_30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385626dc141_1_30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g385626dc141_1_30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38c501e865b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g38c501e865b_0_1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948c8fd3ed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g3948c8fd3ed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385626dc141_1_3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g385626dc141_1_31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g3949560f29e_1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g3949560f29e_1_1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39491e366a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g39491e366a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_1">
    <p:spTree>
      <p:nvGrpSpPr>
        <p:cNvPr id="60" name="Shape 60"/>
        <p:cNvGrpSpPr/>
        <p:nvPr/>
      </p:nvGrpSpPr>
      <p:grpSpPr>
        <a:xfrm>
          <a:off x="0" y="0"/>
          <a:ext cx="0" cy="0"/>
          <a:chOff x="0" y="0"/>
          <a:chExt cx="0" cy="0"/>
        </a:xfrm>
      </p:grpSpPr>
      <p:sp>
        <p:nvSpPr>
          <p:cNvPr id="61" name="Google Shape;61;p13"/>
          <p:cNvSpPr txBox="1"/>
          <p:nvPr>
            <p:ph type="title"/>
          </p:nvPr>
        </p:nvSpPr>
        <p:spPr>
          <a:xfrm>
            <a:off x="713160" y="539640"/>
            <a:ext cx="4807200" cy="2003700"/>
          </a:xfrm>
          <a:prstGeom prst="rect">
            <a:avLst/>
          </a:prstGeom>
          <a:noFill/>
          <a:ln>
            <a:noFill/>
          </a:ln>
        </p:spPr>
        <p:txBody>
          <a:bodyPr anchorCtr="0" anchor="ctr" bIns="91425" lIns="91425" spcFirstLastPara="1" rIns="91425" wrap="square" tIns="91425">
            <a:noAutofit/>
          </a:bodyPr>
          <a:lstStyle>
            <a:lvl1pPr lvl="0" marR="0" algn="l">
              <a:spcBef>
                <a:spcPts val="0"/>
              </a:spcBef>
              <a:spcAft>
                <a:spcPts val="0"/>
              </a:spcAft>
              <a:buSzPts val="2800"/>
              <a:buNone/>
              <a:defRPr b="0" i="0" sz="1800" u="none" cap="none" strike="noStrike"/>
            </a:lvl1pPr>
            <a:lvl2pPr lvl="1" marR="0" algn="l">
              <a:spcBef>
                <a:spcPts val="0"/>
              </a:spcBef>
              <a:spcAft>
                <a:spcPts val="0"/>
              </a:spcAft>
              <a:buSzPts val="2800"/>
              <a:buNone/>
              <a:defRPr b="0" i="0" sz="1800" u="none" cap="none" strike="noStrike"/>
            </a:lvl2pPr>
            <a:lvl3pPr lvl="2" marR="0" algn="l">
              <a:spcBef>
                <a:spcPts val="0"/>
              </a:spcBef>
              <a:spcAft>
                <a:spcPts val="0"/>
              </a:spcAft>
              <a:buSzPts val="2800"/>
              <a:buNone/>
              <a:defRPr b="0" i="0" sz="1800" u="none" cap="none" strike="noStrike"/>
            </a:lvl3pPr>
            <a:lvl4pPr lvl="3" marR="0" algn="l">
              <a:spcBef>
                <a:spcPts val="0"/>
              </a:spcBef>
              <a:spcAft>
                <a:spcPts val="0"/>
              </a:spcAft>
              <a:buSzPts val="2800"/>
              <a:buNone/>
              <a:defRPr b="0" i="0" sz="1800" u="none" cap="none" strike="noStrike"/>
            </a:lvl4pPr>
            <a:lvl5pPr lvl="4" marR="0" algn="l">
              <a:spcBef>
                <a:spcPts val="0"/>
              </a:spcBef>
              <a:spcAft>
                <a:spcPts val="0"/>
              </a:spcAft>
              <a:buSzPts val="2800"/>
              <a:buNone/>
              <a:defRPr b="0" i="0" sz="1800" u="none" cap="none" strike="noStrike"/>
            </a:lvl5pPr>
            <a:lvl6pPr lvl="5" marR="0" algn="l">
              <a:spcBef>
                <a:spcPts val="0"/>
              </a:spcBef>
              <a:spcAft>
                <a:spcPts val="0"/>
              </a:spcAft>
              <a:buSzPts val="2800"/>
              <a:buNone/>
              <a:defRPr b="0" i="0" sz="1800" u="none" cap="none" strike="noStrike"/>
            </a:lvl6pPr>
            <a:lvl7pPr lvl="6" marR="0" algn="l">
              <a:spcBef>
                <a:spcPts val="0"/>
              </a:spcBef>
              <a:spcAft>
                <a:spcPts val="0"/>
              </a:spcAft>
              <a:buSzPts val="2800"/>
              <a:buNone/>
              <a:defRPr b="0" i="0" sz="1800" u="none" cap="none" strike="noStrike"/>
            </a:lvl7pPr>
            <a:lvl8pPr lvl="7" marR="0" algn="l">
              <a:spcBef>
                <a:spcPts val="0"/>
              </a:spcBef>
              <a:spcAft>
                <a:spcPts val="0"/>
              </a:spcAft>
              <a:buSzPts val="2800"/>
              <a:buNone/>
              <a:defRPr b="0" i="0" sz="1800" u="none" cap="none" strike="noStrike"/>
            </a:lvl8pPr>
            <a:lvl9pPr lvl="8" marR="0" algn="l">
              <a:spcBef>
                <a:spcPts val="0"/>
              </a:spcBef>
              <a:spcAft>
                <a:spcPts val="0"/>
              </a:spcAft>
              <a:buSzPts val="2800"/>
              <a:buNone/>
              <a:defRPr b="0" i="0" sz="1800" u="none" cap="none" strike="noStrike"/>
            </a:lvl9pPr>
          </a:lstStyle>
          <a:p/>
        </p:txBody>
      </p:sp>
      <p:sp>
        <p:nvSpPr>
          <p:cNvPr id="62" name="Google Shape;62;p13"/>
          <p:cNvSpPr txBox="1"/>
          <p:nvPr>
            <p:ph idx="1" type="body"/>
          </p:nvPr>
        </p:nvSpPr>
        <p:spPr>
          <a:xfrm>
            <a:off x="5654880" y="1312560"/>
            <a:ext cx="2851800" cy="2851800"/>
          </a:xfrm>
          <a:prstGeom prst="rect">
            <a:avLst/>
          </a:prstGeom>
          <a:noFill/>
          <a:ln cap="flat" cmpd="sng" w="76300">
            <a:solidFill>
              <a:schemeClr val="lt1"/>
            </a:solidFill>
            <a:prstDash val="solid"/>
            <a:round/>
            <a:headEnd len="sm" w="sm" type="none"/>
            <a:tailEnd len="sm" w="sm" type="none"/>
          </a:ln>
        </p:spPr>
        <p:txBody>
          <a:bodyPr anchorCtr="0" anchor="t" bIns="45000" lIns="90000" spcFirstLastPara="1" rIns="90000" wrap="square" tIns="45000">
            <a:normAutofit/>
          </a:bodyPr>
          <a:lstStyle>
            <a:lvl1pPr indent="-228600" lvl="0" marL="457200" marR="0" algn="l">
              <a:spcBef>
                <a:spcPts val="0"/>
              </a:spcBef>
              <a:spcAft>
                <a:spcPts val="0"/>
              </a:spcAft>
              <a:buSzPts val="1300"/>
              <a:buNone/>
              <a:defRPr b="0" i="0" sz="1800" u="none" cap="none" strike="noStrike"/>
            </a:lvl1pPr>
            <a:lvl2pPr indent="-228600" lvl="1" marL="914400" marR="0" algn="l">
              <a:spcBef>
                <a:spcPts val="1200"/>
              </a:spcBef>
              <a:spcAft>
                <a:spcPts val="0"/>
              </a:spcAft>
              <a:buSzPts val="1100"/>
              <a:buNone/>
              <a:defRPr b="0" i="0" sz="1800" u="none" cap="none" strike="noStrike"/>
            </a:lvl2pPr>
            <a:lvl3pPr indent="-228600" lvl="2" marL="1371600" marR="0" algn="l">
              <a:spcBef>
                <a:spcPts val="1200"/>
              </a:spcBef>
              <a:spcAft>
                <a:spcPts val="0"/>
              </a:spcAft>
              <a:buSzPts val="1100"/>
              <a:buNone/>
              <a:defRPr b="0" i="0" sz="1800" u="none" cap="none" strike="noStrike"/>
            </a:lvl3pPr>
            <a:lvl4pPr indent="-228600" lvl="3" marL="1828800" marR="0" algn="l">
              <a:spcBef>
                <a:spcPts val="1200"/>
              </a:spcBef>
              <a:spcAft>
                <a:spcPts val="0"/>
              </a:spcAft>
              <a:buSzPts val="1100"/>
              <a:buNone/>
              <a:defRPr b="0" i="0" sz="1800" u="none" cap="none" strike="noStrike"/>
            </a:lvl4pPr>
            <a:lvl5pPr indent="-228600" lvl="4" marL="2286000" marR="0" algn="l">
              <a:spcBef>
                <a:spcPts val="1200"/>
              </a:spcBef>
              <a:spcAft>
                <a:spcPts val="0"/>
              </a:spcAft>
              <a:buSzPts val="1100"/>
              <a:buNone/>
              <a:defRPr b="0" i="0" sz="1800" u="none" cap="none" strike="noStrike"/>
            </a:lvl5pPr>
            <a:lvl6pPr indent="-228600" lvl="5" marL="2743200" marR="0" algn="l">
              <a:spcBef>
                <a:spcPts val="1200"/>
              </a:spcBef>
              <a:spcAft>
                <a:spcPts val="0"/>
              </a:spcAft>
              <a:buSzPts val="1100"/>
              <a:buNone/>
              <a:defRPr b="0" i="0" sz="1800" u="none" cap="none" strike="noStrike"/>
            </a:lvl6pPr>
            <a:lvl7pPr indent="-228600" lvl="6" marL="3200400" marR="0" algn="l">
              <a:spcBef>
                <a:spcPts val="1200"/>
              </a:spcBef>
              <a:spcAft>
                <a:spcPts val="0"/>
              </a:spcAft>
              <a:buSzPts val="1100"/>
              <a:buNone/>
              <a:defRPr b="0" i="0" sz="1800" u="none" cap="none" strike="noStrike"/>
            </a:lvl7pPr>
            <a:lvl8pPr indent="-228600" lvl="7" marL="3657600" marR="0" algn="l">
              <a:spcBef>
                <a:spcPts val="1200"/>
              </a:spcBef>
              <a:spcAft>
                <a:spcPts val="0"/>
              </a:spcAft>
              <a:buSzPts val="1100"/>
              <a:buNone/>
              <a:defRPr b="0" i="0" sz="1800" u="none" cap="none" strike="noStrike"/>
            </a:lvl8pPr>
            <a:lvl9pPr indent="-228600" lvl="8" marL="4114800" marR="0" algn="l">
              <a:spcBef>
                <a:spcPts val="1200"/>
              </a:spcBef>
              <a:spcAft>
                <a:spcPts val="1200"/>
              </a:spcAft>
              <a:buSzPts val="1100"/>
              <a:buNone/>
              <a:defRPr b="0" i="0" sz="1800" u="none" cap="none" strike="noStrike"/>
            </a:lvl9pPr>
          </a:lstStyle>
          <a:p/>
        </p:txBody>
      </p:sp>
      <p:sp>
        <p:nvSpPr>
          <p:cNvPr id="63" name="Google Shape;63;p13"/>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Slide 1_1_1_TITLEANDBULLETS_J">
  <p:cSld name="TITLE_AND_BODY_2_1_1_1_1_1_2">
    <p:spTree>
      <p:nvGrpSpPr>
        <p:cNvPr id="64" name="Shape 64"/>
        <p:cNvGrpSpPr/>
        <p:nvPr/>
      </p:nvGrpSpPr>
      <p:grpSpPr>
        <a:xfrm>
          <a:off x="0" y="0"/>
          <a:ext cx="0" cy="0"/>
          <a:chOff x="0" y="0"/>
          <a:chExt cx="0" cy="0"/>
        </a:xfrm>
      </p:grpSpPr>
      <p:sp>
        <p:nvSpPr>
          <p:cNvPr id="65" name="Google Shape;65;p14"/>
          <p:cNvSpPr/>
          <p:nvPr>
            <p:ph idx="2" type="pic"/>
          </p:nvPr>
        </p:nvSpPr>
        <p:spPr>
          <a:xfrm>
            <a:off x="457200" y="1519300"/>
            <a:ext cx="3090600" cy="3090600"/>
          </a:xfrm>
          <a:prstGeom prst="roundRect">
            <a:avLst>
              <a:gd fmla="val 50000" name="adj"/>
            </a:avLst>
          </a:prstGeom>
          <a:noFill/>
          <a:ln>
            <a:noFill/>
          </a:ln>
        </p:spPr>
      </p:sp>
      <p:sp>
        <p:nvSpPr>
          <p:cNvPr id="66" name="Google Shape;66;p14"/>
          <p:cNvSpPr txBox="1"/>
          <p:nvPr>
            <p:ph type="title"/>
          </p:nvPr>
        </p:nvSpPr>
        <p:spPr>
          <a:xfrm>
            <a:off x="507450" y="331400"/>
            <a:ext cx="8129100" cy="796200"/>
          </a:xfrm>
          <a:prstGeom prst="rect">
            <a:avLst/>
          </a:prstGeom>
        </p:spPr>
        <p:txBody>
          <a:bodyPr anchorCtr="0" anchor="ctr" bIns="0" lIns="0" spcFirstLastPara="1" rIns="0" wrap="square" tIns="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7" name="Google Shape;67;p14"/>
          <p:cNvSpPr txBox="1"/>
          <p:nvPr>
            <p:ph idx="1" type="body"/>
          </p:nvPr>
        </p:nvSpPr>
        <p:spPr>
          <a:xfrm>
            <a:off x="3854182" y="1519301"/>
            <a:ext cx="4782300" cy="3090600"/>
          </a:xfrm>
          <a:prstGeom prst="rect">
            <a:avLst/>
          </a:prstGeom>
        </p:spPr>
        <p:txBody>
          <a:bodyPr anchorCtr="0" anchor="t" bIns="0" lIns="0" spcFirstLastPara="1" rIns="0" wrap="square" tIns="0">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14"/>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pos="288">
          <p15:clr>
            <a:srgbClr val="E46962"/>
          </p15:clr>
        </p15:guide>
        <p15:guide id="2" orient="horz" pos="288">
          <p15:clr>
            <a:srgbClr val="E46962"/>
          </p15:clr>
        </p15:guide>
        <p15:guide id="3" orient="horz" pos="2880">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
  <p:cSld name="SECTION_HEADER_1">
    <p:spTree>
      <p:nvGrpSpPr>
        <p:cNvPr id="69" name="Shape 69"/>
        <p:cNvGrpSpPr/>
        <p:nvPr/>
      </p:nvGrpSpPr>
      <p:grpSpPr>
        <a:xfrm>
          <a:off x="0" y="0"/>
          <a:ext cx="0" cy="0"/>
          <a:chOff x="0" y="0"/>
          <a:chExt cx="0" cy="0"/>
        </a:xfrm>
      </p:grpSpPr>
      <p:sp>
        <p:nvSpPr>
          <p:cNvPr id="70" name="Google Shape;70;p15"/>
          <p:cNvSpPr txBox="1"/>
          <p:nvPr>
            <p:ph type="title"/>
          </p:nvPr>
        </p:nvSpPr>
        <p:spPr>
          <a:xfrm>
            <a:off x="733680" y="1967760"/>
            <a:ext cx="4410600" cy="1366500"/>
          </a:xfrm>
          <a:prstGeom prst="rect">
            <a:avLst/>
          </a:prstGeom>
          <a:noFill/>
          <a:ln>
            <a:noFill/>
          </a:ln>
        </p:spPr>
        <p:txBody>
          <a:bodyPr anchorCtr="0" anchor="b" bIns="91425" lIns="91425" spcFirstLastPara="1" rIns="91425" wrap="square" tIns="91425">
            <a:noAutofit/>
          </a:bodyPr>
          <a:lstStyle>
            <a:lvl1pPr lvl="0" marR="0" algn="l">
              <a:spcBef>
                <a:spcPts val="0"/>
              </a:spcBef>
              <a:spcAft>
                <a:spcPts val="0"/>
              </a:spcAft>
              <a:buSzPts val="2800"/>
              <a:buNone/>
              <a:defRPr b="0" i="0" sz="1800" u="none" cap="none" strike="noStrike"/>
            </a:lvl1pPr>
            <a:lvl2pPr lvl="1" marR="0" algn="l">
              <a:spcBef>
                <a:spcPts val="0"/>
              </a:spcBef>
              <a:spcAft>
                <a:spcPts val="0"/>
              </a:spcAft>
              <a:buSzPts val="2800"/>
              <a:buNone/>
              <a:defRPr b="0" i="0" sz="1800" u="none" cap="none" strike="noStrike"/>
            </a:lvl2pPr>
            <a:lvl3pPr lvl="2" marR="0" algn="l">
              <a:spcBef>
                <a:spcPts val="0"/>
              </a:spcBef>
              <a:spcAft>
                <a:spcPts val="0"/>
              </a:spcAft>
              <a:buSzPts val="2800"/>
              <a:buNone/>
              <a:defRPr b="0" i="0" sz="1800" u="none" cap="none" strike="noStrike"/>
            </a:lvl3pPr>
            <a:lvl4pPr lvl="3" marR="0" algn="l">
              <a:spcBef>
                <a:spcPts val="0"/>
              </a:spcBef>
              <a:spcAft>
                <a:spcPts val="0"/>
              </a:spcAft>
              <a:buSzPts val="2800"/>
              <a:buNone/>
              <a:defRPr b="0" i="0" sz="1800" u="none" cap="none" strike="noStrike"/>
            </a:lvl4pPr>
            <a:lvl5pPr lvl="4" marR="0" algn="l">
              <a:spcBef>
                <a:spcPts val="0"/>
              </a:spcBef>
              <a:spcAft>
                <a:spcPts val="0"/>
              </a:spcAft>
              <a:buSzPts val="2800"/>
              <a:buNone/>
              <a:defRPr b="0" i="0" sz="1800" u="none" cap="none" strike="noStrike"/>
            </a:lvl5pPr>
            <a:lvl6pPr lvl="5" marR="0" algn="l">
              <a:spcBef>
                <a:spcPts val="0"/>
              </a:spcBef>
              <a:spcAft>
                <a:spcPts val="0"/>
              </a:spcAft>
              <a:buSzPts val="2800"/>
              <a:buNone/>
              <a:defRPr b="0" i="0" sz="1800" u="none" cap="none" strike="noStrike"/>
            </a:lvl6pPr>
            <a:lvl7pPr lvl="6" marR="0" algn="l">
              <a:spcBef>
                <a:spcPts val="0"/>
              </a:spcBef>
              <a:spcAft>
                <a:spcPts val="0"/>
              </a:spcAft>
              <a:buSzPts val="2800"/>
              <a:buNone/>
              <a:defRPr b="0" i="0" sz="1800" u="none" cap="none" strike="noStrike"/>
            </a:lvl7pPr>
            <a:lvl8pPr lvl="7" marR="0" algn="l">
              <a:spcBef>
                <a:spcPts val="0"/>
              </a:spcBef>
              <a:spcAft>
                <a:spcPts val="0"/>
              </a:spcAft>
              <a:buSzPts val="2800"/>
              <a:buNone/>
              <a:defRPr b="0" i="0" sz="1800" u="none" cap="none" strike="noStrike"/>
            </a:lvl8pPr>
            <a:lvl9pPr lvl="8" marR="0" algn="l">
              <a:spcBef>
                <a:spcPts val="0"/>
              </a:spcBef>
              <a:spcAft>
                <a:spcPts val="0"/>
              </a:spcAft>
              <a:buSzPts val="2800"/>
              <a:buNone/>
              <a:defRPr b="0" i="0" sz="1800" u="none" cap="none" strike="noStrike"/>
            </a:lvl9pPr>
          </a:lstStyle>
          <a:p/>
        </p:txBody>
      </p:sp>
      <p:sp>
        <p:nvSpPr>
          <p:cNvPr id="71" name="Google Shape;71;p15"/>
          <p:cNvSpPr txBox="1"/>
          <p:nvPr>
            <p:ph idx="2" type="title"/>
          </p:nvPr>
        </p:nvSpPr>
        <p:spPr>
          <a:xfrm>
            <a:off x="789480" y="539640"/>
            <a:ext cx="1046400" cy="1335000"/>
          </a:xfrm>
          <a:prstGeom prst="rect">
            <a:avLst/>
          </a:prstGeom>
          <a:solidFill>
            <a:schemeClr val="lt2"/>
          </a:solidFill>
          <a:ln>
            <a:noFill/>
          </a:ln>
        </p:spPr>
        <p:txBody>
          <a:bodyPr anchorCtr="0" anchor="ctr" bIns="91425" lIns="91425" spcFirstLastPara="1" rIns="91425" wrap="square" tIns="91425">
            <a:noAutofit/>
          </a:bodyPr>
          <a:lstStyle>
            <a:lvl1pPr lvl="0" marR="0" algn="l">
              <a:spcBef>
                <a:spcPts val="0"/>
              </a:spcBef>
              <a:spcAft>
                <a:spcPts val="0"/>
              </a:spcAft>
              <a:buSzPts val="2800"/>
              <a:buNone/>
              <a:defRPr b="0" i="0" sz="1800" u="none" cap="none" strike="noStrike"/>
            </a:lvl1pPr>
            <a:lvl2pPr lvl="1" marR="0" algn="l">
              <a:spcBef>
                <a:spcPts val="0"/>
              </a:spcBef>
              <a:spcAft>
                <a:spcPts val="0"/>
              </a:spcAft>
              <a:buSzPts val="2800"/>
              <a:buNone/>
              <a:defRPr b="0" i="0" sz="1800" u="none" cap="none" strike="noStrike"/>
            </a:lvl2pPr>
            <a:lvl3pPr lvl="2" marR="0" algn="l">
              <a:spcBef>
                <a:spcPts val="0"/>
              </a:spcBef>
              <a:spcAft>
                <a:spcPts val="0"/>
              </a:spcAft>
              <a:buSzPts val="2800"/>
              <a:buNone/>
              <a:defRPr b="0" i="0" sz="1800" u="none" cap="none" strike="noStrike"/>
            </a:lvl3pPr>
            <a:lvl4pPr lvl="3" marR="0" algn="l">
              <a:spcBef>
                <a:spcPts val="0"/>
              </a:spcBef>
              <a:spcAft>
                <a:spcPts val="0"/>
              </a:spcAft>
              <a:buSzPts val="2800"/>
              <a:buNone/>
              <a:defRPr b="0" i="0" sz="1800" u="none" cap="none" strike="noStrike"/>
            </a:lvl4pPr>
            <a:lvl5pPr lvl="4" marR="0" algn="l">
              <a:spcBef>
                <a:spcPts val="0"/>
              </a:spcBef>
              <a:spcAft>
                <a:spcPts val="0"/>
              </a:spcAft>
              <a:buSzPts val="2800"/>
              <a:buNone/>
              <a:defRPr b="0" i="0" sz="1800" u="none" cap="none" strike="noStrike"/>
            </a:lvl5pPr>
            <a:lvl6pPr lvl="5" marR="0" algn="l">
              <a:spcBef>
                <a:spcPts val="0"/>
              </a:spcBef>
              <a:spcAft>
                <a:spcPts val="0"/>
              </a:spcAft>
              <a:buSzPts val="2800"/>
              <a:buNone/>
              <a:defRPr b="0" i="0" sz="1800" u="none" cap="none" strike="noStrike"/>
            </a:lvl6pPr>
            <a:lvl7pPr lvl="6" marR="0" algn="l">
              <a:spcBef>
                <a:spcPts val="0"/>
              </a:spcBef>
              <a:spcAft>
                <a:spcPts val="0"/>
              </a:spcAft>
              <a:buSzPts val="2800"/>
              <a:buNone/>
              <a:defRPr b="0" i="0" sz="1800" u="none" cap="none" strike="noStrike"/>
            </a:lvl7pPr>
            <a:lvl8pPr lvl="7" marR="0" algn="l">
              <a:spcBef>
                <a:spcPts val="0"/>
              </a:spcBef>
              <a:spcAft>
                <a:spcPts val="0"/>
              </a:spcAft>
              <a:buSzPts val="2800"/>
              <a:buNone/>
              <a:defRPr b="0" i="0" sz="1800" u="none" cap="none" strike="noStrike"/>
            </a:lvl8pPr>
            <a:lvl9pPr lvl="8" marR="0" algn="l">
              <a:spcBef>
                <a:spcPts val="0"/>
              </a:spcBef>
              <a:spcAft>
                <a:spcPts val="0"/>
              </a:spcAft>
              <a:buSzPts val="2800"/>
              <a:buNone/>
              <a:defRPr b="0" i="0" sz="1800" u="none" cap="none" strike="noStrike"/>
            </a:lvl9pPr>
          </a:lstStyle>
          <a:p/>
        </p:txBody>
      </p:sp>
      <p:sp>
        <p:nvSpPr>
          <p:cNvPr id="72" name="Google Shape;72;p15"/>
          <p:cNvSpPr txBox="1"/>
          <p:nvPr>
            <p:ph idx="1" type="body"/>
          </p:nvPr>
        </p:nvSpPr>
        <p:spPr>
          <a:xfrm>
            <a:off x="5397480" y="1055160"/>
            <a:ext cx="3033000" cy="3033000"/>
          </a:xfrm>
          <a:prstGeom prst="rect">
            <a:avLst/>
          </a:prstGeom>
          <a:noFill/>
          <a:ln cap="flat" cmpd="sng" w="38150">
            <a:solidFill>
              <a:schemeClr val="lt1"/>
            </a:solidFill>
            <a:prstDash val="solid"/>
            <a:round/>
            <a:headEnd len="sm" w="sm" type="none"/>
            <a:tailEnd len="sm" w="sm" type="none"/>
          </a:ln>
        </p:spPr>
        <p:txBody>
          <a:bodyPr anchorCtr="0" anchor="t" bIns="45000" lIns="90000" spcFirstLastPara="1" rIns="90000" wrap="square" tIns="45000">
            <a:normAutofit/>
          </a:bodyPr>
          <a:lstStyle>
            <a:lvl1pPr indent="-228600" lvl="0" marL="457200" marR="0" algn="l">
              <a:spcBef>
                <a:spcPts val="0"/>
              </a:spcBef>
              <a:spcAft>
                <a:spcPts val="0"/>
              </a:spcAft>
              <a:buSzPts val="1300"/>
              <a:buNone/>
              <a:defRPr b="0" i="0" sz="1800" u="none" cap="none" strike="noStrike"/>
            </a:lvl1pPr>
            <a:lvl2pPr indent="-228600" lvl="1" marL="914400" marR="0" algn="l">
              <a:spcBef>
                <a:spcPts val="1200"/>
              </a:spcBef>
              <a:spcAft>
                <a:spcPts val="0"/>
              </a:spcAft>
              <a:buSzPts val="1100"/>
              <a:buNone/>
              <a:defRPr b="0" i="0" sz="1800" u="none" cap="none" strike="noStrike"/>
            </a:lvl2pPr>
            <a:lvl3pPr indent="-228600" lvl="2" marL="1371600" marR="0" algn="l">
              <a:spcBef>
                <a:spcPts val="1200"/>
              </a:spcBef>
              <a:spcAft>
                <a:spcPts val="0"/>
              </a:spcAft>
              <a:buSzPts val="1100"/>
              <a:buNone/>
              <a:defRPr b="0" i="0" sz="1800" u="none" cap="none" strike="noStrike"/>
            </a:lvl3pPr>
            <a:lvl4pPr indent="-228600" lvl="3" marL="1828800" marR="0" algn="l">
              <a:spcBef>
                <a:spcPts val="1200"/>
              </a:spcBef>
              <a:spcAft>
                <a:spcPts val="0"/>
              </a:spcAft>
              <a:buSzPts val="1100"/>
              <a:buNone/>
              <a:defRPr b="0" i="0" sz="1800" u="none" cap="none" strike="noStrike"/>
            </a:lvl4pPr>
            <a:lvl5pPr indent="-228600" lvl="4" marL="2286000" marR="0" algn="l">
              <a:spcBef>
                <a:spcPts val="1200"/>
              </a:spcBef>
              <a:spcAft>
                <a:spcPts val="0"/>
              </a:spcAft>
              <a:buSzPts val="1100"/>
              <a:buNone/>
              <a:defRPr b="0" i="0" sz="1800" u="none" cap="none" strike="noStrike"/>
            </a:lvl5pPr>
            <a:lvl6pPr indent="-228600" lvl="5" marL="2743200" marR="0" algn="l">
              <a:spcBef>
                <a:spcPts val="1200"/>
              </a:spcBef>
              <a:spcAft>
                <a:spcPts val="0"/>
              </a:spcAft>
              <a:buSzPts val="1100"/>
              <a:buNone/>
              <a:defRPr b="0" i="0" sz="1800" u="none" cap="none" strike="noStrike"/>
            </a:lvl6pPr>
            <a:lvl7pPr indent="-228600" lvl="6" marL="3200400" marR="0" algn="l">
              <a:spcBef>
                <a:spcPts val="1200"/>
              </a:spcBef>
              <a:spcAft>
                <a:spcPts val="0"/>
              </a:spcAft>
              <a:buSzPts val="1100"/>
              <a:buNone/>
              <a:defRPr b="0" i="0" sz="1800" u="none" cap="none" strike="noStrike"/>
            </a:lvl7pPr>
            <a:lvl8pPr indent="-228600" lvl="7" marL="3657600" marR="0" algn="l">
              <a:spcBef>
                <a:spcPts val="1200"/>
              </a:spcBef>
              <a:spcAft>
                <a:spcPts val="0"/>
              </a:spcAft>
              <a:buSzPts val="1100"/>
              <a:buNone/>
              <a:defRPr b="0" i="0" sz="1800" u="none" cap="none" strike="noStrike"/>
            </a:lvl8pPr>
            <a:lvl9pPr indent="-228600" lvl="8" marL="4114800" marR="0" algn="l">
              <a:spcBef>
                <a:spcPts val="1200"/>
              </a:spcBef>
              <a:spcAft>
                <a:spcPts val="1200"/>
              </a:spcAft>
              <a:buSzPts val="1100"/>
              <a:buNone/>
              <a:defRPr b="0" i="0" sz="1800" u="none" cap="none" strike="noStrike"/>
            </a:lvl9pPr>
          </a:lstStyle>
          <a:p/>
        </p:txBody>
      </p:sp>
      <p:grpSp>
        <p:nvGrpSpPr>
          <p:cNvPr id="73" name="Google Shape;73;p15"/>
          <p:cNvGrpSpPr/>
          <p:nvPr/>
        </p:nvGrpSpPr>
        <p:grpSpPr>
          <a:xfrm>
            <a:off x="3660480" y="399960"/>
            <a:ext cx="1309380" cy="257460"/>
            <a:chOff x="3660480" y="399960"/>
            <a:chExt cx="1309380" cy="257460"/>
          </a:xfrm>
        </p:grpSpPr>
        <p:sp>
          <p:nvSpPr>
            <p:cNvPr id="74" name="Google Shape;74;p15"/>
            <p:cNvSpPr/>
            <p:nvPr/>
          </p:nvSpPr>
          <p:spPr>
            <a:xfrm>
              <a:off x="4079880" y="39996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5" name="Google Shape;75;p15"/>
            <p:cNvSpPr/>
            <p:nvPr/>
          </p:nvSpPr>
          <p:spPr>
            <a:xfrm>
              <a:off x="4284000" y="39996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6" name="Google Shape;76;p15"/>
            <p:cNvSpPr/>
            <p:nvPr/>
          </p:nvSpPr>
          <p:spPr>
            <a:xfrm>
              <a:off x="4488120" y="39996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7" name="Google Shape;77;p15"/>
            <p:cNvSpPr/>
            <p:nvPr/>
          </p:nvSpPr>
          <p:spPr>
            <a:xfrm>
              <a:off x="4692240" y="39996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8" name="Google Shape;78;p15"/>
            <p:cNvSpPr/>
            <p:nvPr/>
          </p:nvSpPr>
          <p:spPr>
            <a:xfrm>
              <a:off x="4896360" y="39996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9" name="Google Shape;79;p15"/>
            <p:cNvSpPr/>
            <p:nvPr/>
          </p:nvSpPr>
          <p:spPr>
            <a:xfrm>
              <a:off x="3660480" y="58392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0" name="Google Shape;80;p15"/>
            <p:cNvSpPr/>
            <p:nvPr/>
          </p:nvSpPr>
          <p:spPr>
            <a:xfrm>
              <a:off x="3864240" y="58392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1" name="Google Shape;81;p15"/>
            <p:cNvSpPr/>
            <p:nvPr/>
          </p:nvSpPr>
          <p:spPr>
            <a:xfrm>
              <a:off x="4068360" y="58392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2" name="Google Shape;82;p15"/>
            <p:cNvSpPr/>
            <p:nvPr/>
          </p:nvSpPr>
          <p:spPr>
            <a:xfrm>
              <a:off x="4272480" y="58392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3" name="Google Shape;83;p15"/>
            <p:cNvSpPr/>
            <p:nvPr/>
          </p:nvSpPr>
          <p:spPr>
            <a:xfrm>
              <a:off x="4476600" y="58392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84" name="Google Shape;84;p15"/>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
  <p:cSld name="BLANK_1">
    <p:spTree>
      <p:nvGrpSpPr>
        <p:cNvPr id="85" name="Shape 85"/>
        <p:cNvGrpSpPr/>
        <p:nvPr/>
      </p:nvGrpSpPr>
      <p:grpSpPr>
        <a:xfrm>
          <a:off x="0" y="0"/>
          <a:ext cx="0" cy="0"/>
          <a:chOff x="0" y="0"/>
          <a:chExt cx="0" cy="0"/>
        </a:xfrm>
      </p:grpSpPr>
      <p:sp>
        <p:nvSpPr>
          <p:cNvPr id="86" name="Google Shape;86;p16"/>
          <p:cNvSpPr txBox="1"/>
          <p:nvPr>
            <p:ph type="title"/>
          </p:nvPr>
        </p:nvSpPr>
        <p:spPr>
          <a:xfrm>
            <a:off x="713160" y="1013400"/>
            <a:ext cx="6993600" cy="814800"/>
          </a:xfrm>
          <a:prstGeom prst="rect">
            <a:avLst/>
          </a:prstGeom>
          <a:noFill/>
          <a:ln>
            <a:noFill/>
          </a:ln>
        </p:spPr>
        <p:txBody>
          <a:bodyPr anchorCtr="0" anchor="t" bIns="91425" lIns="91425" spcFirstLastPara="1" rIns="91425" wrap="square" tIns="91425">
            <a:noAutofit/>
          </a:bodyPr>
          <a:lstStyle>
            <a:lvl1pPr lvl="0" marR="0" algn="l">
              <a:spcBef>
                <a:spcPts val="0"/>
              </a:spcBef>
              <a:spcAft>
                <a:spcPts val="0"/>
              </a:spcAft>
              <a:buSzPts val="2800"/>
              <a:buNone/>
              <a:defRPr b="0" i="0" sz="1800" u="none" cap="none" strike="noStrike"/>
            </a:lvl1pPr>
            <a:lvl2pPr lvl="1" marR="0" algn="l">
              <a:spcBef>
                <a:spcPts val="0"/>
              </a:spcBef>
              <a:spcAft>
                <a:spcPts val="0"/>
              </a:spcAft>
              <a:buSzPts val="2800"/>
              <a:buNone/>
              <a:defRPr b="0" i="0" sz="1800" u="none" cap="none" strike="noStrike"/>
            </a:lvl2pPr>
            <a:lvl3pPr lvl="2" marR="0" algn="l">
              <a:spcBef>
                <a:spcPts val="0"/>
              </a:spcBef>
              <a:spcAft>
                <a:spcPts val="0"/>
              </a:spcAft>
              <a:buSzPts val="2800"/>
              <a:buNone/>
              <a:defRPr b="0" i="0" sz="1800" u="none" cap="none" strike="noStrike"/>
            </a:lvl3pPr>
            <a:lvl4pPr lvl="3" marR="0" algn="l">
              <a:spcBef>
                <a:spcPts val="0"/>
              </a:spcBef>
              <a:spcAft>
                <a:spcPts val="0"/>
              </a:spcAft>
              <a:buSzPts val="2800"/>
              <a:buNone/>
              <a:defRPr b="0" i="0" sz="1800" u="none" cap="none" strike="noStrike"/>
            </a:lvl4pPr>
            <a:lvl5pPr lvl="4" marR="0" algn="l">
              <a:spcBef>
                <a:spcPts val="0"/>
              </a:spcBef>
              <a:spcAft>
                <a:spcPts val="0"/>
              </a:spcAft>
              <a:buSzPts val="2800"/>
              <a:buNone/>
              <a:defRPr b="0" i="0" sz="1800" u="none" cap="none" strike="noStrike"/>
            </a:lvl5pPr>
            <a:lvl6pPr lvl="5" marR="0" algn="l">
              <a:spcBef>
                <a:spcPts val="0"/>
              </a:spcBef>
              <a:spcAft>
                <a:spcPts val="0"/>
              </a:spcAft>
              <a:buSzPts val="2800"/>
              <a:buNone/>
              <a:defRPr b="0" i="0" sz="1800" u="none" cap="none" strike="noStrike"/>
            </a:lvl6pPr>
            <a:lvl7pPr lvl="6" marR="0" algn="l">
              <a:spcBef>
                <a:spcPts val="0"/>
              </a:spcBef>
              <a:spcAft>
                <a:spcPts val="0"/>
              </a:spcAft>
              <a:buSzPts val="2800"/>
              <a:buNone/>
              <a:defRPr b="0" i="0" sz="1800" u="none" cap="none" strike="noStrike"/>
            </a:lvl7pPr>
            <a:lvl8pPr lvl="7" marR="0" algn="l">
              <a:spcBef>
                <a:spcPts val="0"/>
              </a:spcBef>
              <a:spcAft>
                <a:spcPts val="0"/>
              </a:spcAft>
              <a:buSzPts val="2800"/>
              <a:buNone/>
              <a:defRPr b="0" i="0" sz="1800" u="none" cap="none" strike="noStrike"/>
            </a:lvl8pPr>
            <a:lvl9pPr lvl="8" marR="0" algn="l">
              <a:spcBef>
                <a:spcPts val="0"/>
              </a:spcBef>
              <a:spcAft>
                <a:spcPts val="0"/>
              </a:spcAft>
              <a:buSzPts val="2800"/>
              <a:buNone/>
              <a:defRPr b="0" i="0" sz="1800" u="none" cap="none" strike="noStrike"/>
            </a:lvl9pPr>
          </a:lstStyle>
          <a:p/>
        </p:txBody>
      </p:sp>
      <p:grpSp>
        <p:nvGrpSpPr>
          <p:cNvPr id="87" name="Google Shape;87;p16"/>
          <p:cNvGrpSpPr/>
          <p:nvPr/>
        </p:nvGrpSpPr>
        <p:grpSpPr>
          <a:xfrm>
            <a:off x="6687300" y="-259020"/>
            <a:ext cx="2946726" cy="5031900"/>
            <a:chOff x="6687300" y="-259020"/>
            <a:chExt cx="2946726" cy="5031900"/>
          </a:xfrm>
        </p:grpSpPr>
        <p:grpSp>
          <p:nvGrpSpPr>
            <p:cNvPr id="88" name="Google Shape;88;p16"/>
            <p:cNvGrpSpPr/>
            <p:nvPr/>
          </p:nvGrpSpPr>
          <p:grpSpPr>
            <a:xfrm>
              <a:off x="7260480" y="4515420"/>
              <a:ext cx="1309740" cy="257460"/>
              <a:chOff x="7260480" y="4515420"/>
              <a:chExt cx="1309740" cy="257460"/>
            </a:xfrm>
          </p:grpSpPr>
          <p:sp>
            <p:nvSpPr>
              <p:cNvPr id="89" name="Google Shape;89;p16"/>
              <p:cNvSpPr/>
              <p:nvPr/>
            </p:nvSpPr>
            <p:spPr>
              <a:xfrm flipH="1" rot="10800000">
                <a:off x="7680240" y="469938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0" name="Google Shape;90;p16"/>
              <p:cNvSpPr/>
              <p:nvPr/>
            </p:nvSpPr>
            <p:spPr>
              <a:xfrm flipH="1" rot="10800000">
                <a:off x="7884360" y="469938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1" name="Google Shape;91;p16"/>
              <p:cNvSpPr/>
              <p:nvPr/>
            </p:nvSpPr>
            <p:spPr>
              <a:xfrm flipH="1" rot="10800000">
                <a:off x="8088480" y="469938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2" name="Google Shape;92;p16"/>
              <p:cNvSpPr/>
              <p:nvPr/>
            </p:nvSpPr>
            <p:spPr>
              <a:xfrm flipH="1" rot="10800000">
                <a:off x="8292600" y="469938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3" name="Google Shape;93;p16"/>
              <p:cNvSpPr/>
              <p:nvPr/>
            </p:nvSpPr>
            <p:spPr>
              <a:xfrm flipH="1" rot="10800000">
                <a:off x="8496720" y="469938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4" name="Google Shape;94;p16"/>
              <p:cNvSpPr/>
              <p:nvPr/>
            </p:nvSpPr>
            <p:spPr>
              <a:xfrm flipH="1" rot="10800000">
                <a:off x="7260480" y="451542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5" name="Google Shape;95;p16"/>
              <p:cNvSpPr/>
              <p:nvPr/>
            </p:nvSpPr>
            <p:spPr>
              <a:xfrm flipH="1" rot="10800000">
                <a:off x="7464600" y="451542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6" name="Google Shape;96;p16"/>
              <p:cNvSpPr/>
              <p:nvPr/>
            </p:nvSpPr>
            <p:spPr>
              <a:xfrm flipH="1" rot="10800000">
                <a:off x="7668720" y="451542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7" name="Google Shape;97;p16"/>
              <p:cNvSpPr/>
              <p:nvPr/>
            </p:nvSpPr>
            <p:spPr>
              <a:xfrm flipH="1" rot="10800000">
                <a:off x="7872840" y="451542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8" name="Google Shape;98;p16"/>
              <p:cNvSpPr/>
              <p:nvPr/>
            </p:nvSpPr>
            <p:spPr>
              <a:xfrm flipH="1" rot="10800000">
                <a:off x="8076960" y="451542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99" name="Google Shape;99;p16"/>
            <p:cNvGrpSpPr/>
            <p:nvPr/>
          </p:nvGrpSpPr>
          <p:grpSpPr>
            <a:xfrm>
              <a:off x="6687300" y="-259020"/>
              <a:ext cx="2946726" cy="2776163"/>
              <a:chOff x="6687300" y="-259020"/>
              <a:chExt cx="2946726" cy="2776163"/>
            </a:xfrm>
          </p:grpSpPr>
          <p:sp>
            <p:nvSpPr>
              <p:cNvPr id="100" name="Google Shape;100;p16"/>
              <p:cNvSpPr/>
              <p:nvPr/>
            </p:nvSpPr>
            <p:spPr>
              <a:xfrm rot="10800000">
                <a:off x="6687300" y="-15000"/>
                <a:ext cx="2456700" cy="24468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1" name="Google Shape;101;p16"/>
              <p:cNvSpPr/>
              <p:nvPr/>
            </p:nvSpPr>
            <p:spPr>
              <a:xfrm flipH="1" rot="-8100410">
                <a:off x="7946238" y="807992"/>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2" name="Google Shape;102;p16"/>
              <p:cNvSpPr/>
              <p:nvPr/>
            </p:nvSpPr>
            <p:spPr>
              <a:xfrm flipH="1" rot="-8100000">
                <a:off x="6856947" y="76255"/>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3" name="Google Shape;103;p16"/>
              <p:cNvSpPr/>
              <p:nvPr/>
            </p:nvSpPr>
            <p:spPr>
              <a:xfrm flipH="1" rot="10800000">
                <a:off x="6962400" y="272280"/>
                <a:ext cx="1309200" cy="1309200"/>
              </a:xfrm>
              <a:prstGeom prst="ellipse">
                <a:avLst/>
              </a:prstGeom>
              <a:noFill/>
              <a:ln cap="flat" cmpd="sng" w="9525">
                <a:solidFill>
                  <a:srgbClr val="F8F8F8"/>
                </a:solidFill>
                <a:prstDash val="lg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4" name="Google Shape;104;p16"/>
              <p:cNvSpPr/>
              <p:nvPr/>
            </p:nvSpPr>
            <p:spPr>
              <a:xfrm flipH="1" rot="-8100410">
                <a:off x="7652166" y="1609564"/>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sp>
        <p:nvSpPr>
          <p:cNvPr id="105" name="Google Shape;105;p16"/>
          <p:cNvSpPr txBox="1"/>
          <p:nvPr>
            <p:ph idx="1" type="body"/>
          </p:nvPr>
        </p:nvSpPr>
        <p:spPr>
          <a:xfrm>
            <a:off x="457200" y="1203480"/>
            <a:ext cx="8229300" cy="2982900"/>
          </a:xfrm>
          <a:prstGeom prst="rect">
            <a:avLst/>
          </a:prstGeom>
          <a:noFill/>
          <a:ln>
            <a:noFill/>
          </a:ln>
        </p:spPr>
        <p:txBody>
          <a:bodyPr anchorCtr="0" anchor="t" bIns="0" lIns="0" spcFirstLastPara="1" rIns="0" wrap="square" tIns="0">
            <a:normAutofit/>
          </a:bodyPr>
          <a:lstStyle>
            <a:lvl1pPr indent="-228600" lvl="0" marL="457200" marR="0" algn="l">
              <a:spcBef>
                <a:spcPts val="0"/>
              </a:spcBef>
              <a:spcAft>
                <a:spcPts val="0"/>
              </a:spcAft>
              <a:buSzPts val="1300"/>
              <a:buNone/>
              <a:defRPr b="0" i="0" sz="1800" u="none" cap="none" strike="noStrike"/>
            </a:lvl1pPr>
            <a:lvl2pPr indent="-228600" lvl="1" marL="914400" marR="0" algn="l">
              <a:spcBef>
                <a:spcPts val="1200"/>
              </a:spcBef>
              <a:spcAft>
                <a:spcPts val="0"/>
              </a:spcAft>
              <a:buSzPts val="1100"/>
              <a:buNone/>
              <a:defRPr b="0" i="0" sz="1800" u="none" cap="none" strike="noStrike"/>
            </a:lvl2pPr>
            <a:lvl3pPr indent="-228600" lvl="2" marL="1371600" marR="0" algn="l">
              <a:spcBef>
                <a:spcPts val="1200"/>
              </a:spcBef>
              <a:spcAft>
                <a:spcPts val="0"/>
              </a:spcAft>
              <a:buSzPts val="1100"/>
              <a:buNone/>
              <a:defRPr b="0" i="0" sz="1800" u="none" cap="none" strike="noStrike"/>
            </a:lvl3pPr>
            <a:lvl4pPr indent="-228600" lvl="3" marL="1828800" marR="0" algn="l">
              <a:spcBef>
                <a:spcPts val="1200"/>
              </a:spcBef>
              <a:spcAft>
                <a:spcPts val="0"/>
              </a:spcAft>
              <a:buSzPts val="1100"/>
              <a:buNone/>
              <a:defRPr b="0" i="0" sz="1800" u="none" cap="none" strike="noStrike"/>
            </a:lvl4pPr>
            <a:lvl5pPr indent="-228600" lvl="4" marL="2286000" marR="0" algn="l">
              <a:spcBef>
                <a:spcPts val="1200"/>
              </a:spcBef>
              <a:spcAft>
                <a:spcPts val="0"/>
              </a:spcAft>
              <a:buSzPts val="1100"/>
              <a:buNone/>
              <a:defRPr b="0" i="0" sz="1800" u="none" cap="none" strike="noStrike"/>
            </a:lvl5pPr>
            <a:lvl6pPr indent="-228600" lvl="5" marL="2743200" marR="0" algn="l">
              <a:spcBef>
                <a:spcPts val="1200"/>
              </a:spcBef>
              <a:spcAft>
                <a:spcPts val="0"/>
              </a:spcAft>
              <a:buSzPts val="1100"/>
              <a:buNone/>
              <a:defRPr b="0" i="0" sz="1800" u="none" cap="none" strike="noStrike"/>
            </a:lvl6pPr>
            <a:lvl7pPr indent="-228600" lvl="6" marL="3200400" marR="0" algn="l">
              <a:spcBef>
                <a:spcPts val="1200"/>
              </a:spcBef>
              <a:spcAft>
                <a:spcPts val="0"/>
              </a:spcAft>
              <a:buSzPts val="1100"/>
              <a:buNone/>
              <a:defRPr b="0" i="0" sz="1800" u="none" cap="none" strike="noStrike"/>
            </a:lvl7pPr>
            <a:lvl8pPr indent="-228600" lvl="7" marL="3657600" marR="0" algn="l">
              <a:spcBef>
                <a:spcPts val="1200"/>
              </a:spcBef>
              <a:spcAft>
                <a:spcPts val="0"/>
              </a:spcAft>
              <a:buSzPts val="1100"/>
              <a:buNone/>
              <a:defRPr b="0" i="0" sz="1800" u="none" cap="none" strike="noStrike"/>
            </a:lvl8pPr>
            <a:lvl9pPr indent="-228600" lvl="8" marL="4114800" marR="0" algn="l">
              <a:spcBef>
                <a:spcPts val="1200"/>
              </a:spcBef>
              <a:spcAft>
                <a:spcPts val="1200"/>
              </a:spcAft>
              <a:buSzPts val="1100"/>
              <a:buNone/>
              <a:defRPr b="0" i="0" sz="1800" u="none" cap="none" strike="noStrike"/>
            </a:lvl9pPr>
          </a:lstStyle>
          <a:p/>
        </p:txBody>
      </p:sp>
      <p:sp>
        <p:nvSpPr>
          <p:cNvPr id="106" name="Google Shape;106;p16"/>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2_1">
  <p:cSld name="CUSTOM_12_1">
    <p:spTree>
      <p:nvGrpSpPr>
        <p:cNvPr id="107" name="Shape 107"/>
        <p:cNvGrpSpPr/>
        <p:nvPr/>
      </p:nvGrpSpPr>
      <p:grpSpPr>
        <a:xfrm>
          <a:off x="0" y="0"/>
          <a:ext cx="0" cy="0"/>
          <a:chOff x="0" y="0"/>
          <a:chExt cx="0" cy="0"/>
        </a:xfrm>
      </p:grpSpPr>
      <p:sp>
        <p:nvSpPr>
          <p:cNvPr id="108" name="Google Shape;108;p17"/>
          <p:cNvSpPr txBox="1"/>
          <p:nvPr>
            <p:ph type="title"/>
          </p:nvPr>
        </p:nvSpPr>
        <p:spPr>
          <a:xfrm>
            <a:off x="720000" y="1222920"/>
            <a:ext cx="4275600" cy="1733700"/>
          </a:xfrm>
          <a:prstGeom prst="rect">
            <a:avLst/>
          </a:prstGeom>
          <a:noFill/>
          <a:ln>
            <a:noFill/>
          </a:ln>
        </p:spPr>
        <p:txBody>
          <a:bodyPr anchorCtr="0" anchor="b" bIns="91425" lIns="91425" spcFirstLastPara="1" rIns="91425" wrap="square" tIns="91425">
            <a:noAutofit/>
          </a:bodyPr>
          <a:lstStyle>
            <a:lvl1pPr lvl="0" marR="0" algn="l">
              <a:spcBef>
                <a:spcPts val="0"/>
              </a:spcBef>
              <a:spcAft>
                <a:spcPts val="0"/>
              </a:spcAft>
              <a:buSzPts val="2800"/>
              <a:buNone/>
              <a:defRPr b="0" i="0" sz="1800" u="none" cap="none" strike="noStrike"/>
            </a:lvl1pPr>
            <a:lvl2pPr lvl="1" marR="0" algn="l">
              <a:spcBef>
                <a:spcPts val="0"/>
              </a:spcBef>
              <a:spcAft>
                <a:spcPts val="0"/>
              </a:spcAft>
              <a:buSzPts val="2800"/>
              <a:buNone/>
              <a:defRPr b="0" i="0" sz="1800" u="none" cap="none" strike="noStrike"/>
            </a:lvl2pPr>
            <a:lvl3pPr lvl="2" marR="0" algn="l">
              <a:spcBef>
                <a:spcPts val="0"/>
              </a:spcBef>
              <a:spcAft>
                <a:spcPts val="0"/>
              </a:spcAft>
              <a:buSzPts val="2800"/>
              <a:buNone/>
              <a:defRPr b="0" i="0" sz="1800" u="none" cap="none" strike="noStrike"/>
            </a:lvl3pPr>
            <a:lvl4pPr lvl="3" marR="0" algn="l">
              <a:spcBef>
                <a:spcPts val="0"/>
              </a:spcBef>
              <a:spcAft>
                <a:spcPts val="0"/>
              </a:spcAft>
              <a:buSzPts val="2800"/>
              <a:buNone/>
              <a:defRPr b="0" i="0" sz="1800" u="none" cap="none" strike="noStrike"/>
            </a:lvl4pPr>
            <a:lvl5pPr lvl="4" marR="0" algn="l">
              <a:spcBef>
                <a:spcPts val="0"/>
              </a:spcBef>
              <a:spcAft>
                <a:spcPts val="0"/>
              </a:spcAft>
              <a:buSzPts val="2800"/>
              <a:buNone/>
              <a:defRPr b="0" i="0" sz="1800" u="none" cap="none" strike="noStrike"/>
            </a:lvl5pPr>
            <a:lvl6pPr lvl="5" marR="0" algn="l">
              <a:spcBef>
                <a:spcPts val="0"/>
              </a:spcBef>
              <a:spcAft>
                <a:spcPts val="0"/>
              </a:spcAft>
              <a:buSzPts val="2800"/>
              <a:buNone/>
              <a:defRPr b="0" i="0" sz="1800" u="none" cap="none" strike="noStrike"/>
            </a:lvl6pPr>
            <a:lvl7pPr lvl="6" marR="0" algn="l">
              <a:spcBef>
                <a:spcPts val="0"/>
              </a:spcBef>
              <a:spcAft>
                <a:spcPts val="0"/>
              </a:spcAft>
              <a:buSzPts val="2800"/>
              <a:buNone/>
              <a:defRPr b="0" i="0" sz="1800" u="none" cap="none" strike="noStrike"/>
            </a:lvl7pPr>
            <a:lvl8pPr lvl="7" marR="0" algn="l">
              <a:spcBef>
                <a:spcPts val="0"/>
              </a:spcBef>
              <a:spcAft>
                <a:spcPts val="0"/>
              </a:spcAft>
              <a:buSzPts val="2800"/>
              <a:buNone/>
              <a:defRPr b="0" i="0" sz="1800" u="none" cap="none" strike="noStrike"/>
            </a:lvl8pPr>
            <a:lvl9pPr lvl="8" marR="0" algn="l">
              <a:spcBef>
                <a:spcPts val="0"/>
              </a:spcBef>
              <a:spcAft>
                <a:spcPts val="0"/>
              </a:spcAft>
              <a:buSzPts val="2800"/>
              <a:buNone/>
              <a:defRPr b="0" i="0" sz="1800" u="none" cap="none" strike="noStrike"/>
            </a:lvl9pPr>
          </a:lstStyle>
          <a:p/>
        </p:txBody>
      </p:sp>
      <p:sp>
        <p:nvSpPr>
          <p:cNvPr id="109" name="Google Shape;109;p17"/>
          <p:cNvSpPr txBox="1"/>
          <p:nvPr>
            <p:ph idx="1" type="body"/>
          </p:nvPr>
        </p:nvSpPr>
        <p:spPr>
          <a:xfrm>
            <a:off x="5397480" y="1055160"/>
            <a:ext cx="3033000" cy="3033000"/>
          </a:xfrm>
          <a:prstGeom prst="rect">
            <a:avLst/>
          </a:prstGeom>
          <a:noFill/>
          <a:ln cap="flat" cmpd="sng" w="38150">
            <a:solidFill>
              <a:schemeClr val="lt1"/>
            </a:solidFill>
            <a:prstDash val="solid"/>
            <a:round/>
            <a:headEnd len="sm" w="sm" type="none"/>
            <a:tailEnd len="sm" w="sm" type="none"/>
          </a:ln>
        </p:spPr>
        <p:txBody>
          <a:bodyPr anchorCtr="0" anchor="t" bIns="45000" lIns="90000" spcFirstLastPara="1" rIns="90000" wrap="square" tIns="45000">
            <a:normAutofit/>
          </a:bodyPr>
          <a:lstStyle>
            <a:lvl1pPr indent="-228600" lvl="0" marL="457200" marR="0" algn="l">
              <a:spcBef>
                <a:spcPts val="0"/>
              </a:spcBef>
              <a:spcAft>
                <a:spcPts val="0"/>
              </a:spcAft>
              <a:buSzPts val="1300"/>
              <a:buNone/>
              <a:defRPr b="0" i="0" sz="1800" u="none" cap="none" strike="noStrike"/>
            </a:lvl1pPr>
            <a:lvl2pPr indent="-228600" lvl="1" marL="914400" marR="0" algn="l">
              <a:spcBef>
                <a:spcPts val="1200"/>
              </a:spcBef>
              <a:spcAft>
                <a:spcPts val="0"/>
              </a:spcAft>
              <a:buSzPts val="1100"/>
              <a:buNone/>
              <a:defRPr b="0" i="0" sz="1800" u="none" cap="none" strike="noStrike"/>
            </a:lvl2pPr>
            <a:lvl3pPr indent="-228600" lvl="2" marL="1371600" marR="0" algn="l">
              <a:spcBef>
                <a:spcPts val="1200"/>
              </a:spcBef>
              <a:spcAft>
                <a:spcPts val="0"/>
              </a:spcAft>
              <a:buSzPts val="1100"/>
              <a:buNone/>
              <a:defRPr b="0" i="0" sz="1800" u="none" cap="none" strike="noStrike"/>
            </a:lvl3pPr>
            <a:lvl4pPr indent="-228600" lvl="3" marL="1828800" marR="0" algn="l">
              <a:spcBef>
                <a:spcPts val="1200"/>
              </a:spcBef>
              <a:spcAft>
                <a:spcPts val="0"/>
              </a:spcAft>
              <a:buSzPts val="1100"/>
              <a:buNone/>
              <a:defRPr b="0" i="0" sz="1800" u="none" cap="none" strike="noStrike"/>
            </a:lvl4pPr>
            <a:lvl5pPr indent="-228600" lvl="4" marL="2286000" marR="0" algn="l">
              <a:spcBef>
                <a:spcPts val="1200"/>
              </a:spcBef>
              <a:spcAft>
                <a:spcPts val="0"/>
              </a:spcAft>
              <a:buSzPts val="1100"/>
              <a:buNone/>
              <a:defRPr b="0" i="0" sz="1800" u="none" cap="none" strike="noStrike"/>
            </a:lvl5pPr>
            <a:lvl6pPr indent="-228600" lvl="5" marL="2743200" marR="0" algn="l">
              <a:spcBef>
                <a:spcPts val="1200"/>
              </a:spcBef>
              <a:spcAft>
                <a:spcPts val="0"/>
              </a:spcAft>
              <a:buSzPts val="1100"/>
              <a:buNone/>
              <a:defRPr b="0" i="0" sz="1800" u="none" cap="none" strike="noStrike"/>
            </a:lvl6pPr>
            <a:lvl7pPr indent="-228600" lvl="6" marL="3200400" marR="0" algn="l">
              <a:spcBef>
                <a:spcPts val="1200"/>
              </a:spcBef>
              <a:spcAft>
                <a:spcPts val="0"/>
              </a:spcAft>
              <a:buSzPts val="1100"/>
              <a:buNone/>
              <a:defRPr b="0" i="0" sz="1800" u="none" cap="none" strike="noStrike"/>
            </a:lvl7pPr>
            <a:lvl8pPr indent="-228600" lvl="7" marL="3657600" marR="0" algn="l">
              <a:spcBef>
                <a:spcPts val="1200"/>
              </a:spcBef>
              <a:spcAft>
                <a:spcPts val="0"/>
              </a:spcAft>
              <a:buSzPts val="1100"/>
              <a:buNone/>
              <a:defRPr b="0" i="0" sz="1800" u="none" cap="none" strike="noStrike"/>
            </a:lvl8pPr>
            <a:lvl9pPr indent="-228600" lvl="8" marL="4114800" marR="0" algn="l">
              <a:spcBef>
                <a:spcPts val="1200"/>
              </a:spcBef>
              <a:spcAft>
                <a:spcPts val="1200"/>
              </a:spcAft>
              <a:buSzPts val="1100"/>
              <a:buNone/>
              <a:defRPr b="0" i="0" sz="1800" u="none" cap="none" strike="noStrike"/>
            </a:lvl9pPr>
          </a:lstStyle>
          <a:p/>
        </p:txBody>
      </p:sp>
      <p:grpSp>
        <p:nvGrpSpPr>
          <p:cNvPr id="110" name="Google Shape;110;p17"/>
          <p:cNvGrpSpPr/>
          <p:nvPr/>
        </p:nvGrpSpPr>
        <p:grpSpPr>
          <a:xfrm>
            <a:off x="5362560" y="4349100"/>
            <a:ext cx="1309380" cy="257460"/>
            <a:chOff x="5362560" y="4349100"/>
            <a:chExt cx="1309380" cy="257460"/>
          </a:xfrm>
        </p:grpSpPr>
        <p:sp>
          <p:nvSpPr>
            <p:cNvPr id="111" name="Google Shape;111;p17"/>
            <p:cNvSpPr/>
            <p:nvPr/>
          </p:nvSpPr>
          <p:spPr>
            <a:xfrm flipH="1" rot="10800000">
              <a:off x="5781960" y="453306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2" name="Google Shape;112;p17"/>
            <p:cNvSpPr/>
            <p:nvPr/>
          </p:nvSpPr>
          <p:spPr>
            <a:xfrm flipH="1" rot="10800000">
              <a:off x="5986080" y="453306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3" name="Google Shape;113;p17"/>
            <p:cNvSpPr/>
            <p:nvPr/>
          </p:nvSpPr>
          <p:spPr>
            <a:xfrm flipH="1" rot="10800000">
              <a:off x="6190200" y="453306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4" name="Google Shape;114;p17"/>
            <p:cNvSpPr/>
            <p:nvPr/>
          </p:nvSpPr>
          <p:spPr>
            <a:xfrm flipH="1" rot="10800000">
              <a:off x="6394320" y="453306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5" name="Google Shape;115;p17"/>
            <p:cNvSpPr/>
            <p:nvPr/>
          </p:nvSpPr>
          <p:spPr>
            <a:xfrm flipH="1" rot="10800000">
              <a:off x="6598440" y="453306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6" name="Google Shape;116;p17"/>
            <p:cNvSpPr/>
            <p:nvPr/>
          </p:nvSpPr>
          <p:spPr>
            <a:xfrm flipH="1" rot="10800000">
              <a:off x="5362560" y="434910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7" name="Google Shape;117;p17"/>
            <p:cNvSpPr/>
            <p:nvPr/>
          </p:nvSpPr>
          <p:spPr>
            <a:xfrm flipH="1" rot="10800000">
              <a:off x="5566680" y="434910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8" name="Google Shape;118;p17"/>
            <p:cNvSpPr/>
            <p:nvPr/>
          </p:nvSpPr>
          <p:spPr>
            <a:xfrm flipH="1" rot="10800000">
              <a:off x="5770800" y="434910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9" name="Google Shape;119;p17"/>
            <p:cNvSpPr/>
            <p:nvPr/>
          </p:nvSpPr>
          <p:spPr>
            <a:xfrm flipH="1" rot="10800000">
              <a:off x="5974920" y="434910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0" name="Google Shape;120;p17"/>
            <p:cNvSpPr/>
            <p:nvPr/>
          </p:nvSpPr>
          <p:spPr>
            <a:xfrm flipH="1" rot="10800000">
              <a:off x="6179040" y="4349100"/>
              <a:ext cx="73500" cy="7350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21" name="Google Shape;121;p17"/>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a:buNone/>
              <a:defRPr>
                <a:solidFill>
                  <a:srgbClr val="000000"/>
                </a:solidFill>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3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8.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4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8.png"/><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 Id="rId3" Type="http://schemas.openxmlformats.org/officeDocument/2006/relationships/image" Target="../media/image38.png"/><Relationship Id="rId4" Type="http://schemas.openxmlformats.org/officeDocument/2006/relationships/image" Target="../media/image3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8.png"/><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 Id="rId3" Type="http://schemas.openxmlformats.org/officeDocument/2006/relationships/hyperlink" Target="https://drive.google.com/file/d/18jaamv6i2W2wcfvuZwYVnSz2mCjZJohl/view?usp=drive_link" TargetMode="External"/><Relationship Id="rId4" Type="http://schemas.openxmlformats.org/officeDocument/2006/relationships/hyperlink" Target="https://docs.google.com/spreadsheets/d/1qPDKQKa-oY5WPEYcDHPIcVdf6PumTFSpblL_psJoamo/edit?usp=drive_link"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 Id="rId3" Type="http://schemas.openxmlformats.org/officeDocument/2006/relationships/hyperlink" Target="https://drive.google.com/file/d/1b2alAYPrll7pRW1KCvbbzoR6zTq-BWx6/view?usp=drive_link" TargetMode="External"/><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 Id="rId3" Type="http://schemas.openxmlformats.org/officeDocument/2006/relationships/image" Target="../media/image3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0.xml"/><Relationship Id="rId3" Type="http://schemas.openxmlformats.org/officeDocument/2006/relationships/hyperlink" Target="https://drive.google.com/file/d/1DgKpA1YYNsyt2VdtNKNJhZcGY5xo6K_F/view?usp=drive_link" TargetMode="External"/><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1.xml"/><Relationship Id="rId3" Type="http://schemas.openxmlformats.org/officeDocument/2006/relationships/image" Target="../media/image2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3.xml"/><Relationship Id="rId3" Type="http://schemas.openxmlformats.org/officeDocument/2006/relationships/hyperlink" Target="https://docs.google.com/spreadsheets/d/1937XEsNRYVGb0192q9WXBGDv96YLBj9u-_FFJfPupjE/edit?usp=sharing" TargetMode="External"/><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 Id="rId3" Type="http://schemas.openxmlformats.org/officeDocument/2006/relationships/image" Target="../media/image8.png"/><Relationship Id="rId4" Type="http://schemas.openxmlformats.org/officeDocument/2006/relationships/image" Target="../media/image2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5.xml"/><Relationship Id="rId3" Type="http://schemas.openxmlformats.org/officeDocument/2006/relationships/hyperlink" Target="https://g.co/gemini/share/4f5b57d0a53e" TargetMode="External"/><Relationship Id="rId4"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6.xml"/><Relationship Id="rId3" Type="http://schemas.openxmlformats.org/officeDocument/2006/relationships/hyperlink" Target="https://g.co/gemini/share/4f5b57d0a53e" TargetMode="External"/><Relationship Id="rId4"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7.xml"/><Relationship Id="rId3" Type="http://schemas.openxmlformats.org/officeDocument/2006/relationships/hyperlink" Target="https://g.co/gemini/share/4f5b57d0a53e" TargetMode="External"/><Relationship Id="rId4" Type="http://schemas.openxmlformats.org/officeDocument/2006/relationships/image" Target="../media/image3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image" Target="../media/image3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 Id="rId3" Type="http://schemas.openxmlformats.org/officeDocument/2006/relationships/image" Target="../media/image3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 Id="rId3" Type="http://schemas.openxmlformats.org/officeDocument/2006/relationships/image" Target="../media/image8.png"/><Relationship Id="rId4" Type="http://schemas.openxmlformats.org/officeDocument/2006/relationships/image" Target="../media/image2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1.xml"/><Relationship Id="rId3" Type="http://schemas.openxmlformats.org/officeDocument/2006/relationships/image" Target="../media/image3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2.xml"/><Relationship Id="rId3" Type="http://schemas.openxmlformats.org/officeDocument/2006/relationships/hyperlink" Target="https://docs.google.com/spreadsheets/d/1qPDKQKa-oY5WPEYcDHPIcVdf6PumTFSpblL_psJoamo/edit?usp=sharing" TargetMode="External"/><Relationship Id="rId4" Type="http://schemas.openxmlformats.org/officeDocument/2006/relationships/image" Target="../media/image3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3.xml"/><Relationship Id="rId3" Type="http://schemas.openxmlformats.org/officeDocument/2006/relationships/hyperlink" Target="https://g.co/gemini/share/96fd7f3e9a51" TargetMode="External"/><Relationship Id="rId4" Type="http://schemas.openxmlformats.org/officeDocument/2006/relationships/image" Target="../media/image3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 Id="rId3" Type="http://schemas.openxmlformats.org/officeDocument/2006/relationships/image" Target="../media/image8.png"/><Relationship Id="rId4" Type="http://schemas.openxmlformats.org/officeDocument/2006/relationships/image" Target="../media/image2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5.xml"/><Relationship Id="rId3" Type="http://schemas.openxmlformats.org/officeDocument/2006/relationships/hyperlink" Target="https://qb4745.github.io/capstone-links/" TargetMode="External"/><Relationship Id="rId4" Type="http://schemas.openxmlformats.org/officeDocument/2006/relationships/hyperlink" Target="http://54.232.229.228:3000/dashboard"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 Id="rId3" Type="http://schemas.openxmlformats.org/officeDocument/2006/relationships/image" Target="../media/image8.png"/><Relationship Id="rId4" Type="http://schemas.openxmlformats.org/officeDocument/2006/relationships/image" Target="../media/image2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7.xml"/><Relationship Id="rId3" Type="http://schemas.openxmlformats.org/officeDocument/2006/relationships/image" Target="../media/image25.png"/><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5" name="Shape 125"/>
        <p:cNvGrpSpPr/>
        <p:nvPr/>
      </p:nvGrpSpPr>
      <p:grpSpPr>
        <a:xfrm>
          <a:off x="0" y="0"/>
          <a:ext cx="0" cy="0"/>
          <a:chOff x="0" y="0"/>
          <a:chExt cx="0" cy="0"/>
        </a:xfrm>
      </p:grpSpPr>
      <p:grpSp>
        <p:nvGrpSpPr>
          <p:cNvPr id="126" name="Google Shape;126;p18"/>
          <p:cNvGrpSpPr/>
          <p:nvPr/>
        </p:nvGrpSpPr>
        <p:grpSpPr>
          <a:xfrm>
            <a:off x="4714200" y="683927"/>
            <a:ext cx="4429440" cy="4466233"/>
            <a:chOff x="4714200" y="683927"/>
            <a:chExt cx="4429440" cy="4466233"/>
          </a:xfrm>
        </p:grpSpPr>
        <p:sp>
          <p:nvSpPr>
            <p:cNvPr id="127" name="Google Shape;127;p18"/>
            <p:cNvSpPr/>
            <p:nvPr/>
          </p:nvSpPr>
          <p:spPr>
            <a:xfrm flipH="1">
              <a:off x="4714200" y="783360"/>
              <a:ext cx="4429440" cy="4366800"/>
            </a:xfrm>
            <a:prstGeom prst="rtTriangle">
              <a:avLst/>
            </a:prstGeom>
            <a:solidFill>
              <a:schemeClr val="dk1"/>
            </a:solidFill>
            <a:ln>
              <a:noFill/>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28" name="Google Shape;128;p18"/>
            <p:cNvSpPr/>
            <p:nvPr/>
          </p:nvSpPr>
          <p:spPr>
            <a:xfrm rot="-2700000">
              <a:off x="7674840" y="1303560"/>
              <a:ext cx="995760" cy="114480"/>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29" name="Google Shape;129;p18"/>
            <p:cNvSpPr/>
            <p:nvPr/>
          </p:nvSpPr>
          <p:spPr>
            <a:xfrm rot="-2699400">
              <a:off x="4984200" y="3275640"/>
              <a:ext cx="1779480" cy="32616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30" name="Google Shape;130;p18"/>
            <p:cNvSpPr/>
            <p:nvPr/>
          </p:nvSpPr>
          <p:spPr>
            <a:xfrm rot="-2699400">
              <a:off x="7107840" y="2093040"/>
              <a:ext cx="1779480" cy="32616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31" name="Google Shape;131;p18"/>
            <p:cNvSpPr/>
            <p:nvPr/>
          </p:nvSpPr>
          <p:spPr>
            <a:xfrm rot="-2699400">
              <a:off x="6792480" y="1243080"/>
              <a:ext cx="1779480" cy="47736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32" name="Google Shape;132;p18"/>
            <p:cNvSpPr/>
            <p:nvPr/>
          </p:nvSpPr>
          <p:spPr>
            <a:xfrm rot="-2699400">
              <a:off x="5127480" y="3849480"/>
              <a:ext cx="1779480" cy="47736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133" name="Google Shape;133;p18"/>
          <p:cNvGrpSpPr/>
          <p:nvPr/>
        </p:nvGrpSpPr>
        <p:grpSpPr>
          <a:xfrm>
            <a:off x="2669760" y="4362120"/>
            <a:ext cx="1309320" cy="257400"/>
            <a:chOff x="2669760" y="4362120"/>
            <a:chExt cx="1309320" cy="257400"/>
          </a:xfrm>
        </p:grpSpPr>
        <p:sp>
          <p:nvSpPr>
            <p:cNvPr id="134" name="Google Shape;134;p18"/>
            <p:cNvSpPr/>
            <p:nvPr/>
          </p:nvSpPr>
          <p:spPr>
            <a:xfrm>
              <a:off x="3089160" y="4362120"/>
              <a:ext cx="73440" cy="7344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35" name="Google Shape;135;p18"/>
            <p:cNvSpPr/>
            <p:nvPr/>
          </p:nvSpPr>
          <p:spPr>
            <a:xfrm>
              <a:off x="3293280" y="4362120"/>
              <a:ext cx="73440" cy="7344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36" name="Google Shape;136;p18"/>
            <p:cNvSpPr/>
            <p:nvPr/>
          </p:nvSpPr>
          <p:spPr>
            <a:xfrm>
              <a:off x="3497400" y="4362120"/>
              <a:ext cx="73440" cy="7344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37" name="Google Shape;137;p18"/>
            <p:cNvSpPr/>
            <p:nvPr/>
          </p:nvSpPr>
          <p:spPr>
            <a:xfrm>
              <a:off x="3701520" y="4362120"/>
              <a:ext cx="73440" cy="7344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38" name="Google Shape;138;p18"/>
            <p:cNvSpPr/>
            <p:nvPr/>
          </p:nvSpPr>
          <p:spPr>
            <a:xfrm>
              <a:off x="3905640" y="4362120"/>
              <a:ext cx="73440" cy="7344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39" name="Google Shape;139;p18"/>
            <p:cNvSpPr/>
            <p:nvPr/>
          </p:nvSpPr>
          <p:spPr>
            <a:xfrm>
              <a:off x="2669760" y="4546080"/>
              <a:ext cx="73440" cy="7344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40" name="Google Shape;140;p18"/>
            <p:cNvSpPr/>
            <p:nvPr/>
          </p:nvSpPr>
          <p:spPr>
            <a:xfrm>
              <a:off x="2873880" y="4546080"/>
              <a:ext cx="73440" cy="7344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41" name="Google Shape;141;p18"/>
            <p:cNvSpPr/>
            <p:nvPr/>
          </p:nvSpPr>
          <p:spPr>
            <a:xfrm>
              <a:off x="3078000" y="4546080"/>
              <a:ext cx="73440" cy="7344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42" name="Google Shape;142;p18"/>
            <p:cNvSpPr/>
            <p:nvPr/>
          </p:nvSpPr>
          <p:spPr>
            <a:xfrm>
              <a:off x="3282120" y="4546080"/>
              <a:ext cx="73440" cy="7344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43" name="Google Shape;143;p18"/>
            <p:cNvSpPr/>
            <p:nvPr/>
          </p:nvSpPr>
          <p:spPr>
            <a:xfrm>
              <a:off x="3486240" y="4546080"/>
              <a:ext cx="73440" cy="73440"/>
            </a:xfrm>
            <a:prstGeom prst="ellipse">
              <a:avLst/>
            </a:prstGeom>
            <a:solidFill>
              <a:schemeClr val="dk1"/>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sp>
        <p:nvSpPr>
          <p:cNvPr id="144" name="Google Shape;144;p18"/>
          <p:cNvSpPr/>
          <p:nvPr/>
        </p:nvSpPr>
        <p:spPr>
          <a:xfrm>
            <a:off x="5654880" y="1312560"/>
            <a:ext cx="2851920" cy="2851920"/>
          </a:xfrm>
          <a:prstGeom prst="ellipse">
            <a:avLst/>
          </a:prstGeom>
          <a:blipFill rotWithShape="1">
            <a:blip r:embed="rId3">
              <a:alphaModFix/>
            </a:blip>
            <a:stretch>
              <a:fillRect b="0" l="0" r="0" t="0"/>
            </a:stretch>
          </a:blipFill>
          <a:ln cap="flat" cmpd="sng" w="76200">
            <a:solidFill>
              <a:srgbClr val="F8F8F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45" name="Google Shape;145;p18"/>
          <p:cNvGrpSpPr/>
          <p:nvPr/>
        </p:nvGrpSpPr>
        <p:grpSpPr>
          <a:xfrm>
            <a:off x="4643640" y="2814840"/>
            <a:ext cx="2187849" cy="1862409"/>
            <a:chOff x="4643640" y="2814840"/>
            <a:chExt cx="2187849" cy="1862409"/>
          </a:xfrm>
        </p:grpSpPr>
        <p:sp>
          <p:nvSpPr>
            <p:cNvPr id="146" name="Google Shape;146;p18"/>
            <p:cNvSpPr/>
            <p:nvPr/>
          </p:nvSpPr>
          <p:spPr>
            <a:xfrm rot="-2700000">
              <a:off x="5941080" y="4227480"/>
              <a:ext cx="995760" cy="114480"/>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7" name="Google Shape;147;p18"/>
            <p:cNvSpPr/>
            <p:nvPr/>
          </p:nvSpPr>
          <p:spPr>
            <a:xfrm>
              <a:off x="4643640" y="2814840"/>
              <a:ext cx="1596240" cy="1596240"/>
            </a:xfrm>
            <a:prstGeom prst="ellipse">
              <a:avLst/>
            </a:prstGeom>
            <a:noFill/>
            <a:ln cap="flat" cmpd="sng" w="9525">
              <a:solidFill>
                <a:srgbClr val="F8F8F8"/>
              </a:solidFill>
              <a:prstDash val="lg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148" name="Google Shape;148;p18"/>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149" name="Google Shape;149;p18"/>
          <p:cNvSpPr txBox="1"/>
          <p:nvPr/>
        </p:nvSpPr>
        <p:spPr>
          <a:xfrm>
            <a:off x="746950" y="3567325"/>
            <a:ext cx="1471800" cy="85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300">
                <a:solidFill>
                  <a:schemeClr val="dk2"/>
                </a:solidFill>
                <a:latin typeface="Roboto"/>
                <a:ea typeface="Roboto"/>
                <a:cs typeface="Roboto"/>
                <a:sym typeface="Roboto"/>
              </a:rPr>
              <a:t>Integrantes:</a:t>
            </a:r>
            <a:endParaRPr sz="1300">
              <a:solidFill>
                <a:schemeClr val="dk2"/>
              </a:solidFill>
              <a:latin typeface="Roboto"/>
              <a:ea typeface="Roboto"/>
              <a:cs typeface="Roboto"/>
              <a:sym typeface="Roboto"/>
            </a:endParaRPr>
          </a:p>
          <a:p>
            <a:pPr indent="0" lvl="0" marL="0" rtl="0" algn="l">
              <a:spcBef>
                <a:spcPts val="0"/>
              </a:spcBef>
              <a:spcAft>
                <a:spcPts val="0"/>
              </a:spcAft>
              <a:buNone/>
            </a:pPr>
            <a:r>
              <a:rPr lang="en-US" sz="1300">
                <a:solidFill>
                  <a:schemeClr val="dk2"/>
                </a:solidFill>
                <a:latin typeface="Roboto"/>
                <a:ea typeface="Roboto"/>
                <a:cs typeface="Roboto"/>
                <a:sym typeface="Roboto"/>
              </a:rPr>
              <a:t>Boris Arriagada</a:t>
            </a:r>
            <a:endParaRPr sz="1300">
              <a:solidFill>
                <a:schemeClr val="dk2"/>
              </a:solidFill>
              <a:latin typeface="Roboto"/>
              <a:ea typeface="Roboto"/>
              <a:cs typeface="Roboto"/>
              <a:sym typeface="Roboto"/>
            </a:endParaRPr>
          </a:p>
          <a:p>
            <a:pPr indent="0" lvl="0" marL="0" rtl="0" algn="l">
              <a:spcBef>
                <a:spcPts val="0"/>
              </a:spcBef>
              <a:spcAft>
                <a:spcPts val="0"/>
              </a:spcAft>
              <a:buNone/>
            </a:pPr>
            <a:r>
              <a:rPr lang="en-US" sz="1300">
                <a:solidFill>
                  <a:schemeClr val="dk2"/>
                </a:solidFill>
                <a:latin typeface="Roboto"/>
                <a:ea typeface="Roboto"/>
                <a:cs typeface="Roboto"/>
                <a:sym typeface="Roboto"/>
              </a:rPr>
              <a:t>Jaime Vicencio</a:t>
            </a:r>
            <a:endParaRPr sz="1300">
              <a:solidFill>
                <a:schemeClr val="dk2"/>
              </a:solidFill>
              <a:latin typeface="Roboto"/>
              <a:ea typeface="Roboto"/>
              <a:cs typeface="Roboto"/>
              <a:sym typeface="Roboto"/>
            </a:endParaRPr>
          </a:p>
        </p:txBody>
      </p:sp>
      <p:sp>
        <p:nvSpPr>
          <p:cNvPr id="150" name="Google Shape;150;p18"/>
          <p:cNvSpPr txBox="1"/>
          <p:nvPr/>
        </p:nvSpPr>
        <p:spPr>
          <a:xfrm>
            <a:off x="2669750" y="3567325"/>
            <a:ext cx="30000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solidFill>
                  <a:schemeClr val="dk2"/>
                </a:solidFill>
                <a:latin typeface="Roboto"/>
                <a:ea typeface="Roboto"/>
                <a:cs typeface="Roboto"/>
                <a:sym typeface="Roboto"/>
              </a:rPr>
              <a:t>Profesor:</a:t>
            </a:r>
            <a:endParaRPr sz="1300">
              <a:solidFill>
                <a:schemeClr val="dk2"/>
              </a:solidFill>
              <a:latin typeface="Roboto"/>
              <a:ea typeface="Roboto"/>
              <a:cs typeface="Roboto"/>
              <a:sym typeface="Roboto"/>
            </a:endParaRPr>
          </a:p>
          <a:p>
            <a:pPr indent="0" lvl="0" marL="0" rtl="0" algn="l">
              <a:spcBef>
                <a:spcPts val="0"/>
              </a:spcBef>
              <a:spcAft>
                <a:spcPts val="0"/>
              </a:spcAft>
              <a:buNone/>
            </a:pPr>
            <a:r>
              <a:rPr lang="en-US" sz="1300">
                <a:solidFill>
                  <a:schemeClr val="dk2"/>
                </a:solidFill>
                <a:latin typeface="Roboto"/>
                <a:ea typeface="Roboto"/>
                <a:cs typeface="Roboto"/>
                <a:sym typeface="Roboto"/>
              </a:rPr>
              <a:t>Mauricio Figueroa Colarte</a:t>
            </a:r>
            <a:endParaRPr sz="1300">
              <a:solidFill>
                <a:schemeClr val="dk2"/>
              </a:solidFill>
              <a:latin typeface="Roboto"/>
              <a:ea typeface="Roboto"/>
              <a:cs typeface="Roboto"/>
              <a:sym typeface="Roboto"/>
            </a:endParaRPr>
          </a:p>
        </p:txBody>
      </p:sp>
      <p:pic>
        <p:nvPicPr>
          <p:cNvPr id="151" name="Google Shape;151;p18"/>
          <p:cNvPicPr preferRelativeResize="0"/>
          <p:nvPr/>
        </p:nvPicPr>
        <p:blipFill>
          <a:blip r:embed="rId4">
            <a:alphaModFix/>
          </a:blip>
          <a:stretch>
            <a:fillRect/>
          </a:stretch>
        </p:blipFill>
        <p:spPr>
          <a:xfrm>
            <a:off x="658500" y="226400"/>
            <a:ext cx="3553425" cy="32268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grpSp>
        <p:nvGrpSpPr>
          <p:cNvPr id="155" name="Google Shape;155;p19"/>
          <p:cNvGrpSpPr/>
          <p:nvPr/>
        </p:nvGrpSpPr>
        <p:grpSpPr>
          <a:xfrm>
            <a:off x="6631052" y="2616743"/>
            <a:ext cx="2512412" cy="2533325"/>
            <a:chOff x="4714140" y="683790"/>
            <a:chExt cx="4429500" cy="4466370"/>
          </a:xfrm>
        </p:grpSpPr>
        <p:sp>
          <p:nvSpPr>
            <p:cNvPr id="156" name="Google Shape;156;p19"/>
            <p:cNvSpPr/>
            <p:nvPr/>
          </p:nvSpPr>
          <p:spPr>
            <a:xfrm flipH="1">
              <a:off x="4714140" y="783360"/>
              <a:ext cx="4429500" cy="4366800"/>
            </a:xfrm>
            <a:prstGeom prst="rtTriangle">
              <a:avLst/>
            </a:prstGeom>
            <a:solidFill>
              <a:schemeClr val="dk1"/>
            </a:solidFill>
            <a:ln>
              <a:noFill/>
            </a:ln>
            <a:effectLst>
              <a:reflection blurRad="0" dir="5400000" dist="21611" endA="0" endPos="30000" fadeDir="5400012" kx="0" rotWithShape="0" algn="bl" stPos="0" sy="-100000" ky="0"/>
            </a:effectLst>
          </p:spPr>
          <p:txBody>
            <a:bodyPr anchorCtr="0" anchor="ctr" bIns="51850" lIns="51850" spcFirstLastPara="1" rIns="51850" wrap="square" tIns="51850">
              <a:noAutofit/>
            </a:bodyPr>
            <a:lstStyle/>
            <a:p>
              <a:pPr indent="0" lvl="0" marL="0" marR="0" rtl="0" algn="l">
                <a:lnSpc>
                  <a:spcPct val="100000"/>
                </a:lnSpc>
                <a:spcBef>
                  <a:spcPts val="0"/>
                </a:spcBef>
                <a:spcAft>
                  <a:spcPts val="0"/>
                </a:spcAft>
                <a:buNone/>
              </a:pPr>
              <a:r>
                <a:t/>
              </a:r>
              <a:endParaRPr b="0" i="0" sz="1020" u="none" cap="none" strike="noStrike">
                <a:solidFill>
                  <a:srgbClr val="FFFFFF"/>
                </a:solidFill>
                <a:latin typeface="Noto Sans Symbols"/>
                <a:ea typeface="Noto Sans Symbols"/>
                <a:cs typeface="Noto Sans Symbols"/>
                <a:sym typeface="Noto Sans Symbols"/>
              </a:endParaRPr>
            </a:p>
          </p:txBody>
        </p:sp>
        <p:sp>
          <p:nvSpPr>
            <p:cNvPr id="157" name="Google Shape;157;p19"/>
            <p:cNvSpPr/>
            <p:nvPr/>
          </p:nvSpPr>
          <p:spPr>
            <a:xfrm rot="-2700000">
              <a:off x="7674867" y="1303554"/>
              <a:ext cx="995748" cy="114551"/>
            </a:xfrm>
            <a:prstGeom prst="roundRect">
              <a:avLst>
                <a:gd fmla="val 50000" name="adj"/>
              </a:avLst>
            </a:prstGeom>
            <a:solidFill>
              <a:schemeClr val="lt1"/>
            </a:solidFill>
            <a:ln>
              <a:noFill/>
            </a:ln>
          </p:spPr>
          <p:txBody>
            <a:bodyPr anchorCtr="0" anchor="ctr" bIns="23075" lIns="51850" spcFirstLastPara="1" rIns="51850" wrap="square" tIns="23075">
              <a:noAutofit/>
            </a:bodyPr>
            <a:lstStyle/>
            <a:p>
              <a:pPr indent="0" lvl="0" marL="0" marR="0" rtl="0" algn="l">
                <a:lnSpc>
                  <a:spcPct val="100000"/>
                </a:lnSpc>
                <a:spcBef>
                  <a:spcPts val="0"/>
                </a:spcBef>
                <a:spcAft>
                  <a:spcPts val="0"/>
                </a:spcAft>
                <a:buNone/>
              </a:pPr>
              <a:r>
                <a:t/>
              </a:r>
              <a:endParaRPr b="0" i="0" sz="1020" u="none" cap="none" strike="noStrike">
                <a:solidFill>
                  <a:srgbClr val="000000"/>
                </a:solidFill>
                <a:latin typeface="Noto Sans Symbols"/>
                <a:ea typeface="Noto Sans Symbols"/>
                <a:cs typeface="Noto Sans Symbols"/>
                <a:sym typeface="Noto Sans Symbols"/>
              </a:endParaRPr>
            </a:p>
          </p:txBody>
        </p:sp>
        <p:sp>
          <p:nvSpPr>
            <p:cNvPr id="158" name="Google Shape;158;p19"/>
            <p:cNvSpPr/>
            <p:nvPr/>
          </p:nvSpPr>
          <p:spPr>
            <a:xfrm rot="-2699590">
              <a:off x="4984206" y="3275537"/>
              <a:ext cx="1779576" cy="326259"/>
            </a:xfrm>
            <a:prstGeom prst="roundRect">
              <a:avLst>
                <a:gd fmla="val 50000" name="adj"/>
              </a:avLst>
            </a:prstGeom>
            <a:solidFill>
              <a:schemeClr val="lt2"/>
            </a:solidFill>
            <a:ln>
              <a:noFill/>
            </a:ln>
          </p:spPr>
          <p:txBody>
            <a:bodyPr anchorCtr="0" anchor="ctr" bIns="51850" lIns="51850" spcFirstLastPara="1" rIns="51850" wrap="square" tIns="51850">
              <a:noAutofit/>
            </a:bodyPr>
            <a:lstStyle/>
            <a:p>
              <a:pPr indent="0" lvl="0" marL="0" marR="0" rtl="0" algn="l">
                <a:lnSpc>
                  <a:spcPct val="100000"/>
                </a:lnSpc>
                <a:spcBef>
                  <a:spcPts val="0"/>
                </a:spcBef>
                <a:spcAft>
                  <a:spcPts val="0"/>
                </a:spcAft>
                <a:buNone/>
              </a:pPr>
              <a:r>
                <a:t/>
              </a:r>
              <a:endParaRPr b="0" i="0" sz="1020" u="none" cap="none" strike="noStrike">
                <a:solidFill>
                  <a:srgbClr val="FFFFFF"/>
                </a:solidFill>
                <a:latin typeface="Noto Sans Symbols"/>
                <a:ea typeface="Noto Sans Symbols"/>
                <a:cs typeface="Noto Sans Symbols"/>
                <a:sym typeface="Noto Sans Symbols"/>
              </a:endParaRPr>
            </a:p>
          </p:txBody>
        </p:sp>
        <p:sp>
          <p:nvSpPr>
            <p:cNvPr id="159" name="Google Shape;159;p19"/>
            <p:cNvSpPr/>
            <p:nvPr/>
          </p:nvSpPr>
          <p:spPr>
            <a:xfrm rot="-2699590">
              <a:off x="7107846" y="2092937"/>
              <a:ext cx="1779576" cy="326259"/>
            </a:xfrm>
            <a:prstGeom prst="roundRect">
              <a:avLst>
                <a:gd fmla="val 50000" name="adj"/>
              </a:avLst>
            </a:prstGeom>
            <a:solidFill>
              <a:schemeClr val="lt2"/>
            </a:solidFill>
            <a:ln>
              <a:noFill/>
            </a:ln>
          </p:spPr>
          <p:txBody>
            <a:bodyPr anchorCtr="0" anchor="ctr" bIns="51850" lIns="51850" spcFirstLastPara="1" rIns="51850" wrap="square" tIns="51850">
              <a:noAutofit/>
            </a:bodyPr>
            <a:lstStyle/>
            <a:p>
              <a:pPr indent="0" lvl="0" marL="0" marR="0" rtl="0" algn="l">
                <a:lnSpc>
                  <a:spcPct val="100000"/>
                </a:lnSpc>
                <a:spcBef>
                  <a:spcPts val="0"/>
                </a:spcBef>
                <a:spcAft>
                  <a:spcPts val="0"/>
                </a:spcAft>
                <a:buNone/>
              </a:pPr>
              <a:r>
                <a:t/>
              </a:r>
              <a:endParaRPr b="0" i="0" sz="1020" u="none" cap="none" strike="noStrike">
                <a:solidFill>
                  <a:srgbClr val="FFFFFF"/>
                </a:solidFill>
                <a:latin typeface="Noto Sans Symbols"/>
                <a:ea typeface="Noto Sans Symbols"/>
                <a:cs typeface="Noto Sans Symbols"/>
                <a:sym typeface="Noto Sans Symbols"/>
              </a:endParaRPr>
            </a:p>
          </p:txBody>
        </p:sp>
        <p:sp>
          <p:nvSpPr>
            <p:cNvPr id="160" name="Google Shape;160;p19"/>
            <p:cNvSpPr/>
            <p:nvPr/>
          </p:nvSpPr>
          <p:spPr>
            <a:xfrm rot="-2699590">
              <a:off x="6792438" y="1242991"/>
              <a:ext cx="1779576" cy="477297"/>
            </a:xfrm>
            <a:prstGeom prst="roundRect">
              <a:avLst>
                <a:gd fmla="val 50000" name="adj"/>
              </a:avLst>
            </a:prstGeom>
            <a:solidFill>
              <a:schemeClr val="dk2"/>
            </a:solidFill>
            <a:ln>
              <a:noFill/>
            </a:ln>
          </p:spPr>
          <p:txBody>
            <a:bodyPr anchorCtr="0" anchor="ctr" bIns="51850" lIns="51850" spcFirstLastPara="1" rIns="51850" wrap="square" tIns="51850">
              <a:noAutofit/>
            </a:bodyPr>
            <a:lstStyle/>
            <a:p>
              <a:pPr indent="0" lvl="0" marL="0" marR="0" rtl="0" algn="l">
                <a:lnSpc>
                  <a:spcPct val="100000"/>
                </a:lnSpc>
                <a:spcBef>
                  <a:spcPts val="0"/>
                </a:spcBef>
                <a:spcAft>
                  <a:spcPts val="0"/>
                </a:spcAft>
                <a:buNone/>
              </a:pPr>
              <a:r>
                <a:t/>
              </a:r>
              <a:endParaRPr b="0" i="0" sz="1020" u="none" cap="none" strike="noStrike">
                <a:solidFill>
                  <a:srgbClr val="000000"/>
                </a:solidFill>
                <a:latin typeface="Noto Sans Symbols"/>
                <a:ea typeface="Noto Sans Symbols"/>
                <a:cs typeface="Noto Sans Symbols"/>
                <a:sym typeface="Noto Sans Symbols"/>
              </a:endParaRPr>
            </a:p>
          </p:txBody>
        </p:sp>
        <p:sp>
          <p:nvSpPr>
            <p:cNvPr id="161" name="Google Shape;161;p19"/>
            <p:cNvSpPr/>
            <p:nvPr/>
          </p:nvSpPr>
          <p:spPr>
            <a:xfrm rot="-2699590">
              <a:off x="5127438" y="3849391"/>
              <a:ext cx="1779576" cy="477297"/>
            </a:xfrm>
            <a:prstGeom prst="roundRect">
              <a:avLst>
                <a:gd fmla="val 50000" name="adj"/>
              </a:avLst>
            </a:prstGeom>
            <a:solidFill>
              <a:schemeClr val="dk2"/>
            </a:solidFill>
            <a:ln>
              <a:noFill/>
            </a:ln>
          </p:spPr>
          <p:txBody>
            <a:bodyPr anchorCtr="0" anchor="ctr" bIns="51850" lIns="51850" spcFirstLastPara="1" rIns="51850" wrap="square" tIns="51850">
              <a:noAutofit/>
            </a:bodyPr>
            <a:lstStyle/>
            <a:p>
              <a:pPr indent="0" lvl="0" marL="0" marR="0" rtl="0" algn="l">
                <a:lnSpc>
                  <a:spcPct val="100000"/>
                </a:lnSpc>
                <a:spcBef>
                  <a:spcPts val="0"/>
                </a:spcBef>
                <a:spcAft>
                  <a:spcPts val="0"/>
                </a:spcAft>
                <a:buNone/>
              </a:pPr>
              <a:r>
                <a:t/>
              </a:r>
              <a:endParaRPr b="0" i="0" sz="1020" u="none" cap="none" strike="noStrike">
                <a:solidFill>
                  <a:srgbClr val="000000"/>
                </a:solidFill>
                <a:latin typeface="Noto Sans Symbols"/>
                <a:ea typeface="Noto Sans Symbols"/>
                <a:cs typeface="Noto Sans Symbols"/>
                <a:sym typeface="Noto Sans Symbols"/>
              </a:endParaRPr>
            </a:p>
          </p:txBody>
        </p:sp>
      </p:grpSp>
      <p:sp>
        <p:nvSpPr>
          <p:cNvPr id="162" name="Google Shape;162;p19"/>
          <p:cNvSpPr txBox="1"/>
          <p:nvPr>
            <p:ph type="title"/>
          </p:nvPr>
        </p:nvSpPr>
        <p:spPr>
          <a:xfrm>
            <a:off x="748415" y="0"/>
            <a:ext cx="6990900" cy="818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100000"/>
              <a:buFont typeface="Archivo Black"/>
              <a:buNone/>
            </a:pPr>
            <a:r>
              <a:rPr b="1" lang="en-US" sz="3200">
                <a:solidFill>
                  <a:schemeClr val="dk1"/>
                </a:solidFill>
                <a:latin typeface="Roboto"/>
                <a:ea typeface="Roboto"/>
                <a:cs typeface="Roboto"/>
                <a:sym typeface="Roboto"/>
              </a:rPr>
              <a:t>Índice de Contenido</a:t>
            </a:r>
            <a:endParaRPr b="1" sz="3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ct val="100000"/>
              <a:buFont typeface="Archivo Black"/>
              <a:buNone/>
            </a:pPr>
            <a:r>
              <a:rPr b="1" lang="en-US" sz="3200">
                <a:solidFill>
                  <a:schemeClr val="dk1"/>
                </a:solidFill>
                <a:latin typeface="Roboto"/>
                <a:ea typeface="Roboto"/>
                <a:cs typeface="Roboto"/>
                <a:sym typeface="Roboto"/>
              </a:rPr>
              <a:t>	</a:t>
            </a:r>
            <a:endParaRPr b="1" sz="3200">
              <a:solidFill>
                <a:schemeClr val="dk1"/>
              </a:solidFill>
              <a:latin typeface="Roboto"/>
              <a:ea typeface="Roboto"/>
              <a:cs typeface="Roboto"/>
              <a:sym typeface="Roboto"/>
            </a:endParaRPr>
          </a:p>
        </p:txBody>
      </p:sp>
      <p:sp>
        <p:nvSpPr>
          <p:cNvPr id="163" name="Google Shape;163;p19"/>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164" name="Google Shape;164;p19"/>
          <p:cNvGraphicFramePr/>
          <p:nvPr/>
        </p:nvGraphicFramePr>
        <p:xfrm>
          <a:off x="376925" y="818700"/>
          <a:ext cx="3000000" cy="3000000"/>
        </p:xfrm>
        <a:graphic>
          <a:graphicData uri="http://schemas.openxmlformats.org/drawingml/2006/table">
            <a:tbl>
              <a:tblPr>
                <a:noFill/>
                <a:tableStyleId>{6DC2890B-CCB2-4418-95B0-C929D5665814}</a:tableStyleId>
              </a:tblPr>
              <a:tblGrid>
                <a:gridCol w="852250"/>
                <a:gridCol w="2662000"/>
              </a:tblGrid>
              <a:tr h="4535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lt1"/>
                          </a:solidFill>
                        </a:rPr>
                        <a:t>01.</a:t>
                      </a:r>
                      <a:endParaRPr sz="1400" u="none" cap="none" strike="noStrike">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300" u="none" cap="none" strike="noStrike">
                          <a:latin typeface="Roboto"/>
                          <a:ea typeface="Roboto"/>
                          <a:cs typeface="Roboto"/>
                          <a:sym typeface="Roboto"/>
                        </a:rPr>
                        <a:t>Contexto</a:t>
                      </a:r>
                      <a:endParaRPr sz="1300" u="none" cap="none" strike="noStrike">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tcPr>
                </a:tc>
              </a:tr>
              <a:tr h="4535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lt1"/>
                          </a:solidFill>
                        </a:rPr>
                        <a:t>02.</a:t>
                      </a:r>
                      <a:endParaRPr sz="1400" u="none" cap="none" strike="noStrike">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300" u="none" cap="none" strike="noStrike">
                          <a:latin typeface="Roboto"/>
                          <a:ea typeface="Roboto"/>
                          <a:cs typeface="Roboto"/>
                          <a:sym typeface="Roboto"/>
                        </a:rPr>
                        <a:t>Problema</a:t>
                      </a:r>
                      <a:endParaRPr sz="1300" u="none" cap="none" strike="noStrike">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B cap="flat" cmpd="sng" w="9525">
                      <a:solidFill>
                        <a:srgbClr val="9E9E9E"/>
                      </a:solidFill>
                      <a:prstDash val="solid"/>
                      <a:round/>
                      <a:headEnd len="sm" w="sm" type="none"/>
                      <a:tailEnd len="sm" w="sm" type="none"/>
                    </a:lnB>
                  </a:tcPr>
                </a:tc>
              </a:tr>
              <a:tr h="4535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lt1"/>
                          </a:solidFill>
                        </a:rPr>
                        <a:t>03.</a:t>
                      </a:r>
                      <a:endParaRPr sz="1400" u="none" cap="none" strike="noStrike">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300" u="none" cap="none" strike="noStrike">
                          <a:latin typeface="Roboto"/>
                          <a:ea typeface="Roboto"/>
                          <a:cs typeface="Roboto"/>
                          <a:sym typeface="Roboto"/>
                        </a:rPr>
                        <a:t>Necesidad</a:t>
                      </a:r>
                      <a:endParaRPr sz="1300" u="none" cap="none" strike="noStrike">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35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lt1"/>
                          </a:solidFill>
                        </a:rPr>
                        <a:t>04.</a:t>
                      </a:r>
                      <a:endParaRPr sz="1400" u="none" cap="none" strike="noStrike">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300" u="none" cap="none" strike="noStrike">
                          <a:latin typeface="Roboto"/>
                          <a:ea typeface="Roboto"/>
                          <a:cs typeface="Roboto"/>
                          <a:sym typeface="Roboto"/>
                        </a:rPr>
                        <a:t>Solución</a:t>
                      </a:r>
                      <a:endParaRPr sz="1300" u="none" cap="none" strike="noStrike">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35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lt1"/>
                          </a:solidFill>
                        </a:rPr>
                        <a:t>05.</a:t>
                      </a:r>
                      <a:endParaRPr sz="1400" u="none" cap="none" strike="noStrike">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en-US" sz="1300">
                          <a:latin typeface="Roboto"/>
                          <a:ea typeface="Roboto"/>
                          <a:cs typeface="Roboto"/>
                          <a:sym typeface="Roboto"/>
                        </a:rPr>
                        <a:t>Historias de Usuario</a:t>
                      </a:r>
                      <a:endParaRPr sz="1300" u="none" cap="none" strike="noStrike">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35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lt1"/>
                          </a:solidFill>
                        </a:rPr>
                        <a:t>06.</a:t>
                      </a:r>
                      <a:endParaRPr sz="1400" u="none" cap="none" strike="noStrike">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300">
                          <a:latin typeface="Roboto"/>
                          <a:ea typeface="Roboto"/>
                          <a:cs typeface="Roboto"/>
                          <a:sym typeface="Roboto"/>
                        </a:rPr>
                        <a:t>R. Funcionales - No Funcionales</a:t>
                      </a:r>
                      <a:endParaRPr sz="1300" u="none" cap="none" strike="noStrike">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35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lt1"/>
                          </a:solidFill>
                        </a:rPr>
                        <a:t>07.</a:t>
                      </a:r>
                      <a:endParaRPr sz="1400" u="none" cap="none" strike="noStrike">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en-US" sz="1300">
                          <a:latin typeface="Roboto"/>
                          <a:ea typeface="Roboto"/>
                          <a:cs typeface="Roboto"/>
                          <a:sym typeface="Roboto"/>
                        </a:rPr>
                        <a:t>Arquitectura</a:t>
                      </a:r>
                      <a:endParaRPr sz="1300" u="none" cap="none" strike="noStrike">
                        <a:solidFill>
                          <a:srgbClr val="000000"/>
                        </a:solidFill>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35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lt1"/>
                          </a:solidFill>
                        </a:rPr>
                        <a:t>08.</a:t>
                      </a:r>
                      <a:endParaRPr sz="1400" u="none" cap="none" strike="noStrike">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en-US" sz="1300">
                          <a:latin typeface="Roboto"/>
                          <a:ea typeface="Roboto"/>
                          <a:cs typeface="Roboto"/>
                          <a:sym typeface="Roboto"/>
                        </a:rPr>
                        <a:t>Metodología</a:t>
                      </a:r>
                      <a:endParaRPr sz="13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35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lt1"/>
                          </a:solidFill>
                        </a:rPr>
                        <a:t>09.</a:t>
                      </a:r>
                      <a:endParaRPr sz="1400" u="none" cap="none" strike="noStrike">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c>
                  <a:txBody>
                    <a:bodyPr/>
                    <a:lstStyle/>
                    <a:p>
                      <a:pPr indent="0" lvl="0" marL="0" rtl="0" algn="l">
                        <a:spcBef>
                          <a:spcPts val="0"/>
                        </a:spcBef>
                        <a:spcAft>
                          <a:spcPts val="0"/>
                        </a:spcAft>
                        <a:buClr>
                          <a:srgbClr val="000000"/>
                        </a:buClr>
                        <a:buSzPts val="1400"/>
                        <a:buFont typeface="Arial"/>
                        <a:buNone/>
                      </a:pPr>
                      <a:r>
                        <a:rPr lang="en-US" sz="1300">
                          <a:latin typeface="Roboto"/>
                          <a:ea typeface="Roboto"/>
                          <a:cs typeface="Roboto"/>
                          <a:sym typeface="Roboto"/>
                        </a:rPr>
                        <a:t>Roles</a:t>
                      </a:r>
                      <a:endParaRPr/>
                    </a:p>
                  </a:txBody>
                  <a:tcPr marT="91425" marB="91425" marR="91425" marL="91425">
                    <a:lnL cap="flat" cmpd="sng" w="9525">
                      <a:solidFill>
                        <a:srgbClr val="000000"/>
                      </a:solidFill>
                      <a:prstDash val="solid"/>
                      <a:round/>
                      <a:headEnd len="sm" w="sm" type="none"/>
                      <a:tailEnd len="sm" w="sm" type="none"/>
                    </a:lnL>
                    <a:lnT cap="flat" cmpd="sng" w="9525">
                      <a:solidFill>
                        <a:srgbClr val="9E9E9E"/>
                      </a:solidFill>
                      <a:prstDash val="solid"/>
                      <a:round/>
                      <a:headEnd len="sm" w="sm" type="none"/>
                      <a:tailEnd len="sm" w="sm" type="none"/>
                    </a:lnT>
                  </a:tcPr>
                </a:tc>
              </a:tr>
            </a:tbl>
          </a:graphicData>
        </a:graphic>
      </p:graphicFrame>
      <p:graphicFrame>
        <p:nvGraphicFramePr>
          <p:cNvPr id="165" name="Google Shape;165;p19"/>
          <p:cNvGraphicFramePr/>
          <p:nvPr/>
        </p:nvGraphicFramePr>
        <p:xfrm>
          <a:off x="4026925" y="809350"/>
          <a:ext cx="3000000" cy="3000000"/>
        </p:xfrm>
        <a:graphic>
          <a:graphicData uri="http://schemas.openxmlformats.org/drawingml/2006/table">
            <a:tbl>
              <a:tblPr>
                <a:noFill/>
                <a:tableStyleId>{6DC2890B-CCB2-4418-95B0-C929D5665814}</a:tableStyleId>
              </a:tblPr>
              <a:tblGrid>
                <a:gridCol w="824675"/>
                <a:gridCol w="2575875"/>
              </a:tblGrid>
              <a:tr h="4535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lt1"/>
                          </a:solidFill>
                        </a:rPr>
                        <a:t>10.</a:t>
                      </a:r>
                      <a:endParaRPr sz="1400" u="none" cap="none" strike="noStrike">
                        <a:solidFill>
                          <a:schemeClr val="lt1"/>
                        </a:solidFill>
                      </a:endParaRPr>
                    </a:p>
                  </a:txBody>
                  <a:tcPr marT="91425" marB="91425" marR="91425" marL="91425">
                    <a:lnR cap="flat" cmpd="sng" w="9525">
                      <a:solidFill>
                        <a:srgbClr val="9E9E9E"/>
                      </a:solidFill>
                      <a:prstDash val="solid"/>
                      <a:round/>
                      <a:headEnd len="sm" w="sm" type="none"/>
                      <a:tailEnd len="sm" w="sm" type="none"/>
                    </a:lnR>
                    <a:solidFill>
                      <a:schemeClr val="dk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300">
                          <a:latin typeface="Roboto"/>
                          <a:ea typeface="Roboto"/>
                          <a:cs typeface="Roboto"/>
                          <a:sym typeface="Roboto"/>
                        </a:rPr>
                        <a:t>Evidencias</a:t>
                      </a:r>
                      <a:endParaRPr sz="1300" u="none" cap="none" strike="noStrike">
                        <a:latin typeface="Roboto"/>
                        <a:ea typeface="Roboto"/>
                        <a:cs typeface="Roboto"/>
                        <a:sym typeface="Robo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722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lt1"/>
                          </a:solidFill>
                        </a:rPr>
                        <a:t>11.</a:t>
                      </a:r>
                      <a:endParaRPr sz="1400" u="none" cap="none" strike="noStrike">
                        <a:solidFill>
                          <a:schemeClr val="lt1"/>
                        </a:solidFill>
                      </a:endParaRPr>
                    </a:p>
                  </a:txBody>
                  <a:tcPr marT="91425" marB="91425" marR="91425" marL="91425">
                    <a:lnR cap="flat" cmpd="sng" w="9525">
                      <a:solidFill>
                        <a:srgbClr val="9E9E9E"/>
                      </a:solidFill>
                      <a:prstDash val="solid"/>
                      <a:round/>
                      <a:headEnd len="sm" w="sm" type="none"/>
                      <a:tailEnd len="sm" w="sm" type="none"/>
                    </a:lnR>
                    <a:solidFill>
                      <a:schemeClr val="dk1"/>
                    </a:solidFill>
                  </a:tcPr>
                </a:tc>
                <a:tc>
                  <a:txBody>
                    <a:bodyPr/>
                    <a:lstStyle/>
                    <a:p>
                      <a:pPr indent="0" lvl="0" marL="0" rtl="0" algn="l">
                        <a:spcBef>
                          <a:spcPts val="0"/>
                        </a:spcBef>
                        <a:spcAft>
                          <a:spcPts val="0"/>
                        </a:spcAft>
                        <a:buClr>
                          <a:srgbClr val="000000"/>
                        </a:buClr>
                        <a:buSzPts val="1400"/>
                        <a:buFont typeface="Arial"/>
                        <a:buNone/>
                      </a:pPr>
                      <a:r>
                        <a:rPr lang="en-US" sz="1300">
                          <a:latin typeface="Roboto"/>
                          <a:ea typeface="Roboto"/>
                          <a:cs typeface="Roboto"/>
                          <a:sym typeface="Roboto"/>
                        </a:rPr>
                        <a:t>Modelos de datos</a:t>
                      </a:r>
                      <a:endParaRPr sz="1300">
                        <a:latin typeface="Roboto"/>
                        <a:ea typeface="Roboto"/>
                        <a:cs typeface="Roboto"/>
                        <a:sym typeface="Robo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35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lt1"/>
                          </a:solidFill>
                        </a:rPr>
                        <a:t>12.</a:t>
                      </a:r>
                      <a:endParaRPr sz="1400" u="none" cap="none" strike="noStrike">
                        <a:solidFill>
                          <a:schemeClr val="lt1"/>
                        </a:solidFill>
                      </a:endParaRPr>
                    </a:p>
                  </a:txBody>
                  <a:tcPr marT="91425" marB="91425" marR="91425" marL="91425">
                    <a:lnR cap="flat" cmpd="sng" w="9525">
                      <a:solidFill>
                        <a:srgbClr val="9E9E9E"/>
                      </a:solidFill>
                      <a:prstDash val="solid"/>
                      <a:round/>
                      <a:headEnd len="sm" w="sm" type="none"/>
                      <a:tailEnd len="sm" w="sm" type="none"/>
                    </a:lnR>
                    <a:solidFill>
                      <a:schemeClr val="dk1"/>
                    </a:solidFill>
                  </a:tcPr>
                </a:tc>
                <a:tc>
                  <a:txBody>
                    <a:bodyPr/>
                    <a:lstStyle/>
                    <a:p>
                      <a:pPr indent="0" lvl="0" marL="0" rtl="0" algn="l">
                        <a:spcBef>
                          <a:spcPts val="0"/>
                        </a:spcBef>
                        <a:spcAft>
                          <a:spcPts val="0"/>
                        </a:spcAft>
                        <a:buClr>
                          <a:srgbClr val="000000"/>
                        </a:buClr>
                        <a:buSzPts val="1400"/>
                        <a:buFont typeface="Arial"/>
                        <a:buNone/>
                      </a:pPr>
                      <a:r>
                        <a:rPr lang="en-US" sz="1300">
                          <a:latin typeface="Roboto"/>
                          <a:ea typeface="Roboto"/>
                          <a:cs typeface="Roboto"/>
                          <a:sym typeface="Roboto"/>
                        </a:rPr>
                        <a:t>Product Backlog</a:t>
                      </a:r>
                      <a:endParaRPr sz="1300">
                        <a:latin typeface="Roboto"/>
                        <a:ea typeface="Roboto"/>
                        <a:cs typeface="Roboto"/>
                        <a:sym typeface="Robo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35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lt1"/>
                          </a:solidFill>
                        </a:rPr>
                        <a:t>13.</a:t>
                      </a:r>
                      <a:endParaRPr sz="1400" u="none" cap="none" strike="noStrike">
                        <a:solidFill>
                          <a:schemeClr val="lt1"/>
                        </a:solidFill>
                      </a:endParaRPr>
                    </a:p>
                  </a:txBody>
                  <a:tcPr marT="91425" marB="91425" marR="91425" marL="91425">
                    <a:lnR cap="flat" cmpd="sng" w="9525">
                      <a:solidFill>
                        <a:srgbClr val="9E9E9E"/>
                      </a:solidFill>
                      <a:prstDash val="solid"/>
                      <a:round/>
                      <a:headEnd len="sm" w="sm" type="none"/>
                      <a:tailEnd len="sm" w="sm" type="none"/>
                    </a:lnR>
                    <a:solidFill>
                      <a:schemeClr val="dk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300" u="none" cap="none" strike="noStrike">
                          <a:latin typeface="Roboto"/>
                          <a:ea typeface="Roboto"/>
                          <a:cs typeface="Roboto"/>
                          <a:sym typeface="Roboto"/>
                        </a:rPr>
                        <a:t>C</a:t>
                      </a:r>
                      <a:r>
                        <a:rPr lang="en-US" sz="1300">
                          <a:latin typeface="Roboto"/>
                          <a:ea typeface="Roboto"/>
                          <a:cs typeface="Roboto"/>
                          <a:sym typeface="Roboto"/>
                        </a:rPr>
                        <a:t>ronograma</a:t>
                      </a:r>
                      <a:endParaRPr sz="1300" u="none" cap="none" strike="noStrike">
                        <a:latin typeface="Roboto"/>
                        <a:ea typeface="Roboto"/>
                        <a:cs typeface="Roboto"/>
                        <a:sym typeface="Robo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35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lt1"/>
                          </a:solidFill>
                        </a:rPr>
                        <a:t>14.</a:t>
                      </a:r>
                      <a:endParaRPr sz="1400" u="none" cap="none" strike="noStrike">
                        <a:solidFill>
                          <a:schemeClr val="lt1"/>
                        </a:solidFill>
                      </a:endParaRPr>
                    </a:p>
                  </a:txBody>
                  <a:tcPr marT="91425" marB="91425" marR="91425" marL="91425">
                    <a:lnR cap="flat" cmpd="sng" w="9525">
                      <a:solidFill>
                        <a:srgbClr val="9E9E9E"/>
                      </a:solidFill>
                      <a:prstDash val="solid"/>
                      <a:round/>
                      <a:headEnd len="sm" w="sm" type="none"/>
                      <a:tailEnd len="sm" w="sm" type="none"/>
                    </a:lnR>
                    <a:solidFill>
                      <a:schemeClr val="dk1"/>
                    </a:solidFill>
                  </a:tcPr>
                </a:tc>
                <a:tc>
                  <a:txBody>
                    <a:bodyPr/>
                    <a:lstStyle/>
                    <a:p>
                      <a:pPr indent="0" lvl="0" marL="0" rtl="0" algn="l">
                        <a:spcBef>
                          <a:spcPts val="0"/>
                        </a:spcBef>
                        <a:spcAft>
                          <a:spcPts val="0"/>
                        </a:spcAft>
                        <a:buClr>
                          <a:srgbClr val="000000"/>
                        </a:buClr>
                        <a:buSzPts val="1400"/>
                        <a:buFont typeface="Arial"/>
                        <a:buNone/>
                      </a:pPr>
                      <a:r>
                        <a:rPr lang="en-US" sz="1300">
                          <a:latin typeface="Roboto"/>
                          <a:ea typeface="Roboto"/>
                          <a:cs typeface="Roboto"/>
                          <a:sym typeface="Roboto"/>
                        </a:rPr>
                        <a:t>Sprint</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35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lt1"/>
                          </a:solidFill>
                        </a:rPr>
                        <a:t>15.</a:t>
                      </a:r>
                      <a:endParaRPr sz="1400" u="none" cap="none" strike="noStrike">
                        <a:solidFill>
                          <a:schemeClr val="lt1"/>
                        </a:solidFill>
                      </a:endParaRPr>
                    </a:p>
                  </a:txBody>
                  <a:tcPr marT="91425" marB="91425" marR="91425" marL="91425">
                    <a:lnR cap="flat" cmpd="sng" w="9525">
                      <a:solidFill>
                        <a:srgbClr val="9E9E9E"/>
                      </a:solidFill>
                      <a:prstDash val="solid"/>
                      <a:round/>
                      <a:headEnd len="sm" w="sm" type="none"/>
                      <a:tailEnd len="sm" w="sm" type="none"/>
                    </a:lnR>
                    <a:solidFill>
                      <a:schemeClr val="dk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300" u="none" cap="none" strike="noStrike">
                          <a:latin typeface="Roboto"/>
                          <a:ea typeface="Roboto"/>
                          <a:cs typeface="Roboto"/>
                          <a:sym typeface="Roboto"/>
                        </a:rPr>
                        <a:t>Tablero Kanban</a:t>
                      </a:r>
                      <a:endParaRPr sz="1300" u="none" cap="none" strike="noStrike">
                        <a:latin typeface="Roboto"/>
                        <a:ea typeface="Roboto"/>
                        <a:cs typeface="Roboto"/>
                        <a:sym typeface="Robo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35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lt1"/>
                          </a:solidFill>
                        </a:rPr>
                        <a:t>16.</a:t>
                      </a:r>
                      <a:endParaRPr sz="1400" u="none" cap="none" strike="noStrike">
                        <a:solidFill>
                          <a:schemeClr val="lt1"/>
                        </a:solidFill>
                      </a:endParaRPr>
                    </a:p>
                  </a:txBody>
                  <a:tcPr marT="91425" marB="91425" marR="91425" marL="91425">
                    <a:lnR cap="flat" cmpd="sng" w="9525">
                      <a:solidFill>
                        <a:srgbClr val="9E9E9E"/>
                      </a:solidFill>
                      <a:prstDash val="solid"/>
                      <a:round/>
                      <a:headEnd len="sm" w="sm" type="none"/>
                      <a:tailEnd len="sm" w="sm" type="none"/>
                    </a:lnR>
                    <a:solidFill>
                      <a:schemeClr val="dk1"/>
                    </a:solidFill>
                  </a:tcPr>
                </a:tc>
                <a:tc>
                  <a:txBody>
                    <a:bodyPr/>
                    <a:lstStyle/>
                    <a:p>
                      <a:pPr indent="0" lvl="0" marL="0" rtl="0" algn="l">
                        <a:spcBef>
                          <a:spcPts val="0"/>
                        </a:spcBef>
                        <a:spcAft>
                          <a:spcPts val="0"/>
                        </a:spcAft>
                        <a:buClr>
                          <a:srgbClr val="000000"/>
                        </a:buClr>
                        <a:buSzPts val="1400"/>
                        <a:buFont typeface="Arial"/>
                        <a:buNone/>
                      </a:pPr>
                      <a:r>
                        <a:rPr lang="en-US" sz="1300">
                          <a:latin typeface="Roboto"/>
                          <a:ea typeface="Roboto"/>
                          <a:cs typeface="Roboto"/>
                          <a:sym typeface="Roboto"/>
                        </a:rPr>
                        <a:t>Demostración</a:t>
                      </a:r>
                      <a:endParaRPr sz="1300">
                        <a:latin typeface="Roboto"/>
                        <a:ea typeface="Roboto"/>
                        <a:cs typeface="Roboto"/>
                        <a:sym typeface="Robo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35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lt1"/>
                          </a:solidFill>
                        </a:rPr>
                        <a:t>17.</a:t>
                      </a:r>
                      <a:endParaRPr sz="1400" u="none" cap="none" strike="noStrike">
                        <a:solidFill>
                          <a:schemeClr val="lt1"/>
                        </a:solidFill>
                      </a:endParaRPr>
                    </a:p>
                  </a:txBody>
                  <a:tcPr marT="91425" marB="91425" marR="91425" marL="91425">
                    <a:lnR cap="flat" cmpd="sng" w="9525">
                      <a:solidFill>
                        <a:srgbClr val="9E9E9E"/>
                      </a:solidFill>
                      <a:prstDash val="solid"/>
                      <a:round/>
                      <a:headEnd len="sm" w="sm" type="none"/>
                      <a:tailEnd len="sm" w="sm" type="none"/>
                    </a:lnR>
                    <a:solidFill>
                      <a:schemeClr val="dk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300">
                          <a:latin typeface="Roboto"/>
                          <a:ea typeface="Roboto"/>
                          <a:cs typeface="Roboto"/>
                          <a:sym typeface="Roboto"/>
                        </a:rPr>
                        <a:t>Conclusiones</a:t>
                      </a:r>
                      <a:endParaRPr sz="1300" u="none" cap="none" strike="noStrike">
                        <a:latin typeface="Roboto"/>
                        <a:ea typeface="Roboto"/>
                        <a:cs typeface="Roboto"/>
                        <a:sym typeface="Robo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35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lt1"/>
                        </a:solidFill>
                      </a:endParaRPr>
                    </a:p>
                  </a:txBody>
                  <a:tcPr marT="91425" marB="91425" marR="91425" marL="91425">
                    <a:lnR cap="flat" cmpd="sng" w="9525">
                      <a:solidFill>
                        <a:srgbClr val="9E9E9E"/>
                      </a:solidFill>
                      <a:prstDash val="solid"/>
                      <a:round/>
                      <a:headEnd len="sm" w="sm" type="none"/>
                      <a:tailEnd len="sm" w="sm" type="none"/>
                    </a:lnR>
                    <a:solidFill>
                      <a:schemeClr val="dk1"/>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grpSp>
        <p:nvGrpSpPr>
          <p:cNvPr id="170" name="Google Shape;170;p20"/>
          <p:cNvGrpSpPr/>
          <p:nvPr/>
        </p:nvGrpSpPr>
        <p:grpSpPr>
          <a:xfrm>
            <a:off x="3978720" y="6840"/>
            <a:ext cx="5164200" cy="5143320"/>
            <a:chOff x="3978720" y="6840"/>
            <a:chExt cx="5164200" cy="5143320"/>
          </a:xfrm>
        </p:grpSpPr>
        <p:sp>
          <p:nvSpPr>
            <p:cNvPr id="171" name="Google Shape;171;p20"/>
            <p:cNvSpPr/>
            <p:nvPr/>
          </p:nvSpPr>
          <p:spPr>
            <a:xfrm flipH="1">
              <a:off x="3978720" y="6840"/>
              <a:ext cx="5164200" cy="514332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2" name="Google Shape;172;p20"/>
            <p:cNvSpPr/>
            <p:nvPr/>
          </p:nvSpPr>
          <p:spPr>
            <a:xfrm rot="-2699400">
              <a:off x="4520880" y="3647520"/>
              <a:ext cx="1779480" cy="32616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3" name="Google Shape;173;p20"/>
            <p:cNvSpPr/>
            <p:nvPr/>
          </p:nvSpPr>
          <p:spPr>
            <a:xfrm rot="-2699400">
              <a:off x="7184160" y="2245320"/>
              <a:ext cx="1779480" cy="32616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4" name="Google Shape;174;p20"/>
            <p:cNvSpPr/>
            <p:nvPr/>
          </p:nvSpPr>
          <p:spPr>
            <a:xfrm rot="-2699400">
              <a:off x="6716520" y="1166760"/>
              <a:ext cx="1779480" cy="47736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5" name="Google Shape;175;p20"/>
            <p:cNvSpPr/>
            <p:nvPr/>
          </p:nvSpPr>
          <p:spPr>
            <a:xfrm rot="-2699400">
              <a:off x="5940360" y="3571560"/>
              <a:ext cx="1779480" cy="47736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6" name="Google Shape;176;p20"/>
            <p:cNvSpPr/>
            <p:nvPr/>
          </p:nvSpPr>
          <p:spPr>
            <a:xfrm>
              <a:off x="6778080" y="2891160"/>
              <a:ext cx="1596240" cy="1596240"/>
            </a:xfrm>
            <a:prstGeom prst="ellipse">
              <a:avLst/>
            </a:prstGeom>
            <a:noFill/>
            <a:ln cap="flat" cmpd="sng" w="9525">
              <a:solidFill>
                <a:srgbClr val="F8F8F8"/>
              </a:solidFill>
              <a:prstDash val="lg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177" name="Google Shape;177;p20"/>
          <p:cNvSpPr txBox="1"/>
          <p:nvPr>
            <p:ph type="title"/>
          </p:nvPr>
        </p:nvSpPr>
        <p:spPr>
          <a:xfrm>
            <a:off x="733325" y="2121825"/>
            <a:ext cx="4409700" cy="551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2880"/>
              <a:buFont typeface="Archivo Black"/>
              <a:buNone/>
            </a:pPr>
            <a:r>
              <a:rPr b="1" lang="en-US" sz="3200" u="none" strike="noStrike">
                <a:solidFill>
                  <a:schemeClr val="dk1"/>
                </a:solidFill>
                <a:latin typeface="Roboto"/>
                <a:ea typeface="Roboto"/>
                <a:cs typeface="Roboto"/>
                <a:sym typeface="Roboto"/>
              </a:rPr>
              <a:t>Contexto</a:t>
            </a:r>
            <a:endParaRPr b="1" sz="3200" u="none" strike="noStrike">
              <a:solidFill>
                <a:schemeClr val="dk1"/>
              </a:solidFill>
              <a:latin typeface="Roboto"/>
              <a:ea typeface="Roboto"/>
              <a:cs typeface="Roboto"/>
              <a:sym typeface="Roboto"/>
            </a:endParaRPr>
          </a:p>
        </p:txBody>
      </p:sp>
      <p:sp>
        <p:nvSpPr>
          <p:cNvPr id="178" name="Google Shape;178;p20"/>
          <p:cNvSpPr/>
          <p:nvPr/>
        </p:nvSpPr>
        <p:spPr>
          <a:xfrm>
            <a:off x="5397480" y="1055160"/>
            <a:ext cx="3033000" cy="3033000"/>
          </a:xfrm>
          <a:prstGeom prst="ellipse">
            <a:avLst/>
          </a:prstGeom>
          <a:blipFill rotWithShape="1">
            <a:blip r:embed="rId3">
              <a:alphaModFix/>
            </a:blip>
            <a:stretch>
              <a:fillRect b="0" l="0" r="0" t="0"/>
            </a:stretch>
          </a:blipFill>
          <a:ln cap="flat" cmpd="sng" w="38100">
            <a:solidFill>
              <a:srgbClr val="F8F8F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79" name="Google Shape;179;p20"/>
          <p:cNvGrpSpPr/>
          <p:nvPr/>
        </p:nvGrpSpPr>
        <p:grpSpPr>
          <a:xfrm>
            <a:off x="5405271" y="1044231"/>
            <a:ext cx="3159978" cy="3290658"/>
            <a:chOff x="5405271" y="1044231"/>
            <a:chExt cx="3159978" cy="3290658"/>
          </a:xfrm>
        </p:grpSpPr>
        <p:sp>
          <p:nvSpPr>
            <p:cNvPr id="180" name="Google Shape;180;p20"/>
            <p:cNvSpPr/>
            <p:nvPr/>
          </p:nvSpPr>
          <p:spPr>
            <a:xfrm rot="-2700000">
              <a:off x="7674840" y="1379520"/>
              <a:ext cx="995760" cy="114480"/>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1" name="Google Shape;181;p20"/>
            <p:cNvSpPr/>
            <p:nvPr/>
          </p:nvSpPr>
          <p:spPr>
            <a:xfrm rot="-2700000">
              <a:off x="5299920" y="3885120"/>
              <a:ext cx="995760" cy="114480"/>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182" name="Google Shape;182;p20"/>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183" name="Google Shape;183;p20"/>
          <p:cNvPicPr preferRelativeResize="0"/>
          <p:nvPr/>
        </p:nvPicPr>
        <p:blipFill>
          <a:blip r:embed="rId4">
            <a:alphaModFix/>
          </a:blip>
          <a:stretch>
            <a:fillRect/>
          </a:stretch>
        </p:blipFill>
        <p:spPr>
          <a:xfrm>
            <a:off x="2637100" y="1274350"/>
            <a:ext cx="2436496" cy="21657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1"/>
          <p:cNvSpPr txBox="1"/>
          <p:nvPr>
            <p:ph idx="4294967295" type="subTitle"/>
          </p:nvPr>
        </p:nvSpPr>
        <p:spPr>
          <a:xfrm>
            <a:off x="524031" y="1601100"/>
            <a:ext cx="7410600" cy="2476200"/>
          </a:xfrm>
          <a:prstGeom prst="rect">
            <a:avLst/>
          </a:prstGeom>
          <a:noFill/>
          <a:ln>
            <a:noFill/>
          </a:ln>
        </p:spPr>
        <p:txBody>
          <a:bodyPr anchorCtr="0" anchor="t" bIns="91425" lIns="91425" spcFirstLastPara="1" rIns="91425" wrap="square" tIns="91425">
            <a:normAutofit/>
          </a:bodyPr>
          <a:lstStyle/>
          <a:p>
            <a:pPr indent="0" lvl="0" marL="0" marR="0" rtl="0" algn="just">
              <a:lnSpc>
                <a:spcPct val="150000"/>
              </a:lnSpc>
              <a:spcBef>
                <a:spcPts val="0"/>
              </a:spcBef>
              <a:spcAft>
                <a:spcPts val="1200"/>
              </a:spcAft>
              <a:buClr>
                <a:schemeClr val="dk1"/>
              </a:buClr>
              <a:buSzPts val="1400"/>
              <a:buFont typeface="Manrope"/>
              <a:buNone/>
            </a:pPr>
            <a:r>
              <a:rPr b="1" lang="en-US">
                <a:solidFill>
                  <a:schemeClr val="dk1"/>
                </a:solidFill>
              </a:rPr>
              <a:t>Cambiaso</a:t>
            </a:r>
            <a:r>
              <a:rPr lang="en-US">
                <a:solidFill>
                  <a:schemeClr val="dk1"/>
                </a:solidFill>
              </a:rPr>
              <a:t> se enfoca en liderar en Chile los </a:t>
            </a:r>
            <a:r>
              <a:rPr b="1" lang="en-US">
                <a:solidFill>
                  <a:schemeClr val="dk1"/>
                </a:solidFill>
              </a:rPr>
              <a:t>rubros de tés, hierbas y productos de limpieza</a:t>
            </a:r>
            <a:r>
              <a:rPr lang="en-US">
                <a:solidFill>
                  <a:schemeClr val="dk1"/>
                </a:solidFill>
              </a:rPr>
              <a:t> para el hogar a través de marcas de alta confianza como "Té Supremo" y "Superior". Utilizando su tradición de casi </a:t>
            </a:r>
            <a:r>
              <a:rPr b="1" lang="en-US">
                <a:solidFill>
                  <a:schemeClr val="dk1"/>
                </a:solidFill>
              </a:rPr>
              <a:t>150 años</a:t>
            </a:r>
            <a:r>
              <a:rPr lang="en-US">
                <a:solidFill>
                  <a:schemeClr val="dk1"/>
                </a:solidFill>
              </a:rPr>
              <a:t> y una constante innovación, optimiza la vida diaria de sus consumidores con productos de alta calidad, promoviendo un modelo de negocio sostenible y con un impacto social positivo.</a:t>
            </a:r>
            <a:endParaRPr>
              <a:solidFill>
                <a:schemeClr val="dk1"/>
              </a:solidFill>
            </a:endParaRPr>
          </a:p>
        </p:txBody>
      </p:sp>
      <p:sp>
        <p:nvSpPr>
          <p:cNvPr id="189" name="Google Shape;189;p21"/>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190" name="Google Shape;190;p21"/>
          <p:cNvPicPr preferRelativeResize="0"/>
          <p:nvPr/>
        </p:nvPicPr>
        <p:blipFill>
          <a:blip r:embed="rId3">
            <a:alphaModFix/>
          </a:blip>
          <a:stretch>
            <a:fillRect/>
          </a:stretch>
        </p:blipFill>
        <p:spPr>
          <a:xfrm>
            <a:off x="2490188" y="232625"/>
            <a:ext cx="3224325" cy="1289725"/>
          </a:xfrm>
          <a:prstGeom prst="rect">
            <a:avLst/>
          </a:prstGeom>
          <a:noFill/>
          <a:ln>
            <a:noFill/>
          </a:ln>
        </p:spPr>
      </p:pic>
      <p:pic>
        <p:nvPicPr>
          <p:cNvPr id="191" name="Google Shape;191;p21"/>
          <p:cNvPicPr preferRelativeResize="0"/>
          <p:nvPr/>
        </p:nvPicPr>
        <p:blipFill>
          <a:blip r:embed="rId4">
            <a:alphaModFix/>
          </a:blip>
          <a:stretch>
            <a:fillRect/>
          </a:stretch>
        </p:blipFill>
        <p:spPr>
          <a:xfrm>
            <a:off x="1978250" y="3815776"/>
            <a:ext cx="4712648" cy="13277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grpSp>
        <p:nvGrpSpPr>
          <p:cNvPr id="196" name="Google Shape;196;p22"/>
          <p:cNvGrpSpPr/>
          <p:nvPr/>
        </p:nvGrpSpPr>
        <p:grpSpPr>
          <a:xfrm>
            <a:off x="3978720" y="6840"/>
            <a:ext cx="5164200" cy="5143200"/>
            <a:chOff x="3978720" y="6840"/>
            <a:chExt cx="5164200" cy="5143200"/>
          </a:xfrm>
        </p:grpSpPr>
        <p:sp>
          <p:nvSpPr>
            <p:cNvPr id="197" name="Google Shape;197;p22"/>
            <p:cNvSpPr/>
            <p:nvPr/>
          </p:nvSpPr>
          <p:spPr>
            <a:xfrm flipH="1">
              <a:off x="3978720" y="6840"/>
              <a:ext cx="5164200" cy="51432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8" name="Google Shape;198;p22"/>
            <p:cNvSpPr/>
            <p:nvPr/>
          </p:nvSpPr>
          <p:spPr>
            <a:xfrm rot="-2699590">
              <a:off x="4520886" y="36474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9" name="Google Shape;199;p22"/>
            <p:cNvSpPr/>
            <p:nvPr/>
          </p:nvSpPr>
          <p:spPr>
            <a:xfrm rot="-2699590">
              <a:off x="7184166" y="22452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00" name="Google Shape;200;p22"/>
            <p:cNvSpPr/>
            <p:nvPr/>
          </p:nvSpPr>
          <p:spPr>
            <a:xfrm rot="-2699590">
              <a:off x="6716478" y="11666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1" name="Google Shape;201;p22"/>
            <p:cNvSpPr/>
            <p:nvPr/>
          </p:nvSpPr>
          <p:spPr>
            <a:xfrm rot="-2699590">
              <a:off x="5940318" y="35714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2" name="Google Shape;202;p22"/>
            <p:cNvSpPr/>
            <p:nvPr/>
          </p:nvSpPr>
          <p:spPr>
            <a:xfrm>
              <a:off x="6778080" y="2891160"/>
              <a:ext cx="1596300" cy="1596300"/>
            </a:xfrm>
            <a:prstGeom prst="ellipse">
              <a:avLst/>
            </a:prstGeom>
            <a:noFill/>
            <a:ln cap="flat" cmpd="sng" w="9525">
              <a:solidFill>
                <a:srgbClr val="F8F8F8"/>
              </a:solidFill>
              <a:prstDash val="lg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203" name="Google Shape;203;p22"/>
          <p:cNvSpPr txBox="1"/>
          <p:nvPr>
            <p:ph type="title"/>
          </p:nvPr>
        </p:nvSpPr>
        <p:spPr>
          <a:xfrm>
            <a:off x="733325" y="2121825"/>
            <a:ext cx="4409700" cy="551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Problema</a:t>
            </a:r>
            <a:endParaRPr b="1" sz="3200" u="none" strike="noStrike">
              <a:solidFill>
                <a:schemeClr val="dk1"/>
              </a:solidFill>
              <a:latin typeface="Roboto"/>
              <a:ea typeface="Roboto"/>
              <a:cs typeface="Roboto"/>
              <a:sym typeface="Roboto"/>
            </a:endParaRPr>
          </a:p>
        </p:txBody>
      </p:sp>
      <p:sp>
        <p:nvSpPr>
          <p:cNvPr id="204" name="Google Shape;204;p22"/>
          <p:cNvSpPr/>
          <p:nvPr/>
        </p:nvSpPr>
        <p:spPr>
          <a:xfrm>
            <a:off x="5397480" y="1055160"/>
            <a:ext cx="3033000" cy="3033000"/>
          </a:xfrm>
          <a:prstGeom prst="ellipse">
            <a:avLst/>
          </a:prstGeom>
          <a:blipFill rotWithShape="1">
            <a:blip r:embed="rId3">
              <a:alphaModFix/>
            </a:blip>
            <a:stretch>
              <a:fillRect b="0" l="0" r="0" t="0"/>
            </a:stretch>
          </a:blipFill>
          <a:ln cap="flat" cmpd="sng" w="38100">
            <a:solidFill>
              <a:srgbClr val="F8F8F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205" name="Google Shape;205;p22"/>
          <p:cNvGrpSpPr/>
          <p:nvPr/>
        </p:nvGrpSpPr>
        <p:grpSpPr>
          <a:xfrm>
            <a:off x="5405271" y="1044240"/>
            <a:ext cx="3160020" cy="3290700"/>
            <a:chOff x="5405271" y="1044240"/>
            <a:chExt cx="3160020" cy="3290700"/>
          </a:xfrm>
        </p:grpSpPr>
        <p:sp>
          <p:nvSpPr>
            <p:cNvPr id="206" name="Google Shape;206;p22"/>
            <p:cNvSpPr/>
            <p:nvPr/>
          </p:nvSpPr>
          <p:spPr>
            <a:xfrm rot="-2700000">
              <a:off x="7674867" y="13795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7" name="Google Shape;207;p22"/>
            <p:cNvSpPr/>
            <p:nvPr/>
          </p:nvSpPr>
          <p:spPr>
            <a:xfrm rot="-2700000">
              <a:off x="5299947" y="38851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208" name="Google Shape;208;p22"/>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209" name="Google Shape;209;p22"/>
          <p:cNvPicPr preferRelativeResize="0"/>
          <p:nvPr/>
        </p:nvPicPr>
        <p:blipFill>
          <a:blip r:embed="rId4">
            <a:alphaModFix/>
          </a:blip>
          <a:stretch>
            <a:fillRect/>
          </a:stretch>
        </p:blipFill>
        <p:spPr>
          <a:xfrm>
            <a:off x="2729200" y="1420600"/>
            <a:ext cx="2477516" cy="21657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3"/>
          <p:cNvSpPr txBox="1"/>
          <p:nvPr>
            <p:ph idx="1" type="body"/>
          </p:nvPr>
        </p:nvSpPr>
        <p:spPr>
          <a:xfrm>
            <a:off x="127050" y="594150"/>
            <a:ext cx="7548600" cy="41556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1200"/>
              </a:spcBef>
              <a:spcAft>
                <a:spcPts val="0"/>
              </a:spcAft>
              <a:buSzPts val="770"/>
              <a:buNone/>
            </a:pPr>
            <a:r>
              <a:rPr lang="en-US" sz="1300">
                <a:solidFill>
                  <a:schemeClr val="dk1"/>
                </a:solidFill>
              </a:rPr>
              <a:t>La presente </a:t>
            </a:r>
            <a:r>
              <a:rPr b="1" lang="en-US" sz="1300">
                <a:solidFill>
                  <a:schemeClr val="dk1"/>
                </a:solidFill>
              </a:rPr>
              <a:t>dependencia en los procesos de </a:t>
            </a:r>
            <a:r>
              <a:rPr b="1" lang="en-US" sz="1300">
                <a:solidFill>
                  <a:schemeClr val="dk1"/>
                </a:solidFill>
              </a:rPr>
              <a:t>análisis</a:t>
            </a:r>
            <a:r>
              <a:rPr b="1" lang="en-US" sz="1300">
                <a:solidFill>
                  <a:schemeClr val="dk1"/>
                </a:solidFill>
              </a:rPr>
              <a:t> de datos de </a:t>
            </a:r>
            <a:r>
              <a:rPr b="1" lang="en-US" sz="1300">
                <a:solidFill>
                  <a:schemeClr val="dk1"/>
                </a:solidFill>
              </a:rPr>
              <a:t>producción manualmente</a:t>
            </a:r>
            <a:r>
              <a:rPr lang="en-US" sz="1300">
                <a:solidFill>
                  <a:schemeClr val="dk1"/>
                </a:solidFill>
              </a:rPr>
              <a:t> en las distintas secciones y plantas</a:t>
            </a:r>
            <a:r>
              <a:rPr lang="en-US" sz="1300">
                <a:solidFill>
                  <a:schemeClr val="dk1"/>
                </a:solidFill>
              </a:rPr>
              <a:t>,  el análisis de información crítica de producción. </a:t>
            </a:r>
            <a:r>
              <a:rPr lang="en-US" sz="1300">
                <a:solidFill>
                  <a:schemeClr val="dk1"/>
                </a:solidFill>
              </a:rPr>
              <a:t>así</a:t>
            </a:r>
            <a:r>
              <a:rPr lang="en-US" sz="1300">
                <a:solidFill>
                  <a:schemeClr val="dk1"/>
                </a:solidFill>
              </a:rPr>
              <a:t> actualmente los datos se gestionan a través de la </a:t>
            </a:r>
            <a:r>
              <a:rPr b="1" lang="en-US" sz="1300">
                <a:solidFill>
                  <a:schemeClr val="dk1"/>
                </a:solidFill>
              </a:rPr>
              <a:t>extracción de reportes desde SAP hacia planillas de cálculo</a:t>
            </a:r>
            <a:r>
              <a:rPr lang="en-US" sz="1300">
                <a:solidFill>
                  <a:schemeClr val="dk1"/>
                </a:solidFill>
              </a:rPr>
              <a:t>, que luego son </a:t>
            </a:r>
            <a:r>
              <a:rPr b="1" lang="en-US" sz="1300">
                <a:solidFill>
                  <a:schemeClr val="dk1"/>
                </a:solidFill>
              </a:rPr>
              <a:t>impresas y analizadas de forma aislada</a:t>
            </a:r>
            <a:r>
              <a:rPr lang="en-US" sz="1300">
                <a:solidFill>
                  <a:schemeClr val="dk1"/>
                </a:solidFill>
              </a:rPr>
              <a:t>.</a:t>
            </a:r>
            <a:endParaRPr sz="1300">
              <a:solidFill>
                <a:schemeClr val="dk1"/>
              </a:solidFill>
            </a:endParaRPr>
          </a:p>
          <a:p>
            <a:pPr indent="0" lvl="0" marL="0" rtl="0" algn="l">
              <a:lnSpc>
                <a:spcPct val="95000"/>
              </a:lnSpc>
              <a:spcBef>
                <a:spcPts val="1200"/>
              </a:spcBef>
              <a:spcAft>
                <a:spcPts val="0"/>
              </a:spcAft>
              <a:buSzPts val="770"/>
              <a:buNone/>
            </a:pPr>
            <a:r>
              <a:rPr lang="en-US" sz="1300">
                <a:solidFill>
                  <a:schemeClr val="dk1"/>
                </a:solidFill>
              </a:rPr>
              <a:t>Esto genera dos puntos críticos:</a:t>
            </a:r>
            <a:endParaRPr sz="1300">
              <a:solidFill>
                <a:schemeClr val="dk1"/>
              </a:solidFill>
            </a:endParaRPr>
          </a:p>
          <a:p>
            <a:pPr indent="-311150" lvl="0" marL="457200" rtl="0" algn="l">
              <a:lnSpc>
                <a:spcPct val="95000"/>
              </a:lnSpc>
              <a:spcBef>
                <a:spcPts val="1200"/>
              </a:spcBef>
              <a:spcAft>
                <a:spcPts val="0"/>
              </a:spcAft>
              <a:buClr>
                <a:schemeClr val="dk1"/>
              </a:buClr>
              <a:buSzPts val="1300"/>
              <a:buFont typeface="Roboto"/>
              <a:buAutoNum type="arabicPeriod"/>
            </a:pPr>
            <a:r>
              <a:rPr b="1" lang="en-US" sz="1300">
                <a:solidFill>
                  <a:schemeClr val="dk1"/>
                </a:solidFill>
              </a:rPr>
              <a:t>Fragmentación e Inconsistencia de Datos</a:t>
            </a:r>
            <a:br>
              <a:rPr b="1" lang="en-US" sz="1300">
                <a:solidFill>
                  <a:schemeClr val="dk1"/>
                </a:solidFill>
              </a:rPr>
            </a:br>
            <a:endParaRPr b="1" sz="1300">
              <a:solidFill>
                <a:schemeClr val="dk1"/>
              </a:solidFill>
            </a:endParaRPr>
          </a:p>
          <a:p>
            <a:pPr indent="-311150" lvl="1" marL="914400" rtl="0" algn="l">
              <a:lnSpc>
                <a:spcPct val="95000"/>
              </a:lnSpc>
              <a:spcBef>
                <a:spcPts val="0"/>
              </a:spcBef>
              <a:spcAft>
                <a:spcPts val="0"/>
              </a:spcAft>
              <a:buClr>
                <a:schemeClr val="dk1"/>
              </a:buClr>
              <a:buSzPts val="1300"/>
              <a:buFont typeface="Roboto"/>
              <a:buChar char="○"/>
            </a:pPr>
            <a:r>
              <a:rPr lang="en-US" sz="1300">
                <a:solidFill>
                  <a:schemeClr val="dk1"/>
                </a:solidFill>
              </a:rPr>
              <a:t>Los reportes no están estandarizados, lo que impide consolidar información de manera ágil y confiable.</a:t>
            </a:r>
            <a:br>
              <a:rPr lang="en-US" sz="1300">
                <a:solidFill>
                  <a:schemeClr val="dk1"/>
                </a:solidFill>
              </a:rPr>
            </a:br>
            <a:endParaRPr sz="1300">
              <a:solidFill>
                <a:schemeClr val="dk1"/>
              </a:solidFill>
            </a:endParaRPr>
          </a:p>
          <a:p>
            <a:pPr indent="-311150" lvl="1" marL="914400" rtl="0" algn="l">
              <a:lnSpc>
                <a:spcPct val="95000"/>
              </a:lnSpc>
              <a:spcBef>
                <a:spcPts val="0"/>
              </a:spcBef>
              <a:spcAft>
                <a:spcPts val="0"/>
              </a:spcAft>
              <a:buClr>
                <a:schemeClr val="dk1"/>
              </a:buClr>
              <a:buSzPts val="1300"/>
              <a:buFont typeface="Roboto"/>
              <a:buChar char="○"/>
            </a:pPr>
            <a:r>
              <a:rPr lang="en-US" sz="1300">
                <a:solidFill>
                  <a:schemeClr val="dk1"/>
                </a:solidFill>
              </a:rPr>
              <a:t>Se pierde la visión unificada del rendimiento operativo.</a:t>
            </a:r>
            <a:br>
              <a:rPr lang="en-US" sz="1300">
                <a:solidFill>
                  <a:schemeClr val="dk1"/>
                </a:solidFill>
              </a:rPr>
            </a:br>
            <a:endParaRPr sz="1300">
              <a:solidFill>
                <a:schemeClr val="dk1"/>
              </a:solidFill>
            </a:endParaRPr>
          </a:p>
          <a:p>
            <a:pPr indent="-311150" lvl="0" marL="457200" rtl="0" algn="l">
              <a:lnSpc>
                <a:spcPct val="95000"/>
              </a:lnSpc>
              <a:spcBef>
                <a:spcPts val="0"/>
              </a:spcBef>
              <a:spcAft>
                <a:spcPts val="0"/>
              </a:spcAft>
              <a:buClr>
                <a:schemeClr val="dk1"/>
              </a:buClr>
              <a:buSzPts val="1300"/>
              <a:buFont typeface="Roboto"/>
              <a:buAutoNum type="arabicPeriod"/>
            </a:pPr>
            <a:r>
              <a:rPr b="1" lang="en-US" sz="1300">
                <a:solidFill>
                  <a:schemeClr val="dk1"/>
                </a:solidFill>
              </a:rPr>
              <a:t>Latencia en la Toma de Decisiones</a:t>
            </a:r>
            <a:br>
              <a:rPr b="1" lang="en-US" sz="1300">
                <a:solidFill>
                  <a:schemeClr val="dk1"/>
                </a:solidFill>
              </a:rPr>
            </a:br>
            <a:endParaRPr b="1" sz="1300">
              <a:solidFill>
                <a:schemeClr val="dk1"/>
              </a:solidFill>
            </a:endParaRPr>
          </a:p>
          <a:p>
            <a:pPr indent="-311150" lvl="1" marL="914400" rtl="0" algn="l">
              <a:lnSpc>
                <a:spcPct val="95000"/>
              </a:lnSpc>
              <a:spcBef>
                <a:spcPts val="0"/>
              </a:spcBef>
              <a:spcAft>
                <a:spcPts val="0"/>
              </a:spcAft>
              <a:buClr>
                <a:schemeClr val="dk1"/>
              </a:buClr>
              <a:buSzPts val="1300"/>
              <a:buFont typeface="Roboto"/>
              <a:buChar char="○"/>
            </a:pPr>
            <a:r>
              <a:rPr lang="en-US" sz="1300">
                <a:solidFill>
                  <a:schemeClr val="dk1"/>
                </a:solidFill>
              </a:rPr>
              <a:t>El ciclo manual de extracción, impresión y revisión retrasa la reacción ante eventos de producción.</a:t>
            </a:r>
            <a:br>
              <a:rPr lang="en-US" sz="1300">
                <a:solidFill>
                  <a:schemeClr val="dk1"/>
                </a:solidFill>
              </a:rPr>
            </a:br>
            <a:endParaRPr sz="1300">
              <a:solidFill>
                <a:schemeClr val="dk1"/>
              </a:solidFill>
            </a:endParaRPr>
          </a:p>
          <a:p>
            <a:pPr indent="-311150" lvl="1" marL="914400" rtl="0" algn="l">
              <a:lnSpc>
                <a:spcPct val="95000"/>
              </a:lnSpc>
              <a:spcBef>
                <a:spcPts val="0"/>
              </a:spcBef>
              <a:spcAft>
                <a:spcPts val="0"/>
              </a:spcAft>
              <a:buClr>
                <a:schemeClr val="dk1"/>
              </a:buClr>
              <a:buSzPts val="1300"/>
              <a:buFont typeface="Roboto"/>
              <a:buChar char="○"/>
            </a:pPr>
            <a:r>
              <a:rPr lang="en-US" sz="1300">
                <a:solidFill>
                  <a:schemeClr val="dk1"/>
                </a:solidFill>
              </a:rPr>
              <a:t>La gerencia no cuenta con información oportuna para decisiones estratégicas.</a:t>
            </a:r>
            <a:endParaRPr sz="1300">
              <a:solidFill>
                <a:schemeClr val="dk1"/>
              </a:solidFill>
            </a:endParaRPr>
          </a:p>
        </p:txBody>
      </p:sp>
      <p:sp>
        <p:nvSpPr>
          <p:cNvPr id="215" name="Google Shape;215;p23"/>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216" name="Google Shape;216;p23"/>
          <p:cNvSpPr txBox="1"/>
          <p:nvPr>
            <p:ph type="title"/>
          </p:nvPr>
        </p:nvSpPr>
        <p:spPr>
          <a:xfrm>
            <a:off x="2970450" y="15975"/>
            <a:ext cx="2514300" cy="551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Problema</a:t>
            </a:r>
            <a:endParaRPr b="1" sz="3200" u="none" strike="noStrike">
              <a:solidFill>
                <a:schemeClr val="dk1"/>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4"/>
          <p:cNvSpPr txBox="1"/>
          <p:nvPr>
            <p:ph idx="1" type="body"/>
          </p:nvPr>
        </p:nvSpPr>
        <p:spPr>
          <a:xfrm>
            <a:off x="760025" y="551099"/>
            <a:ext cx="6236700" cy="4689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1200"/>
              </a:spcBef>
              <a:spcAft>
                <a:spcPts val="1200"/>
              </a:spcAft>
              <a:buSzPts val="770"/>
              <a:buNone/>
            </a:pPr>
            <a:r>
              <a:rPr b="1" lang="en-US" sz="1500">
                <a:solidFill>
                  <a:srgbClr val="000000"/>
                </a:solidFill>
              </a:rPr>
              <a:t>Del tiempo perdido a la Fuga de Capital</a:t>
            </a:r>
            <a:endParaRPr b="1" sz="1500">
              <a:solidFill>
                <a:srgbClr val="000000"/>
              </a:solidFill>
            </a:endParaRPr>
          </a:p>
        </p:txBody>
      </p:sp>
      <p:sp>
        <p:nvSpPr>
          <p:cNvPr id="222" name="Google Shape;222;p24"/>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223" name="Google Shape;223;p24"/>
          <p:cNvSpPr txBox="1"/>
          <p:nvPr>
            <p:ph type="title"/>
          </p:nvPr>
        </p:nvSpPr>
        <p:spPr>
          <a:xfrm>
            <a:off x="1366625" y="68000"/>
            <a:ext cx="5630100" cy="5511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US" sz="3200">
                <a:solidFill>
                  <a:schemeClr val="dk1"/>
                </a:solidFill>
                <a:latin typeface="Roboto"/>
                <a:ea typeface="Roboto"/>
                <a:cs typeface="Roboto"/>
                <a:sym typeface="Roboto"/>
              </a:rPr>
              <a:t>IMPACTO EN INTERESADOS</a:t>
            </a:r>
            <a:endParaRPr b="1" sz="3200">
              <a:solidFill>
                <a:schemeClr val="dk1"/>
              </a:solidFill>
              <a:latin typeface="Roboto"/>
              <a:ea typeface="Roboto"/>
              <a:cs typeface="Roboto"/>
              <a:sym typeface="Roboto"/>
            </a:endParaRPr>
          </a:p>
        </p:txBody>
      </p:sp>
      <p:graphicFrame>
        <p:nvGraphicFramePr>
          <p:cNvPr id="224" name="Google Shape;224;p24"/>
          <p:cNvGraphicFramePr/>
          <p:nvPr/>
        </p:nvGraphicFramePr>
        <p:xfrm>
          <a:off x="301675" y="1555525"/>
          <a:ext cx="3000000" cy="3000000"/>
        </p:xfrm>
        <a:graphic>
          <a:graphicData uri="http://schemas.openxmlformats.org/drawingml/2006/table">
            <a:tbl>
              <a:tblPr>
                <a:noFill/>
                <a:tableStyleId>{E10A41CA-41E0-480D-933F-A3C887144839}</a:tableStyleId>
              </a:tblPr>
              <a:tblGrid>
                <a:gridCol w="2072725"/>
                <a:gridCol w="2072725"/>
                <a:gridCol w="2269375"/>
              </a:tblGrid>
              <a:tr h="322325">
                <a:tc>
                  <a:txBody>
                    <a:bodyPr/>
                    <a:lstStyle/>
                    <a:p>
                      <a:pPr indent="0" lvl="0" marL="0" rtl="0" algn="l">
                        <a:lnSpc>
                          <a:spcPct val="142857"/>
                        </a:lnSpc>
                        <a:spcBef>
                          <a:spcPts val="0"/>
                        </a:spcBef>
                        <a:spcAft>
                          <a:spcPts val="1200"/>
                        </a:spcAft>
                        <a:buNone/>
                      </a:pPr>
                      <a:r>
                        <a:rPr b="1" lang="en-US" sz="1050">
                          <a:solidFill>
                            <a:schemeClr val="dk1"/>
                          </a:solidFill>
                          <a:highlight>
                            <a:schemeClr val="lt1"/>
                          </a:highlight>
                          <a:latin typeface="Roboto"/>
                          <a:ea typeface="Roboto"/>
                          <a:cs typeface="Roboto"/>
                          <a:sym typeface="Roboto"/>
                        </a:rPr>
                        <a:t>Stakeholder</a:t>
                      </a:r>
                      <a:endParaRPr b="1" sz="1050">
                        <a:solidFill>
                          <a:schemeClr val="dk1"/>
                        </a:solidFill>
                        <a:highlight>
                          <a:schemeClr val="lt1"/>
                        </a:highlight>
                        <a:latin typeface="Roboto"/>
                        <a:ea typeface="Roboto"/>
                        <a:cs typeface="Roboto"/>
                        <a:sym typeface="Roboto"/>
                      </a:endParaRPr>
                    </a:p>
                  </a:txBody>
                  <a:tcPr marT="57150" marB="57150" marR="114300" marL="114300"/>
                </a:tc>
                <a:tc>
                  <a:txBody>
                    <a:bodyPr/>
                    <a:lstStyle/>
                    <a:p>
                      <a:pPr indent="0" lvl="0" marL="0" rtl="0" algn="l">
                        <a:lnSpc>
                          <a:spcPct val="142857"/>
                        </a:lnSpc>
                        <a:spcBef>
                          <a:spcPts val="0"/>
                        </a:spcBef>
                        <a:spcAft>
                          <a:spcPts val="1200"/>
                        </a:spcAft>
                        <a:buNone/>
                      </a:pPr>
                      <a:r>
                        <a:rPr b="1" lang="en-US" sz="1050">
                          <a:solidFill>
                            <a:schemeClr val="dk1"/>
                          </a:solidFill>
                          <a:highlight>
                            <a:schemeClr val="lt1"/>
                          </a:highlight>
                          <a:latin typeface="Roboto"/>
                          <a:ea typeface="Roboto"/>
                          <a:cs typeface="Roboto"/>
                          <a:sym typeface="Roboto"/>
                        </a:rPr>
                        <a:t>El Problema Directo</a:t>
                      </a:r>
                      <a:endParaRPr b="1" sz="1050">
                        <a:solidFill>
                          <a:schemeClr val="dk1"/>
                        </a:solidFill>
                        <a:highlight>
                          <a:schemeClr val="lt1"/>
                        </a:highlight>
                        <a:latin typeface="Roboto"/>
                        <a:ea typeface="Roboto"/>
                        <a:cs typeface="Roboto"/>
                        <a:sym typeface="Roboto"/>
                      </a:endParaRPr>
                    </a:p>
                  </a:txBody>
                  <a:tcPr marT="57150" marB="57150" marR="114300" marL="114300"/>
                </a:tc>
                <a:tc>
                  <a:txBody>
                    <a:bodyPr/>
                    <a:lstStyle/>
                    <a:p>
                      <a:pPr indent="0" lvl="0" marL="0" rtl="0" algn="l">
                        <a:lnSpc>
                          <a:spcPct val="142857"/>
                        </a:lnSpc>
                        <a:spcBef>
                          <a:spcPts val="0"/>
                        </a:spcBef>
                        <a:spcAft>
                          <a:spcPts val="1200"/>
                        </a:spcAft>
                        <a:buNone/>
                      </a:pPr>
                      <a:r>
                        <a:rPr b="1" lang="en-US" sz="1050">
                          <a:solidFill>
                            <a:schemeClr val="dk1"/>
                          </a:solidFill>
                          <a:highlight>
                            <a:schemeClr val="lt1"/>
                          </a:highlight>
                          <a:latin typeface="Roboto"/>
                          <a:ea typeface="Roboto"/>
                          <a:cs typeface="Roboto"/>
                          <a:sym typeface="Roboto"/>
                        </a:rPr>
                        <a:t>La Consecuencia Financiera</a:t>
                      </a:r>
                      <a:endParaRPr b="1" sz="1050">
                        <a:solidFill>
                          <a:schemeClr val="dk1"/>
                        </a:solidFill>
                        <a:highlight>
                          <a:schemeClr val="lt1"/>
                        </a:highlight>
                        <a:latin typeface="Roboto"/>
                        <a:ea typeface="Roboto"/>
                        <a:cs typeface="Roboto"/>
                        <a:sym typeface="Roboto"/>
                      </a:endParaRPr>
                    </a:p>
                  </a:txBody>
                  <a:tcPr marT="57150" marB="57150" marR="114300" marL="114300"/>
                </a:tc>
              </a:tr>
              <a:tr h="425450">
                <a:tc>
                  <a:txBody>
                    <a:bodyPr/>
                    <a:lstStyle/>
                    <a:p>
                      <a:pPr indent="0" lvl="0" marL="0" rtl="0" algn="l">
                        <a:lnSpc>
                          <a:spcPct val="142857"/>
                        </a:lnSpc>
                        <a:spcBef>
                          <a:spcPts val="0"/>
                        </a:spcBef>
                        <a:spcAft>
                          <a:spcPts val="1200"/>
                        </a:spcAft>
                        <a:buNone/>
                      </a:pPr>
                      <a:r>
                        <a:rPr lang="en-US" sz="1050">
                          <a:solidFill>
                            <a:schemeClr val="dk1"/>
                          </a:solidFill>
                          <a:highlight>
                            <a:schemeClr val="lt1"/>
                          </a:highlight>
                          <a:latin typeface="Roboto"/>
                          <a:ea typeface="Roboto"/>
                          <a:cs typeface="Roboto"/>
                          <a:sym typeface="Roboto"/>
                        </a:rPr>
                        <a:t>Jefaturas de Producción</a:t>
                      </a:r>
                      <a:endParaRPr sz="1050">
                        <a:solidFill>
                          <a:schemeClr val="dk1"/>
                        </a:solidFill>
                        <a:highlight>
                          <a:schemeClr val="lt1"/>
                        </a:highlight>
                        <a:latin typeface="Roboto"/>
                        <a:ea typeface="Roboto"/>
                        <a:cs typeface="Roboto"/>
                        <a:sym typeface="Roboto"/>
                      </a:endParaRPr>
                    </a:p>
                  </a:txBody>
                  <a:tcPr marT="57150" marB="57150" marR="114300" marL="114300"/>
                </a:tc>
                <a:tc>
                  <a:txBody>
                    <a:bodyPr/>
                    <a:lstStyle/>
                    <a:p>
                      <a:pPr indent="0" lvl="0" marL="0" rtl="0" algn="l">
                        <a:lnSpc>
                          <a:spcPct val="142857"/>
                        </a:lnSpc>
                        <a:spcBef>
                          <a:spcPts val="0"/>
                        </a:spcBef>
                        <a:spcAft>
                          <a:spcPts val="1200"/>
                        </a:spcAft>
                        <a:buNone/>
                      </a:pPr>
                      <a:r>
                        <a:rPr lang="en-US" sz="1050">
                          <a:solidFill>
                            <a:schemeClr val="dk1"/>
                          </a:solidFill>
                          <a:highlight>
                            <a:schemeClr val="lt1"/>
                          </a:highlight>
                          <a:latin typeface="Roboto"/>
                          <a:ea typeface="Roboto"/>
                          <a:cs typeface="Roboto"/>
                          <a:sym typeface="Roboto"/>
                        </a:rPr>
                        <a:t>Invierten horas de alto valor en tareas manuales y repetitivas.</a:t>
                      </a:r>
                      <a:endParaRPr sz="1050">
                        <a:solidFill>
                          <a:schemeClr val="dk1"/>
                        </a:solidFill>
                        <a:highlight>
                          <a:schemeClr val="lt1"/>
                        </a:highlight>
                        <a:latin typeface="Roboto"/>
                        <a:ea typeface="Roboto"/>
                        <a:cs typeface="Roboto"/>
                        <a:sym typeface="Roboto"/>
                      </a:endParaRPr>
                    </a:p>
                  </a:txBody>
                  <a:tcPr marT="57150" marB="57150" marR="114300" marL="114300"/>
                </a:tc>
                <a:tc>
                  <a:txBody>
                    <a:bodyPr/>
                    <a:lstStyle/>
                    <a:p>
                      <a:pPr indent="0" lvl="0" marL="0" rtl="0" algn="l">
                        <a:lnSpc>
                          <a:spcPct val="142857"/>
                        </a:lnSpc>
                        <a:spcBef>
                          <a:spcPts val="0"/>
                        </a:spcBef>
                        <a:spcAft>
                          <a:spcPts val="1200"/>
                        </a:spcAft>
                        <a:buNone/>
                      </a:pPr>
                      <a:r>
                        <a:rPr lang="en-US" sz="1050">
                          <a:solidFill>
                            <a:schemeClr val="dk1"/>
                          </a:solidFill>
                          <a:highlight>
                            <a:schemeClr val="lt1"/>
                          </a:highlight>
                          <a:latin typeface="Roboto"/>
                          <a:ea typeface="Roboto"/>
                          <a:cs typeface="Roboto"/>
                          <a:sym typeface="Roboto"/>
                        </a:rPr>
                        <a:t>Costo de Oportunidad: Se paga por estrategia, se ejecuta administración.</a:t>
                      </a:r>
                      <a:endParaRPr sz="1050">
                        <a:solidFill>
                          <a:schemeClr val="dk1"/>
                        </a:solidFill>
                        <a:highlight>
                          <a:schemeClr val="lt1"/>
                        </a:highlight>
                        <a:latin typeface="Roboto"/>
                        <a:ea typeface="Roboto"/>
                        <a:cs typeface="Roboto"/>
                        <a:sym typeface="Roboto"/>
                      </a:endParaRPr>
                    </a:p>
                  </a:txBody>
                  <a:tcPr marT="57150" marB="57150" marR="114300" marL="114300"/>
                </a:tc>
              </a:tr>
              <a:tr h="941175">
                <a:tc>
                  <a:txBody>
                    <a:bodyPr/>
                    <a:lstStyle/>
                    <a:p>
                      <a:pPr indent="0" lvl="0" marL="0" rtl="0" algn="l">
                        <a:lnSpc>
                          <a:spcPct val="142857"/>
                        </a:lnSpc>
                        <a:spcBef>
                          <a:spcPts val="0"/>
                        </a:spcBef>
                        <a:spcAft>
                          <a:spcPts val="1200"/>
                        </a:spcAft>
                        <a:buNone/>
                      </a:pPr>
                      <a:r>
                        <a:rPr lang="en-US" sz="1050">
                          <a:solidFill>
                            <a:schemeClr val="dk1"/>
                          </a:solidFill>
                          <a:highlight>
                            <a:schemeClr val="lt1"/>
                          </a:highlight>
                          <a:latin typeface="Roboto"/>
                          <a:ea typeface="Roboto"/>
                          <a:cs typeface="Roboto"/>
                          <a:sym typeface="Roboto"/>
                        </a:rPr>
                        <a:t>Gerencia y Alta Dirección</a:t>
                      </a:r>
                      <a:endParaRPr sz="1050">
                        <a:solidFill>
                          <a:schemeClr val="dk1"/>
                        </a:solidFill>
                        <a:highlight>
                          <a:schemeClr val="lt1"/>
                        </a:highlight>
                        <a:latin typeface="Roboto"/>
                        <a:ea typeface="Roboto"/>
                        <a:cs typeface="Roboto"/>
                        <a:sym typeface="Roboto"/>
                      </a:endParaRPr>
                    </a:p>
                  </a:txBody>
                  <a:tcPr marT="57150" marB="57150" marR="114300" marL="114300"/>
                </a:tc>
                <a:tc>
                  <a:txBody>
                    <a:bodyPr/>
                    <a:lstStyle/>
                    <a:p>
                      <a:pPr indent="0" lvl="0" marL="0" rtl="0" algn="l">
                        <a:lnSpc>
                          <a:spcPct val="142857"/>
                        </a:lnSpc>
                        <a:spcBef>
                          <a:spcPts val="0"/>
                        </a:spcBef>
                        <a:spcAft>
                          <a:spcPts val="1200"/>
                        </a:spcAft>
                        <a:buNone/>
                      </a:pPr>
                      <a:r>
                        <a:rPr lang="en-US" sz="1050">
                          <a:solidFill>
                            <a:schemeClr val="dk1"/>
                          </a:solidFill>
                          <a:highlight>
                            <a:schemeClr val="lt1"/>
                          </a:highlight>
                          <a:latin typeface="Roboto"/>
                          <a:ea typeface="Roboto"/>
                          <a:cs typeface="Roboto"/>
                          <a:sym typeface="Roboto"/>
                        </a:rPr>
                        <a:t>Basan decisiones estratégicas en datos lentos y poco fiables.</a:t>
                      </a:r>
                      <a:endParaRPr sz="1050">
                        <a:solidFill>
                          <a:schemeClr val="dk1"/>
                        </a:solidFill>
                        <a:highlight>
                          <a:schemeClr val="lt1"/>
                        </a:highlight>
                        <a:latin typeface="Roboto"/>
                        <a:ea typeface="Roboto"/>
                        <a:cs typeface="Roboto"/>
                        <a:sym typeface="Roboto"/>
                      </a:endParaRPr>
                    </a:p>
                  </a:txBody>
                  <a:tcPr marT="57150" marB="57150" marR="114300" marL="114300"/>
                </a:tc>
                <a:tc>
                  <a:txBody>
                    <a:bodyPr/>
                    <a:lstStyle/>
                    <a:p>
                      <a:pPr indent="0" lvl="0" marL="0" rtl="0" algn="l">
                        <a:lnSpc>
                          <a:spcPct val="142857"/>
                        </a:lnSpc>
                        <a:spcBef>
                          <a:spcPts val="0"/>
                        </a:spcBef>
                        <a:spcAft>
                          <a:spcPts val="0"/>
                        </a:spcAft>
                        <a:buNone/>
                      </a:pPr>
                      <a:r>
                        <a:rPr lang="en-US" sz="1050">
                          <a:solidFill>
                            <a:schemeClr val="dk1"/>
                          </a:solidFill>
                          <a:highlight>
                            <a:schemeClr val="lt1"/>
                          </a:highlight>
                          <a:latin typeface="Roboto"/>
                          <a:ea typeface="Roboto"/>
                          <a:cs typeface="Roboto"/>
                          <a:sym typeface="Roboto"/>
                        </a:rPr>
                        <a:t>Riesgo Financiero: Cada decisión es una apuesta basada en información obsoleta.</a:t>
                      </a:r>
                      <a:endParaRPr sz="1050">
                        <a:solidFill>
                          <a:schemeClr val="dk1"/>
                        </a:solidFill>
                        <a:highlight>
                          <a:schemeClr val="lt1"/>
                        </a:highlight>
                        <a:latin typeface="Roboto"/>
                        <a:ea typeface="Roboto"/>
                        <a:cs typeface="Roboto"/>
                        <a:sym typeface="Roboto"/>
                      </a:endParaRPr>
                    </a:p>
                    <a:p>
                      <a:pPr indent="0" lvl="0" marL="0" rtl="0" algn="l">
                        <a:lnSpc>
                          <a:spcPct val="142857"/>
                        </a:lnSpc>
                        <a:spcBef>
                          <a:spcPts val="1200"/>
                        </a:spcBef>
                        <a:spcAft>
                          <a:spcPts val="1200"/>
                        </a:spcAft>
                        <a:buNone/>
                      </a:pPr>
                      <a:r>
                        <a:t/>
                      </a:r>
                      <a:endParaRPr sz="1050">
                        <a:solidFill>
                          <a:schemeClr val="dk1"/>
                        </a:solidFill>
                        <a:highlight>
                          <a:schemeClr val="lt1"/>
                        </a:highlight>
                        <a:latin typeface="Roboto"/>
                        <a:ea typeface="Roboto"/>
                        <a:cs typeface="Roboto"/>
                        <a:sym typeface="Roboto"/>
                      </a:endParaRPr>
                    </a:p>
                  </a:txBody>
                  <a:tcPr marT="57150" marB="57150" marR="114300" marL="114300"/>
                </a:tc>
              </a:tr>
            </a:tbl>
          </a:graphicData>
        </a:graphic>
      </p:graphicFrame>
      <p:pic>
        <p:nvPicPr>
          <p:cNvPr id="225" name="Google Shape;225;p24"/>
          <p:cNvPicPr preferRelativeResize="0"/>
          <p:nvPr/>
        </p:nvPicPr>
        <p:blipFill>
          <a:blip r:embed="rId3">
            <a:alphaModFix/>
          </a:blip>
          <a:stretch>
            <a:fillRect/>
          </a:stretch>
        </p:blipFill>
        <p:spPr>
          <a:xfrm>
            <a:off x="6945125" y="1555525"/>
            <a:ext cx="1611651" cy="1611651"/>
          </a:xfrm>
          <a:prstGeom prst="rect">
            <a:avLst/>
          </a:prstGeom>
          <a:noFill/>
          <a:ln>
            <a:noFill/>
          </a:ln>
        </p:spPr>
      </p:pic>
      <p:sp>
        <p:nvSpPr>
          <p:cNvPr id="226" name="Google Shape;226;p24"/>
          <p:cNvSpPr txBox="1"/>
          <p:nvPr/>
        </p:nvSpPr>
        <p:spPr>
          <a:xfrm>
            <a:off x="6855250" y="3206550"/>
            <a:ext cx="1956900" cy="105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300">
                <a:solidFill>
                  <a:schemeClr val="dk1"/>
                </a:solidFill>
                <a:latin typeface="Roboto"/>
                <a:ea typeface="Roboto"/>
                <a:cs typeface="Roboto"/>
                <a:sym typeface="Roboto"/>
              </a:rPr>
              <a:t>* Pérdida Cuantificada:</a:t>
            </a:r>
            <a:endParaRPr b="1" sz="1300">
              <a:solidFill>
                <a:schemeClr val="dk1"/>
              </a:solidFill>
              <a:latin typeface="Roboto"/>
              <a:ea typeface="Roboto"/>
              <a:cs typeface="Roboto"/>
              <a:sym typeface="Roboto"/>
            </a:endParaRPr>
          </a:p>
          <a:p>
            <a:pPr indent="0" lvl="0" marL="0" rtl="0" algn="ctr">
              <a:spcBef>
                <a:spcPts val="0"/>
              </a:spcBef>
              <a:spcAft>
                <a:spcPts val="0"/>
              </a:spcAft>
              <a:buNone/>
            </a:pPr>
            <a:r>
              <a:rPr b="1" lang="en-US" sz="1300">
                <a:solidFill>
                  <a:schemeClr val="dk1"/>
                </a:solidFill>
                <a:latin typeface="Roboto"/>
                <a:ea typeface="Roboto"/>
                <a:cs typeface="Roboto"/>
                <a:sym typeface="Roboto"/>
              </a:rPr>
              <a:t>$6.666.640 de pesos mensuales en Horas-Hombre (H.H.)</a:t>
            </a:r>
            <a:endParaRPr b="1" sz="1300">
              <a:solidFill>
                <a:schemeClr val="dk1"/>
              </a:solidFill>
              <a:latin typeface="Roboto"/>
              <a:ea typeface="Roboto"/>
              <a:cs typeface="Roboto"/>
              <a:sym typeface="Roboto"/>
            </a:endParaRPr>
          </a:p>
        </p:txBody>
      </p:sp>
      <p:sp>
        <p:nvSpPr>
          <p:cNvPr id="227" name="Google Shape;227;p24"/>
          <p:cNvSpPr txBox="1"/>
          <p:nvPr/>
        </p:nvSpPr>
        <p:spPr>
          <a:xfrm>
            <a:off x="760025" y="4658275"/>
            <a:ext cx="59664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US" sz="1100">
                <a:solidFill>
                  <a:schemeClr val="dk1"/>
                </a:solidFill>
                <a:highlight>
                  <a:schemeClr val="lt1"/>
                </a:highlight>
                <a:latin typeface="Roboto"/>
                <a:ea typeface="Roboto"/>
                <a:cs typeface="Roboto"/>
                <a:sym typeface="Roboto"/>
              </a:rPr>
              <a:t>*Estimación basada en 28 horas semanales invertidas por 4 jefaturas en tareas administrativas. Fuente </a:t>
            </a:r>
            <a:r>
              <a:rPr i="1" lang="en-US" sz="1100">
                <a:solidFill>
                  <a:schemeClr val="dk1"/>
                </a:solidFill>
                <a:highlight>
                  <a:schemeClr val="lt1"/>
                </a:highlight>
                <a:latin typeface="Roboto"/>
                <a:ea typeface="Roboto"/>
                <a:cs typeface="Roboto"/>
                <a:sym typeface="Roboto"/>
              </a:rPr>
              <a:t>Product</a:t>
            </a:r>
            <a:r>
              <a:rPr i="1" lang="en-US" sz="1100">
                <a:solidFill>
                  <a:schemeClr val="dk1"/>
                </a:solidFill>
                <a:highlight>
                  <a:schemeClr val="lt1"/>
                </a:highlight>
                <a:latin typeface="Roboto"/>
                <a:ea typeface="Roboto"/>
                <a:cs typeface="Roboto"/>
                <a:sym typeface="Roboto"/>
              </a:rPr>
              <a:t> Owner*</a:t>
            </a:r>
            <a:endParaRPr sz="1100">
              <a:solidFill>
                <a:schemeClr val="dk1"/>
              </a:solidFill>
              <a:highlight>
                <a:schemeClr val="lt1"/>
              </a:highlight>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grpSp>
        <p:nvGrpSpPr>
          <p:cNvPr id="232" name="Google Shape;232;p25"/>
          <p:cNvGrpSpPr/>
          <p:nvPr/>
        </p:nvGrpSpPr>
        <p:grpSpPr>
          <a:xfrm>
            <a:off x="3978720" y="6840"/>
            <a:ext cx="5164200" cy="5143200"/>
            <a:chOff x="3978720" y="6840"/>
            <a:chExt cx="5164200" cy="5143200"/>
          </a:xfrm>
        </p:grpSpPr>
        <p:sp>
          <p:nvSpPr>
            <p:cNvPr id="233" name="Google Shape;233;p25"/>
            <p:cNvSpPr/>
            <p:nvPr/>
          </p:nvSpPr>
          <p:spPr>
            <a:xfrm flipH="1">
              <a:off x="3978720" y="6840"/>
              <a:ext cx="5164200" cy="51432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4" name="Google Shape;234;p25"/>
            <p:cNvSpPr/>
            <p:nvPr/>
          </p:nvSpPr>
          <p:spPr>
            <a:xfrm rot="-2699590">
              <a:off x="4520886" y="36474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5" name="Google Shape;235;p25"/>
            <p:cNvSpPr/>
            <p:nvPr/>
          </p:nvSpPr>
          <p:spPr>
            <a:xfrm rot="-2699590">
              <a:off x="7184166" y="22452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6" name="Google Shape;236;p25"/>
            <p:cNvSpPr/>
            <p:nvPr/>
          </p:nvSpPr>
          <p:spPr>
            <a:xfrm rot="-2699590">
              <a:off x="6716478" y="11666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7" name="Google Shape;237;p25"/>
            <p:cNvSpPr/>
            <p:nvPr/>
          </p:nvSpPr>
          <p:spPr>
            <a:xfrm rot="-2699590">
              <a:off x="5940318" y="35714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8" name="Google Shape;238;p25"/>
            <p:cNvSpPr/>
            <p:nvPr/>
          </p:nvSpPr>
          <p:spPr>
            <a:xfrm>
              <a:off x="6778080" y="2891160"/>
              <a:ext cx="1596300" cy="1596300"/>
            </a:xfrm>
            <a:prstGeom prst="ellipse">
              <a:avLst/>
            </a:prstGeom>
            <a:noFill/>
            <a:ln cap="flat" cmpd="sng" w="9525">
              <a:solidFill>
                <a:srgbClr val="F8F8F8"/>
              </a:solidFill>
              <a:prstDash val="lg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239" name="Google Shape;239;p25"/>
          <p:cNvSpPr txBox="1"/>
          <p:nvPr>
            <p:ph type="title"/>
          </p:nvPr>
        </p:nvSpPr>
        <p:spPr>
          <a:xfrm>
            <a:off x="733325" y="2121825"/>
            <a:ext cx="4409700" cy="551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Necesidad</a:t>
            </a:r>
            <a:endParaRPr b="1" sz="3200" u="none" strike="noStrike">
              <a:solidFill>
                <a:schemeClr val="dk1"/>
              </a:solidFill>
              <a:latin typeface="Roboto"/>
              <a:ea typeface="Roboto"/>
              <a:cs typeface="Roboto"/>
              <a:sym typeface="Roboto"/>
            </a:endParaRPr>
          </a:p>
        </p:txBody>
      </p:sp>
      <p:sp>
        <p:nvSpPr>
          <p:cNvPr id="240" name="Google Shape;240;p25"/>
          <p:cNvSpPr/>
          <p:nvPr/>
        </p:nvSpPr>
        <p:spPr>
          <a:xfrm>
            <a:off x="5397480" y="1055160"/>
            <a:ext cx="3033000" cy="3033000"/>
          </a:xfrm>
          <a:prstGeom prst="ellipse">
            <a:avLst/>
          </a:prstGeom>
          <a:blipFill rotWithShape="1">
            <a:blip r:embed="rId3">
              <a:alphaModFix/>
            </a:blip>
            <a:stretch>
              <a:fillRect b="0" l="0" r="0" t="0"/>
            </a:stretch>
          </a:blipFill>
          <a:ln cap="flat" cmpd="sng" w="38100">
            <a:solidFill>
              <a:srgbClr val="F8F8F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241" name="Google Shape;241;p25"/>
          <p:cNvGrpSpPr/>
          <p:nvPr/>
        </p:nvGrpSpPr>
        <p:grpSpPr>
          <a:xfrm>
            <a:off x="5405271" y="1044240"/>
            <a:ext cx="3160020" cy="3290700"/>
            <a:chOff x="5405271" y="1044240"/>
            <a:chExt cx="3160020" cy="3290700"/>
          </a:xfrm>
        </p:grpSpPr>
        <p:sp>
          <p:nvSpPr>
            <p:cNvPr id="242" name="Google Shape;242;p25"/>
            <p:cNvSpPr/>
            <p:nvPr/>
          </p:nvSpPr>
          <p:spPr>
            <a:xfrm rot="-2700000">
              <a:off x="7674867" y="13795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3" name="Google Shape;243;p25"/>
            <p:cNvSpPr/>
            <p:nvPr/>
          </p:nvSpPr>
          <p:spPr>
            <a:xfrm rot="-2700000">
              <a:off x="5299947" y="38851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244" name="Google Shape;244;p25"/>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245" name="Google Shape;245;p25"/>
          <p:cNvPicPr preferRelativeResize="0"/>
          <p:nvPr/>
        </p:nvPicPr>
        <p:blipFill>
          <a:blip r:embed="rId4">
            <a:alphaModFix/>
          </a:blip>
          <a:stretch>
            <a:fillRect/>
          </a:stretch>
        </p:blipFill>
        <p:spPr>
          <a:xfrm>
            <a:off x="2776975" y="1211075"/>
            <a:ext cx="2620511" cy="21657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6"/>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251" name="Google Shape;251;p26"/>
          <p:cNvSpPr txBox="1"/>
          <p:nvPr>
            <p:ph type="title"/>
          </p:nvPr>
        </p:nvSpPr>
        <p:spPr>
          <a:xfrm>
            <a:off x="589450" y="183175"/>
            <a:ext cx="5328900" cy="551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Necesidad</a:t>
            </a:r>
            <a:endParaRPr b="1" sz="3200">
              <a:solidFill>
                <a:schemeClr val="dk1"/>
              </a:solidFill>
              <a:latin typeface="Roboto"/>
              <a:ea typeface="Roboto"/>
              <a:cs typeface="Roboto"/>
              <a:sym typeface="Roboto"/>
            </a:endParaRPr>
          </a:p>
        </p:txBody>
      </p:sp>
      <p:sp>
        <p:nvSpPr>
          <p:cNvPr id="252" name="Google Shape;252;p26"/>
          <p:cNvSpPr txBox="1"/>
          <p:nvPr/>
        </p:nvSpPr>
        <p:spPr>
          <a:xfrm>
            <a:off x="501600" y="1267725"/>
            <a:ext cx="6815400" cy="1885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US" sz="1300">
                <a:solidFill>
                  <a:srgbClr val="1F1F1F"/>
                </a:solidFill>
                <a:highlight>
                  <a:srgbClr val="FFFFFF"/>
                </a:highlight>
                <a:latin typeface="Roboto"/>
                <a:ea typeface="Roboto"/>
                <a:cs typeface="Roboto"/>
                <a:sym typeface="Roboto"/>
              </a:rPr>
              <a:t>La necesidad principal de Cambiaso es </a:t>
            </a:r>
            <a:r>
              <a:rPr b="1" lang="en-US" sz="1300">
                <a:solidFill>
                  <a:srgbClr val="1F1F1F"/>
                </a:solidFill>
                <a:highlight>
                  <a:srgbClr val="FFFFFF"/>
                </a:highlight>
                <a:latin typeface="Roboto"/>
                <a:ea typeface="Roboto"/>
                <a:cs typeface="Roboto"/>
                <a:sym typeface="Roboto"/>
              </a:rPr>
              <a:t>superar la dependencia de procesos manuales para el análisis de datos operativos y de producción</a:t>
            </a:r>
            <a:r>
              <a:rPr lang="en-US" sz="1300">
                <a:solidFill>
                  <a:srgbClr val="1F1F1F"/>
                </a:solidFill>
                <a:highlight>
                  <a:srgbClr val="FFFFFF"/>
                </a:highlight>
                <a:latin typeface="Roboto"/>
                <a:ea typeface="Roboto"/>
                <a:cs typeface="Roboto"/>
                <a:sym typeface="Roboto"/>
              </a:rPr>
              <a:t>, lo que genera información fragmentada, inconsistente y con latencia. Necesitan una </a:t>
            </a:r>
            <a:r>
              <a:rPr b="1" lang="en-US" sz="1300">
                <a:solidFill>
                  <a:srgbClr val="1F1F1F"/>
                </a:solidFill>
                <a:highlight>
                  <a:srgbClr val="FFFFFF"/>
                </a:highlight>
                <a:latin typeface="Roboto"/>
                <a:ea typeface="Roboto"/>
                <a:cs typeface="Roboto"/>
                <a:sym typeface="Roboto"/>
              </a:rPr>
              <a:t>plataforma que centralice, procese y visualice datos en tiempo real</a:t>
            </a:r>
            <a:r>
              <a:rPr lang="en-US" sz="1300">
                <a:solidFill>
                  <a:srgbClr val="1F1F1F"/>
                </a:solidFill>
                <a:highlight>
                  <a:srgbClr val="FFFFFF"/>
                </a:highlight>
                <a:latin typeface="Roboto"/>
                <a:ea typeface="Roboto"/>
                <a:cs typeface="Roboto"/>
                <a:sym typeface="Roboto"/>
              </a:rPr>
              <a:t>, permitiendo a las jefaturas y la alta gerencia tomar decisiones ágiles, precisas y fundamentadas en datos, optimizando así los recursos y manteniendo su agilidad competitiva en el mercado.</a:t>
            </a:r>
            <a:endParaRPr sz="1300">
              <a:latin typeface="Roboto"/>
              <a:ea typeface="Roboto"/>
              <a:cs typeface="Roboto"/>
              <a:sym typeface="Roboto"/>
            </a:endParaRPr>
          </a:p>
        </p:txBody>
      </p:sp>
      <p:pic>
        <p:nvPicPr>
          <p:cNvPr id="253" name="Google Shape;253;p26"/>
          <p:cNvPicPr preferRelativeResize="0"/>
          <p:nvPr/>
        </p:nvPicPr>
        <p:blipFill>
          <a:blip r:embed="rId3">
            <a:alphaModFix/>
          </a:blip>
          <a:stretch>
            <a:fillRect/>
          </a:stretch>
        </p:blipFill>
        <p:spPr>
          <a:xfrm>
            <a:off x="7205675" y="3543725"/>
            <a:ext cx="1495975" cy="1477208"/>
          </a:xfrm>
          <a:prstGeom prst="rect">
            <a:avLst/>
          </a:prstGeom>
          <a:noFill/>
          <a:ln>
            <a:noFill/>
          </a:ln>
        </p:spPr>
      </p:pic>
      <p:pic>
        <p:nvPicPr>
          <p:cNvPr id="254" name="Google Shape;254;p26"/>
          <p:cNvPicPr preferRelativeResize="0"/>
          <p:nvPr/>
        </p:nvPicPr>
        <p:blipFill>
          <a:blip r:embed="rId4">
            <a:alphaModFix/>
          </a:blip>
          <a:stretch>
            <a:fillRect/>
          </a:stretch>
        </p:blipFill>
        <p:spPr>
          <a:xfrm>
            <a:off x="271825" y="3864275"/>
            <a:ext cx="4784074" cy="1047200"/>
          </a:xfrm>
          <a:prstGeom prst="rect">
            <a:avLst/>
          </a:prstGeom>
          <a:noFill/>
          <a:ln>
            <a:noFill/>
          </a:ln>
        </p:spPr>
      </p:pic>
      <p:pic>
        <p:nvPicPr>
          <p:cNvPr id="255" name="Google Shape;255;p26"/>
          <p:cNvPicPr preferRelativeResize="0"/>
          <p:nvPr/>
        </p:nvPicPr>
        <p:blipFill rotWithShape="1">
          <a:blip r:embed="rId5">
            <a:alphaModFix/>
          </a:blip>
          <a:srcRect b="0" l="1129" r="41246" t="0"/>
          <a:stretch/>
        </p:blipFill>
        <p:spPr>
          <a:xfrm>
            <a:off x="5055900" y="4214225"/>
            <a:ext cx="2149775" cy="3473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7"/>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261" name="Google Shape;261;p27"/>
          <p:cNvSpPr txBox="1"/>
          <p:nvPr>
            <p:ph type="title"/>
          </p:nvPr>
        </p:nvSpPr>
        <p:spPr>
          <a:xfrm>
            <a:off x="1512075" y="15975"/>
            <a:ext cx="5337600" cy="551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HISTORIAS DE USUARIO</a:t>
            </a:r>
            <a:endParaRPr b="1" sz="3200" u="none" strike="noStrike">
              <a:solidFill>
                <a:schemeClr val="dk1"/>
              </a:solidFill>
              <a:latin typeface="Roboto"/>
              <a:ea typeface="Roboto"/>
              <a:cs typeface="Roboto"/>
              <a:sym typeface="Roboto"/>
            </a:endParaRPr>
          </a:p>
        </p:txBody>
      </p:sp>
      <p:sp>
        <p:nvSpPr>
          <p:cNvPr id="262" name="Google Shape;262;p27"/>
          <p:cNvSpPr txBox="1"/>
          <p:nvPr/>
        </p:nvSpPr>
        <p:spPr>
          <a:xfrm>
            <a:off x="1051650" y="1201100"/>
            <a:ext cx="7040700" cy="334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100">
                <a:solidFill>
                  <a:srgbClr val="1B1C1D"/>
                </a:solidFill>
                <a:latin typeface="Roboto"/>
                <a:ea typeface="Roboto"/>
                <a:cs typeface="Roboto"/>
                <a:sym typeface="Roboto"/>
              </a:rPr>
              <a:t>1. Historia de Usuario: IOC-006 - Visualizar Dashboard de Producción</a:t>
            </a:r>
            <a:endParaRPr b="1" sz="1100">
              <a:solidFill>
                <a:srgbClr val="1B1C1D"/>
              </a:solidFill>
              <a:latin typeface="Roboto"/>
              <a:ea typeface="Roboto"/>
              <a:cs typeface="Roboto"/>
              <a:sym typeface="Roboto"/>
            </a:endParaRPr>
          </a:p>
          <a:p>
            <a:pPr indent="-298450" lvl="0" marL="457200" rtl="0" algn="l">
              <a:lnSpc>
                <a:spcPct val="115000"/>
              </a:lnSpc>
              <a:spcBef>
                <a:spcPts val="600"/>
              </a:spcBef>
              <a:spcAft>
                <a:spcPts val="0"/>
              </a:spcAft>
              <a:buClr>
                <a:srgbClr val="1B1C1D"/>
              </a:buClr>
              <a:buSzPts val="1100"/>
              <a:buChar char="●"/>
            </a:pPr>
            <a:r>
              <a:rPr b="1" lang="en-US" sz="1100">
                <a:solidFill>
                  <a:srgbClr val="1B1C1D"/>
                </a:solidFill>
                <a:latin typeface="Roboto"/>
                <a:ea typeface="Roboto"/>
                <a:cs typeface="Roboto"/>
                <a:sym typeface="Roboto"/>
              </a:rPr>
              <a:t>Como:</a:t>
            </a:r>
            <a:r>
              <a:rPr lang="en-US" sz="1100">
                <a:solidFill>
                  <a:srgbClr val="1B1C1D"/>
                </a:solidFill>
                <a:latin typeface="Roboto"/>
                <a:ea typeface="Roboto"/>
                <a:cs typeface="Roboto"/>
                <a:sym typeface="Roboto"/>
              </a:rPr>
              <a:t> Gerente</a:t>
            </a:r>
            <a:endParaRPr sz="1100">
              <a:solidFill>
                <a:srgbClr val="1B1C1D"/>
              </a:solidFill>
              <a:latin typeface="Roboto"/>
              <a:ea typeface="Roboto"/>
              <a:cs typeface="Roboto"/>
              <a:sym typeface="Roboto"/>
            </a:endParaRPr>
          </a:p>
          <a:p>
            <a:pPr indent="-298450" lvl="0" marL="457200" rtl="0" algn="l">
              <a:lnSpc>
                <a:spcPct val="115000"/>
              </a:lnSpc>
              <a:spcBef>
                <a:spcPts val="0"/>
              </a:spcBef>
              <a:spcAft>
                <a:spcPts val="0"/>
              </a:spcAft>
              <a:buClr>
                <a:srgbClr val="1B1C1D"/>
              </a:buClr>
              <a:buSzPts val="1100"/>
              <a:buChar char="●"/>
            </a:pPr>
            <a:r>
              <a:rPr b="1" lang="en-US" sz="1100">
                <a:solidFill>
                  <a:srgbClr val="1B1C1D"/>
                </a:solidFill>
                <a:latin typeface="Roboto"/>
                <a:ea typeface="Roboto"/>
                <a:cs typeface="Roboto"/>
                <a:sym typeface="Roboto"/>
              </a:rPr>
              <a:t>Quiero:</a:t>
            </a:r>
            <a:r>
              <a:rPr lang="en-US" sz="1100">
                <a:solidFill>
                  <a:srgbClr val="1B1C1D"/>
                </a:solidFill>
                <a:latin typeface="Roboto"/>
                <a:ea typeface="Roboto"/>
                <a:cs typeface="Roboto"/>
                <a:sym typeface="Roboto"/>
              </a:rPr>
              <a:t> Visualizar un dashboard con KPIs actualizados.</a:t>
            </a:r>
            <a:endParaRPr sz="1100">
              <a:solidFill>
                <a:srgbClr val="1B1C1D"/>
              </a:solidFill>
              <a:latin typeface="Roboto"/>
              <a:ea typeface="Roboto"/>
              <a:cs typeface="Roboto"/>
              <a:sym typeface="Roboto"/>
            </a:endParaRPr>
          </a:p>
          <a:p>
            <a:pPr indent="-298450" lvl="0" marL="457200" rtl="0" algn="l">
              <a:lnSpc>
                <a:spcPct val="115000"/>
              </a:lnSpc>
              <a:spcBef>
                <a:spcPts val="0"/>
              </a:spcBef>
              <a:spcAft>
                <a:spcPts val="0"/>
              </a:spcAft>
              <a:buClr>
                <a:srgbClr val="1B1C1D"/>
              </a:buClr>
              <a:buSzPts val="1100"/>
              <a:buChar char="●"/>
            </a:pPr>
            <a:r>
              <a:rPr b="1" lang="en-US" sz="1100">
                <a:solidFill>
                  <a:srgbClr val="1B1C1D"/>
                </a:solidFill>
                <a:latin typeface="Roboto"/>
                <a:ea typeface="Roboto"/>
                <a:cs typeface="Roboto"/>
                <a:sym typeface="Roboto"/>
              </a:rPr>
              <a:t>Para:</a:t>
            </a:r>
            <a:r>
              <a:rPr lang="en-US" sz="1100">
                <a:solidFill>
                  <a:srgbClr val="1B1C1D"/>
                </a:solidFill>
                <a:latin typeface="Roboto"/>
                <a:ea typeface="Roboto"/>
                <a:cs typeface="Roboto"/>
                <a:sym typeface="Roboto"/>
              </a:rPr>
              <a:t> Tomar decisiones informadas sobre la operación de manera rápida y eficiente.</a:t>
            </a:r>
            <a:endParaRPr sz="1100">
              <a:solidFill>
                <a:srgbClr val="1B1C1D"/>
              </a:solidFill>
              <a:latin typeface="Roboto"/>
              <a:ea typeface="Roboto"/>
              <a:cs typeface="Roboto"/>
              <a:sym typeface="Roboto"/>
            </a:endParaRPr>
          </a:p>
          <a:p>
            <a:pPr indent="0" lvl="0" marL="0" rtl="0" algn="l">
              <a:lnSpc>
                <a:spcPct val="115000"/>
              </a:lnSpc>
              <a:spcBef>
                <a:spcPts val="1800"/>
              </a:spcBef>
              <a:spcAft>
                <a:spcPts val="0"/>
              </a:spcAft>
              <a:buNone/>
            </a:pPr>
            <a:r>
              <a:rPr b="1" lang="en-US" sz="1100">
                <a:solidFill>
                  <a:srgbClr val="1B1C1D"/>
                </a:solidFill>
                <a:latin typeface="Roboto"/>
                <a:ea typeface="Roboto"/>
                <a:cs typeface="Roboto"/>
                <a:sym typeface="Roboto"/>
              </a:rPr>
              <a:t>Criterios de Aceptación (Funcionales):</a:t>
            </a:r>
            <a:endParaRPr b="1" sz="1100">
              <a:solidFill>
                <a:srgbClr val="1B1C1D"/>
              </a:solidFill>
              <a:latin typeface="Roboto"/>
              <a:ea typeface="Roboto"/>
              <a:cs typeface="Roboto"/>
              <a:sym typeface="Roboto"/>
            </a:endParaRPr>
          </a:p>
          <a:p>
            <a:pPr indent="-298450" lvl="0" marL="457200" rtl="0" algn="l">
              <a:lnSpc>
                <a:spcPct val="115000"/>
              </a:lnSpc>
              <a:spcBef>
                <a:spcPts val="600"/>
              </a:spcBef>
              <a:spcAft>
                <a:spcPts val="0"/>
              </a:spcAft>
              <a:buClr>
                <a:srgbClr val="1B1C1D"/>
              </a:buClr>
              <a:buSzPts val="1100"/>
              <a:buFont typeface="Roboto"/>
              <a:buChar char="●"/>
            </a:pPr>
            <a:r>
              <a:rPr lang="en-US" sz="1100">
                <a:solidFill>
                  <a:srgbClr val="1B1C1D"/>
                </a:solidFill>
                <a:latin typeface="Roboto"/>
                <a:ea typeface="Roboto"/>
                <a:cs typeface="Roboto"/>
                <a:sym typeface="Roboto"/>
              </a:rPr>
              <a:t>Dado que accedo al dashboard con datos correctos, se deben mostrar los gráficos y métricas vigentes.</a:t>
            </a:r>
            <a:endParaRPr sz="1100">
              <a:solidFill>
                <a:srgbClr val="1B1C1D"/>
              </a:solidFill>
              <a:latin typeface="Roboto"/>
              <a:ea typeface="Roboto"/>
              <a:cs typeface="Roboto"/>
              <a:sym typeface="Roboto"/>
            </a:endParaRPr>
          </a:p>
          <a:p>
            <a:pPr indent="-298450" lvl="0" marL="457200" rtl="0" algn="l">
              <a:lnSpc>
                <a:spcPct val="115000"/>
              </a:lnSpc>
              <a:spcBef>
                <a:spcPts val="0"/>
              </a:spcBef>
              <a:spcAft>
                <a:spcPts val="0"/>
              </a:spcAft>
              <a:buClr>
                <a:srgbClr val="1B1C1D"/>
              </a:buClr>
              <a:buSzPts val="1100"/>
              <a:buFont typeface="Roboto"/>
              <a:buChar char="●"/>
            </a:pPr>
            <a:r>
              <a:rPr lang="en-US" sz="1100">
                <a:solidFill>
                  <a:srgbClr val="1B1C1D"/>
                </a:solidFill>
                <a:latin typeface="Roboto"/>
                <a:ea typeface="Roboto"/>
                <a:cs typeface="Roboto"/>
                <a:sym typeface="Roboto"/>
              </a:rPr>
              <a:t>Cuando selecciono diferentes filtros (por ejemplo, por fecha o línea de producción), el dashboard debe actualizar la visualización para reflejar solo los datos que cumplen con esos criterios.</a:t>
            </a:r>
            <a:endParaRPr sz="1100">
              <a:solidFill>
                <a:srgbClr val="1B1C1D"/>
              </a:solidFill>
              <a:latin typeface="Roboto"/>
              <a:ea typeface="Roboto"/>
              <a:cs typeface="Roboto"/>
              <a:sym typeface="Roboto"/>
            </a:endParaRPr>
          </a:p>
          <a:p>
            <a:pPr indent="0" lvl="0" marL="0" rtl="0" algn="l">
              <a:lnSpc>
                <a:spcPct val="115000"/>
              </a:lnSpc>
              <a:spcBef>
                <a:spcPts val="1800"/>
              </a:spcBef>
              <a:spcAft>
                <a:spcPts val="0"/>
              </a:spcAft>
              <a:buNone/>
            </a:pPr>
            <a:r>
              <a:rPr b="1" lang="en-US" sz="1100">
                <a:solidFill>
                  <a:srgbClr val="1B1C1D"/>
                </a:solidFill>
                <a:latin typeface="Roboto"/>
                <a:ea typeface="Roboto"/>
                <a:cs typeface="Roboto"/>
                <a:sym typeface="Roboto"/>
              </a:rPr>
              <a:t>Requisitos No Funcionales:</a:t>
            </a:r>
            <a:endParaRPr b="1" sz="1100">
              <a:solidFill>
                <a:srgbClr val="1B1C1D"/>
              </a:solidFill>
              <a:latin typeface="Roboto"/>
              <a:ea typeface="Roboto"/>
              <a:cs typeface="Roboto"/>
              <a:sym typeface="Roboto"/>
            </a:endParaRPr>
          </a:p>
          <a:p>
            <a:pPr indent="-298450" lvl="0" marL="457200" rtl="0" algn="l">
              <a:lnSpc>
                <a:spcPct val="115000"/>
              </a:lnSpc>
              <a:spcBef>
                <a:spcPts val="600"/>
              </a:spcBef>
              <a:spcAft>
                <a:spcPts val="0"/>
              </a:spcAft>
              <a:buClr>
                <a:srgbClr val="1B1C1D"/>
              </a:buClr>
              <a:buSzPts val="1100"/>
              <a:buChar char="●"/>
            </a:pPr>
            <a:r>
              <a:rPr b="1" lang="en-US" sz="1100">
                <a:solidFill>
                  <a:srgbClr val="1B1C1D"/>
                </a:solidFill>
                <a:latin typeface="Roboto"/>
                <a:ea typeface="Roboto"/>
                <a:cs typeface="Roboto"/>
                <a:sym typeface="Roboto"/>
              </a:rPr>
              <a:t>Rendimiento/Actualización:</a:t>
            </a:r>
            <a:r>
              <a:rPr lang="en-US" sz="1100">
                <a:solidFill>
                  <a:srgbClr val="1B1C1D"/>
                </a:solidFill>
                <a:latin typeface="Roboto"/>
                <a:ea typeface="Roboto"/>
                <a:cs typeface="Roboto"/>
                <a:sym typeface="Roboto"/>
              </a:rPr>
              <a:t> El dashboard debe ser capaz de refrescarse automáticamente para reflejar los datos en tiempo real sin necesidad de intervención manual.</a:t>
            </a:r>
            <a:endParaRPr sz="1100">
              <a:solidFill>
                <a:srgbClr val="1B1C1D"/>
              </a:solidFill>
              <a:latin typeface="Roboto"/>
              <a:ea typeface="Roboto"/>
              <a:cs typeface="Roboto"/>
              <a:sym typeface="Roboto"/>
            </a:endParaRPr>
          </a:p>
          <a:p>
            <a:pPr indent="-298450" lvl="0" marL="457200" rtl="0" algn="l">
              <a:lnSpc>
                <a:spcPct val="115000"/>
              </a:lnSpc>
              <a:spcBef>
                <a:spcPts val="0"/>
              </a:spcBef>
              <a:spcAft>
                <a:spcPts val="0"/>
              </a:spcAft>
              <a:buClr>
                <a:srgbClr val="1B1C1D"/>
              </a:buClr>
              <a:buSzPts val="1100"/>
              <a:buChar char="●"/>
            </a:pPr>
            <a:r>
              <a:rPr b="1" lang="en-US" sz="1100">
                <a:solidFill>
                  <a:srgbClr val="1B1C1D"/>
                </a:solidFill>
                <a:latin typeface="Roboto"/>
                <a:ea typeface="Roboto"/>
                <a:cs typeface="Roboto"/>
                <a:sym typeface="Roboto"/>
              </a:rPr>
              <a:t>Usabilidad:</a:t>
            </a:r>
            <a:r>
              <a:rPr lang="en-US" sz="1100">
                <a:solidFill>
                  <a:srgbClr val="1B1C1D"/>
                </a:solidFill>
                <a:latin typeface="Roboto"/>
                <a:ea typeface="Roboto"/>
                <a:cs typeface="Roboto"/>
                <a:sym typeface="Roboto"/>
              </a:rPr>
              <a:t> Si existen datos incompletos o erróneos que impiden la carga de un gráfico, el sistema debe mostrar un mensaje de error claro y amigable para el usuario.</a:t>
            </a:r>
            <a:endParaRPr b="1" sz="1100">
              <a:solidFill>
                <a:srgbClr val="1B1C1D"/>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8"/>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268" name="Google Shape;268;p28"/>
          <p:cNvSpPr txBox="1"/>
          <p:nvPr>
            <p:ph type="title"/>
          </p:nvPr>
        </p:nvSpPr>
        <p:spPr>
          <a:xfrm>
            <a:off x="1512075" y="15975"/>
            <a:ext cx="5337600" cy="551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HISTORIAS DE USUARIO</a:t>
            </a:r>
            <a:endParaRPr b="1" sz="3200" u="none" strike="noStrike">
              <a:solidFill>
                <a:schemeClr val="dk1"/>
              </a:solidFill>
              <a:latin typeface="Roboto"/>
              <a:ea typeface="Roboto"/>
              <a:cs typeface="Roboto"/>
              <a:sym typeface="Roboto"/>
            </a:endParaRPr>
          </a:p>
        </p:txBody>
      </p:sp>
      <p:sp>
        <p:nvSpPr>
          <p:cNvPr id="269" name="Google Shape;269;p28"/>
          <p:cNvSpPr txBox="1"/>
          <p:nvPr/>
        </p:nvSpPr>
        <p:spPr>
          <a:xfrm>
            <a:off x="1051650" y="1201100"/>
            <a:ext cx="7040700" cy="334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100">
                <a:solidFill>
                  <a:srgbClr val="1B1C1D"/>
                </a:solidFill>
                <a:latin typeface="Roboto"/>
                <a:ea typeface="Roboto"/>
                <a:cs typeface="Roboto"/>
                <a:sym typeface="Roboto"/>
              </a:rPr>
              <a:t>2. Historia de Usuario: IOC-011 - Acceder desde dispositivos móviles</a:t>
            </a:r>
            <a:endParaRPr b="1" sz="1100">
              <a:solidFill>
                <a:srgbClr val="1B1C1D"/>
              </a:solidFill>
              <a:latin typeface="Roboto"/>
              <a:ea typeface="Roboto"/>
              <a:cs typeface="Roboto"/>
              <a:sym typeface="Roboto"/>
            </a:endParaRPr>
          </a:p>
          <a:p>
            <a:pPr indent="-298450" lvl="0" marL="457200" rtl="0" algn="l">
              <a:lnSpc>
                <a:spcPct val="115000"/>
              </a:lnSpc>
              <a:spcBef>
                <a:spcPts val="600"/>
              </a:spcBef>
              <a:spcAft>
                <a:spcPts val="0"/>
              </a:spcAft>
              <a:buClr>
                <a:srgbClr val="1B1C1D"/>
              </a:buClr>
              <a:buSzPts val="1100"/>
              <a:buChar char="●"/>
            </a:pPr>
            <a:r>
              <a:rPr b="1" lang="en-US" sz="1100">
                <a:solidFill>
                  <a:srgbClr val="1B1C1D"/>
                </a:solidFill>
                <a:latin typeface="Roboto"/>
                <a:ea typeface="Roboto"/>
                <a:cs typeface="Roboto"/>
                <a:sym typeface="Roboto"/>
              </a:rPr>
              <a:t>Como:</a:t>
            </a:r>
            <a:r>
              <a:rPr lang="en-US" sz="1100">
                <a:solidFill>
                  <a:srgbClr val="1B1C1D"/>
                </a:solidFill>
                <a:latin typeface="Roboto"/>
                <a:ea typeface="Roboto"/>
                <a:cs typeface="Roboto"/>
                <a:sym typeface="Roboto"/>
              </a:rPr>
              <a:t> Gerente</a:t>
            </a:r>
            <a:endParaRPr sz="1100">
              <a:solidFill>
                <a:srgbClr val="1B1C1D"/>
              </a:solidFill>
              <a:latin typeface="Roboto"/>
              <a:ea typeface="Roboto"/>
              <a:cs typeface="Roboto"/>
              <a:sym typeface="Roboto"/>
            </a:endParaRPr>
          </a:p>
          <a:p>
            <a:pPr indent="-298450" lvl="0" marL="457200" rtl="0" algn="l">
              <a:lnSpc>
                <a:spcPct val="115000"/>
              </a:lnSpc>
              <a:spcBef>
                <a:spcPts val="0"/>
              </a:spcBef>
              <a:spcAft>
                <a:spcPts val="0"/>
              </a:spcAft>
              <a:buClr>
                <a:srgbClr val="1B1C1D"/>
              </a:buClr>
              <a:buSzPts val="1100"/>
              <a:buChar char="●"/>
            </a:pPr>
            <a:r>
              <a:rPr b="1" lang="en-US" sz="1100">
                <a:solidFill>
                  <a:srgbClr val="1B1C1D"/>
                </a:solidFill>
                <a:latin typeface="Roboto"/>
                <a:ea typeface="Roboto"/>
                <a:cs typeface="Roboto"/>
                <a:sym typeface="Roboto"/>
              </a:rPr>
              <a:t>Quiero:</a:t>
            </a:r>
            <a:r>
              <a:rPr lang="en-US" sz="1100">
                <a:solidFill>
                  <a:srgbClr val="1B1C1D"/>
                </a:solidFill>
                <a:latin typeface="Roboto"/>
                <a:ea typeface="Roboto"/>
                <a:cs typeface="Roboto"/>
                <a:sym typeface="Roboto"/>
              </a:rPr>
              <a:t> Acceder a la plataforma desde dispositivos móviles.</a:t>
            </a:r>
            <a:endParaRPr sz="1100">
              <a:solidFill>
                <a:srgbClr val="1B1C1D"/>
              </a:solidFill>
              <a:latin typeface="Roboto"/>
              <a:ea typeface="Roboto"/>
              <a:cs typeface="Roboto"/>
              <a:sym typeface="Roboto"/>
            </a:endParaRPr>
          </a:p>
          <a:p>
            <a:pPr indent="-298450" lvl="0" marL="457200" rtl="0" algn="l">
              <a:lnSpc>
                <a:spcPct val="115000"/>
              </a:lnSpc>
              <a:spcBef>
                <a:spcPts val="0"/>
              </a:spcBef>
              <a:spcAft>
                <a:spcPts val="0"/>
              </a:spcAft>
              <a:buClr>
                <a:srgbClr val="1B1C1D"/>
              </a:buClr>
              <a:buSzPts val="1100"/>
              <a:buChar char="●"/>
            </a:pPr>
            <a:r>
              <a:rPr b="1" lang="en-US" sz="1100">
                <a:solidFill>
                  <a:srgbClr val="1B1C1D"/>
                </a:solidFill>
                <a:latin typeface="Roboto"/>
                <a:ea typeface="Roboto"/>
                <a:cs typeface="Roboto"/>
                <a:sym typeface="Roboto"/>
              </a:rPr>
              <a:t>Para:</a:t>
            </a:r>
            <a:r>
              <a:rPr lang="en-US" sz="1100">
                <a:solidFill>
                  <a:srgbClr val="1B1C1D"/>
                </a:solidFill>
                <a:latin typeface="Roboto"/>
                <a:ea typeface="Roboto"/>
                <a:cs typeface="Roboto"/>
                <a:sym typeface="Roboto"/>
              </a:rPr>
              <a:t> Consultar KPIs y datos en cualquier momento y lugar.</a:t>
            </a:r>
            <a:endParaRPr sz="1100">
              <a:solidFill>
                <a:srgbClr val="1B1C1D"/>
              </a:solidFill>
              <a:latin typeface="Roboto"/>
              <a:ea typeface="Roboto"/>
              <a:cs typeface="Roboto"/>
              <a:sym typeface="Roboto"/>
            </a:endParaRPr>
          </a:p>
          <a:p>
            <a:pPr indent="0" lvl="0" marL="0" rtl="0" algn="l">
              <a:lnSpc>
                <a:spcPct val="115000"/>
              </a:lnSpc>
              <a:spcBef>
                <a:spcPts val="1800"/>
              </a:spcBef>
              <a:spcAft>
                <a:spcPts val="0"/>
              </a:spcAft>
              <a:buNone/>
            </a:pPr>
            <a:r>
              <a:rPr b="1" lang="en-US" sz="1100">
                <a:solidFill>
                  <a:srgbClr val="1B1C1D"/>
                </a:solidFill>
                <a:latin typeface="Roboto"/>
                <a:ea typeface="Roboto"/>
                <a:cs typeface="Roboto"/>
                <a:sym typeface="Roboto"/>
              </a:rPr>
              <a:t>Criterios de Aceptación (Funcionales):</a:t>
            </a:r>
            <a:endParaRPr b="1" sz="1100">
              <a:solidFill>
                <a:srgbClr val="1B1C1D"/>
              </a:solidFill>
              <a:latin typeface="Roboto"/>
              <a:ea typeface="Roboto"/>
              <a:cs typeface="Roboto"/>
              <a:sym typeface="Roboto"/>
            </a:endParaRPr>
          </a:p>
          <a:p>
            <a:pPr indent="-298450" lvl="0" marL="457200" rtl="0" algn="l">
              <a:lnSpc>
                <a:spcPct val="115000"/>
              </a:lnSpc>
              <a:spcBef>
                <a:spcPts val="600"/>
              </a:spcBef>
              <a:spcAft>
                <a:spcPts val="0"/>
              </a:spcAft>
              <a:buClr>
                <a:srgbClr val="1B1C1D"/>
              </a:buClr>
              <a:buSzPts val="1100"/>
              <a:buFont typeface="Roboto"/>
              <a:buChar char="●"/>
            </a:pPr>
            <a:r>
              <a:rPr lang="en-US" sz="1100">
                <a:solidFill>
                  <a:srgbClr val="1B1C1D"/>
                </a:solidFill>
                <a:latin typeface="Roboto"/>
                <a:ea typeface="Roboto"/>
                <a:cs typeface="Roboto"/>
                <a:sym typeface="Roboto"/>
              </a:rPr>
              <a:t>Dado que inicio sesión desde un dispositivo móvil compatible, el sistema debe </a:t>
            </a:r>
            <a:r>
              <a:rPr lang="en-US" sz="1100">
                <a:solidFill>
                  <a:srgbClr val="1B1C1D"/>
                </a:solidFill>
                <a:latin typeface="Roboto"/>
                <a:ea typeface="Roboto"/>
                <a:cs typeface="Roboto"/>
                <a:sym typeface="Roboto"/>
              </a:rPr>
              <a:t>mostrar</a:t>
            </a:r>
            <a:r>
              <a:rPr lang="en-US" sz="1100">
                <a:solidFill>
                  <a:srgbClr val="1B1C1D"/>
                </a:solidFill>
                <a:latin typeface="Roboto"/>
                <a:ea typeface="Roboto"/>
                <a:cs typeface="Roboto"/>
                <a:sym typeface="Roboto"/>
              </a:rPr>
              <a:t> una interfaz optimizada para el tamaño de la pantalla.</a:t>
            </a:r>
            <a:endParaRPr sz="1100">
              <a:solidFill>
                <a:srgbClr val="1B1C1D"/>
              </a:solidFill>
              <a:latin typeface="Roboto"/>
              <a:ea typeface="Roboto"/>
              <a:cs typeface="Roboto"/>
              <a:sym typeface="Roboto"/>
            </a:endParaRPr>
          </a:p>
          <a:p>
            <a:pPr indent="-298450" lvl="0" marL="457200" rtl="0" algn="l">
              <a:lnSpc>
                <a:spcPct val="115000"/>
              </a:lnSpc>
              <a:spcBef>
                <a:spcPts val="0"/>
              </a:spcBef>
              <a:spcAft>
                <a:spcPts val="0"/>
              </a:spcAft>
              <a:buClr>
                <a:srgbClr val="1B1C1D"/>
              </a:buClr>
              <a:buSzPts val="1100"/>
              <a:buFont typeface="Roboto"/>
              <a:buChar char="●"/>
            </a:pPr>
            <a:r>
              <a:rPr lang="en-US" sz="1100">
                <a:solidFill>
                  <a:srgbClr val="1B1C1D"/>
                </a:solidFill>
                <a:latin typeface="Roboto"/>
                <a:ea typeface="Roboto"/>
                <a:cs typeface="Roboto"/>
                <a:sym typeface="Roboto"/>
              </a:rPr>
              <a:t>Al cerrar la sesión en el móvil, esta debe finalizar correctamente y redirigirme a la pantalla de inicio de sesión.</a:t>
            </a:r>
            <a:endParaRPr sz="1100">
              <a:solidFill>
                <a:srgbClr val="1B1C1D"/>
              </a:solidFill>
              <a:latin typeface="Roboto"/>
              <a:ea typeface="Roboto"/>
              <a:cs typeface="Roboto"/>
              <a:sym typeface="Roboto"/>
            </a:endParaRPr>
          </a:p>
          <a:p>
            <a:pPr indent="0" lvl="0" marL="0" rtl="0" algn="l">
              <a:lnSpc>
                <a:spcPct val="115000"/>
              </a:lnSpc>
              <a:spcBef>
                <a:spcPts val="1800"/>
              </a:spcBef>
              <a:spcAft>
                <a:spcPts val="0"/>
              </a:spcAft>
              <a:buNone/>
            </a:pPr>
            <a:r>
              <a:rPr b="1" lang="en-US" sz="1100">
                <a:solidFill>
                  <a:srgbClr val="1B1C1D"/>
                </a:solidFill>
                <a:latin typeface="Roboto"/>
                <a:ea typeface="Roboto"/>
                <a:cs typeface="Roboto"/>
                <a:sym typeface="Roboto"/>
              </a:rPr>
              <a:t>Requisitos No Funcionales:</a:t>
            </a:r>
            <a:endParaRPr b="1" sz="1100">
              <a:solidFill>
                <a:srgbClr val="1B1C1D"/>
              </a:solidFill>
              <a:latin typeface="Roboto"/>
              <a:ea typeface="Roboto"/>
              <a:cs typeface="Roboto"/>
              <a:sym typeface="Roboto"/>
            </a:endParaRPr>
          </a:p>
          <a:p>
            <a:pPr indent="-298450" lvl="0" marL="457200" rtl="0" algn="l">
              <a:lnSpc>
                <a:spcPct val="115000"/>
              </a:lnSpc>
              <a:spcBef>
                <a:spcPts val="600"/>
              </a:spcBef>
              <a:spcAft>
                <a:spcPts val="0"/>
              </a:spcAft>
              <a:buClr>
                <a:srgbClr val="1B1C1D"/>
              </a:buClr>
              <a:buSzPts val="1100"/>
              <a:buChar char="●"/>
            </a:pPr>
            <a:r>
              <a:rPr b="1" lang="en-US" sz="1100">
                <a:solidFill>
                  <a:srgbClr val="1B1C1D"/>
                </a:solidFill>
                <a:latin typeface="Roboto"/>
                <a:ea typeface="Roboto"/>
                <a:cs typeface="Roboto"/>
                <a:sym typeface="Roboto"/>
              </a:rPr>
              <a:t>Seguridad:</a:t>
            </a:r>
            <a:r>
              <a:rPr lang="en-US" sz="1100">
                <a:solidFill>
                  <a:srgbClr val="1B1C1D"/>
                </a:solidFill>
                <a:latin typeface="Roboto"/>
                <a:ea typeface="Roboto"/>
                <a:cs typeface="Roboto"/>
                <a:sym typeface="Roboto"/>
              </a:rPr>
              <a:t> Después de un inicio de sesión exitoso, solo debo poder acceder a las funciones y datos autorizados para mi rol.</a:t>
            </a:r>
            <a:endParaRPr sz="1100">
              <a:solidFill>
                <a:srgbClr val="1B1C1D"/>
              </a:solidFill>
              <a:latin typeface="Roboto"/>
              <a:ea typeface="Roboto"/>
              <a:cs typeface="Roboto"/>
              <a:sym typeface="Roboto"/>
            </a:endParaRPr>
          </a:p>
          <a:p>
            <a:pPr indent="-298450" lvl="0" marL="457200" rtl="0" algn="l">
              <a:lnSpc>
                <a:spcPct val="115000"/>
              </a:lnSpc>
              <a:spcBef>
                <a:spcPts val="0"/>
              </a:spcBef>
              <a:spcAft>
                <a:spcPts val="0"/>
              </a:spcAft>
              <a:buClr>
                <a:srgbClr val="1B1C1D"/>
              </a:buClr>
              <a:buSzPts val="1100"/>
              <a:buChar char="●"/>
            </a:pPr>
            <a:r>
              <a:rPr b="1" lang="en-US" sz="1100">
                <a:solidFill>
                  <a:srgbClr val="1B1C1D"/>
                </a:solidFill>
                <a:latin typeface="Roboto"/>
                <a:ea typeface="Roboto"/>
                <a:cs typeface="Roboto"/>
                <a:sym typeface="Roboto"/>
              </a:rPr>
              <a:t>Fiabilidad/Conectividad:</a:t>
            </a:r>
            <a:r>
              <a:rPr lang="en-US" sz="1100">
                <a:solidFill>
                  <a:srgbClr val="1B1C1D"/>
                </a:solidFill>
                <a:latin typeface="Roboto"/>
                <a:ea typeface="Roboto"/>
                <a:cs typeface="Roboto"/>
                <a:sym typeface="Roboto"/>
              </a:rPr>
              <a:t> Si se presentan problemas de conexión durante el uso en el móvil, la aplicación debe mostrar un mensaje de error claro con posibles soluciones.</a:t>
            </a:r>
            <a:endParaRPr b="1" sz="1100">
              <a:solidFill>
                <a:srgbClr val="1B1C1D"/>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9"/>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275" name="Google Shape;275;p29"/>
          <p:cNvSpPr txBox="1"/>
          <p:nvPr>
            <p:ph type="title"/>
          </p:nvPr>
        </p:nvSpPr>
        <p:spPr>
          <a:xfrm>
            <a:off x="1512075" y="15975"/>
            <a:ext cx="5337600" cy="551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HISTORIAS DE USUARIO</a:t>
            </a:r>
            <a:endParaRPr b="1" sz="3200" u="none" strike="noStrike">
              <a:solidFill>
                <a:schemeClr val="dk1"/>
              </a:solidFill>
              <a:latin typeface="Roboto"/>
              <a:ea typeface="Roboto"/>
              <a:cs typeface="Roboto"/>
              <a:sym typeface="Roboto"/>
            </a:endParaRPr>
          </a:p>
        </p:txBody>
      </p:sp>
      <p:sp>
        <p:nvSpPr>
          <p:cNvPr id="276" name="Google Shape;276;p29"/>
          <p:cNvSpPr txBox="1"/>
          <p:nvPr/>
        </p:nvSpPr>
        <p:spPr>
          <a:xfrm>
            <a:off x="1051650" y="1201100"/>
            <a:ext cx="7040700" cy="334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100">
                <a:solidFill>
                  <a:srgbClr val="1B1C1D"/>
                </a:solidFill>
                <a:latin typeface="Roboto"/>
                <a:ea typeface="Roboto"/>
                <a:cs typeface="Roboto"/>
                <a:sym typeface="Roboto"/>
              </a:rPr>
              <a:t>3. Historia de Usuario: IOC-022 - Cerrar Sesión de Forma Segura</a:t>
            </a:r>
            <a:endParaRPr b="1" sz="1100">
              <a:solidFill>
                <a:srgbClr val="1B1C1D"/>
              </a:solidFill>
              <a:latin typeface="Roboto"/>
              <a:ea typeface="Roboto"/>
              <a:cs typeface="Roboto"/>
              <a:sym typeface="Roboto"/>
            </a:endParaRPr>
          </a:p>
          <a:p>
            <a:pPr indent="-298450" lvl="0" marL="457200" rtl="0" algn="l">
              <a:lnSpc>
                <a:spcPct val="115000"/>
              </a:lnSpc>
              <a:spcBef>
                <a:spcPts val="600"/>
              </a:spcBef>
              <a:spcAft>
                <a:spcPts val="0"/>
              </a:spcAft>
              <a:buClr>
                <a:srgbClr val="1B1C1D"/>
              </a:buClr>
              <a:buSzPts val="1100"/>
              <a:buChar char="●"/>
            </a:pPr>
            <a:r>
              <a:rPr b="1" lang="en-US" sz="1100">
                <a:solidFill>
                  <a:srgbClr val="1B1C1D"/>
                </a:solidFill>
                <a:latin typeface="Roboto"/>
                <a:ea typeface="Roboto"/>
                <a:cs typeface="Roboto"/>
                <a:sym typeface="Roboto"/>
              </a:rPr>
              <a:t>Como:</a:t>
            </a:r>
            <a:r>
              <a:rPr lang="en-US" sz="1100">
                <a:solidFill>
                  <a:srgbClr val="1B1C1D"/>
                </a:solidFill>
                <a:latin typeface="Roboto"/>
                <a:ea typeface="Roboto"/>
                <a:cs typeface="Roboto"/>
                <a:sym typeface="Roboto"/>
              </a:rPr>
              <a:t> Usuario</a:t>
            </a:r>
            <a:endParaRPr sz="1100">
              <a:solidFill>
                <a:srgbClr val="1B1C1D"/>
              </a:solidFill>
              <a:latin typeface="Roboto"/>
              <a:ea typeface="Roboto"/>
              <a:cs typeface="Roboto"/>
              <a:sym typeface="Roboto"/>
            </a:endParaRPr>
          </a:p>
          <a:p>
            <a:pPr indent="-298450" lvl="0" marL="457200" rtl="0" algn="l">
              <a:lnSpc>
                <a:spcPct val="115000"/>
              </a:lnSpc>
              <a:spcBef>
                <a:spcPts val="0"/>
              </a:spcBef>
              <a:spcAft>
                <a:spcPts val="0"/>
              </a:spcAft>
              <a:buClr>
                <a:srgbClr val="1B1C1D"/>
              </a:buClr>
              <a:buSzPts val="1100"/>
              <a:buChar char="●"/>
            </a:pPr>
            <a:r>
              <a:rPr b="1" lang="en-US" sz="1100">
                <a:solidFill>
                  <a:srgbClr val="1B1C1D"/>
                </a:solidFill>
                <a:latin typeface="Roboto"/>
                <a:ea typeface="Roboto"/>
                <a:cs typeface="Roboto"/>
                <a:sym typeface="Roboto"/>
              </a:rPr>
              <a:t>Quiero:</a:t>
            </a:r>
            <a:r>
              <a:rPr lang="en-US" sz="1100">
                <a:solidFill>
                  <a:srgbClr val="1B1C1D"/>
                </a:solidFill>
                <a:latin typeface="Roboto"/>
                <a:ea typeface="Roboto"/>
                <a:cs typeface="Roboto"/>
                <a:sym typeface="Roboto"/>
              </a:rPr>
              <a:t> Cerrar sesión de forma segura.</a:t>
            </a:r>
            <a:endParaRPr sz="1100">
              <a:solidFill>
                <a:srgbClr val="1B1C1D"/>
              </a:solidFill>
              <a:latin typeface="Roboto"/>
              <a:ea typeface="Roboto"/>
              <a:cs typeface="Roboto"/>
              <a:sym typeface="Roboto"/>
            </a:endParaRPr>
          </a:p>
          <a:p>
            <a:pPr indent="-298450" lvl="0" marL="457200" rtl="0" algn="l">
              <a:lnSpc>
                <a:spcPct val="115000"/>
              </a:lnSpc>
              <a:spcBef>
                <a:spcPts val="0"/>
              </a:spcBef>
              <a:spcAft>
                <a:spcPts val="0"/>
              </a:spcAft>
              <a:buClr>
                <a:srgbClr val="1B1C1D"/>
              </a:buClr>
              <a:buSzPts val="1100"/>
              <a:buChar char="●"/>
            </a:pPr>
            <a:r>
              <a:rPr b="1" lang="en-US" sz="1100">
                <a:solidFill>
                  <a:srgbClr val="1B1C1D"/>
                </a:solidFill>
                <a:latin typeface="Roboto"/>
                <a:ea typeface="Roboto"/>
                <a:cs typeface="Roboto"/>
                <a:sym typeface="Roboto"/>
              </a:rPr>
              <a:t>Para:</a:t>
            </a:r>
            <a:r>
              <a:rPr lang="en-US" sz="1100">
                <a:solidFill>
                  <a:srgbClr val="1B1C1D"/>
                </a:solidFill>
                <a:latin typeface="Roboto"/>
                <a:ea typeface="Roboto"/>
                <a:cs typeface="Roboto"/>
                <a:sym typeface="Roboto"/>
              </a:rPr>
              <a:t> Proteger mi cuenta cuando termino de usar la plataforma.</a:t>
            </a:r>
            <a:endParaRPr sz="1100">
              <a:solidFill>
                <a:srgbClr val="1B1C1D"/>
              </a:solidFill>
              <a:latin typeface="Roboto"/>
              <a:ea typeface="Roboto"/>
              <a:cs typeface="Roboto"/>
              <a:sym typeface="Roboto"/>
            </a:endParaRPr>
          </a:p>
          <a:p>
            <a:pPr indent="0" lvl="0" marL="0" rtl="0" algn="l">
              <a:lnSpc>
                <a:spcPct val="115000"/>
              </a:lnSpc>
              <a:spcBef>
                <a:spcPts val="1800"/>
              </a:spcBef>
              <a:spcAft>
                <a:spcPts val="0"/>
              </a:spcAft>
              <a:buNone/>
            </a:pPr>
            <a:r>
              <a:rPr b="1" lang="en-US" sz="1100">
                <a:solidFill>
                  <a:srgbClr val="1B1C1D"/>
                </a:solidFill>
                <a:latin typeface="Roboto"/>
                <a:ea typeface="Roboto"/>
                <a:cs typeface="Roboto"/>
                <a:sym typeface="Roboto"/>
              </a:rPr>
              <a:t>Criterios de Aceptación (Funcionales):</a:t>
            </a:r>
            <a:endParaRPr b="1" sz="1100">
              <a:solidFill>
                <a:srgbClr val="1B1C1D"/>
              </a:solidFill>
              <a:latin typeface="Roboto"/>
              <a:ea typeface="Roboto"/>
              <a:cs typeface="Roboto"/>
              <a:sym typeface="Roboto"/>
            </a:endParaRPr>
          </a:p>
          <a:p>
            <a:pPr indent="-298450" lvl="0" marL="457200" rtl="0" algn="l">
              <a:lnSpc>
                <a:spcPct val="115000"/>
              </a:lnSpc>
              <a:spcBef>
                <a:spcPts val="600"/>
              </a:spcBef>
              <a:spcAft>
                <a:spcPts val="0"/>
              </a:spcAft>
              <a:buClr>
                <a:srgbClr val="1B1C1D"/>
              </a:buClr>
              <a:buSzPts val="1100"/>
              <a:buFont typeface="Roboto"/>
              <a:buChar char="●"/>
            </a:pPr>
            <a:r>
              <a:rPr lang="en-US" sz="1100">
                <a:solidFill>
                  <a:srgbClr val="1B1C1D"/>
                </a:solidFill>
                <a:latin typeface="Roboto"/>
                <a:ea typeface="Roboto"/>
                <a:cs typeface="Roboto"/>
                <a:sym typeface="Roboto"/>
              </a:rPr>
              <a:t>Dado que hago clic en el botón "Cerrar Sesión", el sistema debe finalizar mi sesión activa y redirigirme a la página de inicio de sesión.</a:t>
            </a:r>
            <a:endParaRPr sz="1100">
              <a:solidFill>
                <a:srgbClr val="1B1C1D"/>
              </a:solidFill>
              <a:latin typeface="Roboto"/>
              <a:ea typeface="Roboto"/>
              <a:cs typeface="Roboto"/>
              <a:sym typeface="Roboto"/>
            </a:endParaRPr>
          </a:p>
          <a:p>
            <a:pPr indent="0" lvl="0" marL="0" rtl="0" algn="l">
              <a:lnSpc>
                <a:spcPct val="115000"/>
              </a:lnSpc>
              <a:spcBef>
                <a:spcPts val="1800"/>
              </a:spcBef>
              <a:spcAft>
                <a:spcPts val="0"/>
              </a:spcAft>
              <a:buNone/>
            </a:pPr>
            <a:r>
              <a:rPr b="1" lang="en-US" sz="1100">
                <a:solidFill>
                  <a:srgbClr val="1B1C1D"/>
                </a:solidFill>
                <a:latin typeface="Roboto"/>
                <a:ea typeface="Roboto"/>
                <a:cs typeface="Roboto"/>
                <a:sym typeface="Roboto"/>
              </a:rPr>
              <a:t>Requisitos No Funcionales:</a:t>
            </a:r>
            <a:endParaRPr b="1" sz="1100">
              <a:solidFill>
                <a:srgbClr val="1B1C1D"/>
              </a:solidFill>
              <a:latin typeface="Roboto"/>
              <a:ea typeface="Roboto"/>
              <a:cs typeface="Roboto"/>
              <a:sym typeface="Roboto"/>
            </a:endParaRPr>
          </a:p>
          <a:p>
            <a:pPr indent="-298450" lvl="0" marL="457200" rtl="0" algn="l">
              <a:lnSpc>
                <a:spcPct val="115000"/>
              </a:lnSpc>
              <a:spcBef>
                <a:spcPts val="600"/>
              </a:spcBef>
              <a:spcAft>
                <a:spcPts val="0"/>
              </a:spcAft>
              <a:buClr>
                <a:srgbClr val="1B1C1D"/>
              </a:buClr>
              <a:buSzPts val="1100"/>
              <a:buChar char="●"/>
            </a:pPr>
            <a:r>
              <a:rPr b="1" lang="en-US" sz="1100">
                <a:solidFill>
                  <a:srgbClr val="1B1C1D"/>
                </a:solidFill>
                <a:latin typeface="Roboto"/>
                <a:ea typeface="Roboto"/>
                <a:cs typeface="Roboto"/>
                <a:sym typeface="Roboto"/>
              </a:rPr>
              <a:t>Seguridad:</a:t>
            </a:r>
            <a:r>
              <a:rPr lang="en-US" sz="1100">
                <a:solidFill>
                  <a:srgbClr val="1B1C1D"/>
                </a:solidFill>
                <a:latin typeface="Roboto"/>
                <a:ea typeface="Roboto"/>
                <a:cs typeface="Roboto"/>
                <a:sym typeface="Roboto"/>
              </a:rPr>
              <a:t> Después de haber cerrado la sesión, no debe ser posible acceder a ninguna página protegida de la aplicación utilizando los botones de "atrás" o "adelante" del navegador.</a:t>
            </a:r>
            <a:endParaRPr sz="1100">
              <a:solidFill>
                <a:srgbClr val="1B1C1D"/>
              </a:solidFill>
              <a:latin typeface="Roboto"/>
              <a:ea typeface="Roboto"/>
              <a:cs typeface="Roboto"/>
              <a:sym typeface="Roboto"/>
            </a:endParaRPr>
          </a:p>
          <a:p>
            <a:pPr indent="-298450" lvl="0" marL="457200" rtl="0" algn="l">
              <a:lnSpc>
                <a:spcPct val="115000"/>
              </a:lnSpc>
              <a:spcBef>
                <a:spcPts val="0"/>
              </a:spcBef>
              <a:spcAft>
                <a:spcPts val="0"/>
              </a:spcAft>
              <a:buClr>
                <a:srgbClr val="1B1C1D"/>
              </a:buClr>
              <a:buSzPts val="1100"/>
              <a:buChar char="●"/>
            </a:pPr>
            <a:r>
              <a:rPr b="1" lang="en-US" sz="1100">
                <a:solidFill>
                  <a:srgbClr val="1B1C1D"/>
                </a:solidFill>
                <a:latin typeface="Roboto"/>
                <a:ea typeface="Roboto"/>
                <a:cs typeface="Roboto"/>
                <a:sym typeface="Roboto"/>
              </a:rPr>
              <a:t>Usabilidad:</a:t>
            </a:r>
            <a:r>
              <a:rPr lang="en-US" sz="1100">
                <a:solidFill>
                  <a:srgbClr val="1B1C1D"/>
                </a:solidFill>
                <a:latin typeface="Roboto"/>
                <a:ea typeface="Roboto"/>
                <a:cs typeface="Roboto"/>
                <a:sym typeface="Roboto"/>
              </a:rPr>
              <a:t> El botón o enlace para "Cerrar Sesión" debe ser claramente visible y accesible desde cualquier sección principal de la plataforma.</a:t>
            </a:r>
            <a:endParaRPr b="1" sz="1100">
              <a:solidFill>
                <a:srgbClr val="1B1C1D"/>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grpSp>
        <p:nvGrpSpPr>
          <p:cNvPr id="281" name="Google Shape;281;p30"/>
          <p:cNvGrpSpPr/>
          <p:nvPr/>
        </p:nvGrpSpPr>
        <p:grpSpPr>
          <a:xfrm>
            <a:off x="3978720" y="6840"/>
            <a:ext cx="5164200" cy="5143200"/>
            <a:chOff x="3978720" y="6840"/>
            <a:chExt cx="5164200" cy="5143200"/>
          </a:xfrm>
        </p:grpSpPr>
        <p:sp>
          <p:nvSpPr>
            <p:cNvPr id="282" name="Google Shape;282;p30"/>
            <p:cNvSpPr/>
            <p:nvPr/>
          </p:nvSpPr>
          <p:spPr>
            <a:xfrm flipH="1">
              <a:off x="3978720" y="6840"/>
              <a:ext cx="5164200" cy="51432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83" name="Google Shape;283;p30"/>
            <p:cNvSpPr/>
            <p:nvPr/>
          </p:nvSpPr>
          <p:spPr>
            <a:xfrm rot="-2699590">
              <a:off x="4520886" y="36474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84" name="Google Shape;284;p30"/>
            <p:cNvSpPr/>
            <p:nvPr/>
          </p:nvSpPr>
          <p:spPr>
            <a:xfrm rot="-2699590">
              <a:off x="7184166" y="22452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85" name="Google Shape;285;p30"/>
            <p:cNvSpPr/>
            <p:nvPr/>
          </p:nvSpPr>
          <p:spPr>
            <a:xfrm rot="-2699590">
              <a:off x="6716478" y="11666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86" name="Google Shape;286;p30"/>
            <p:cNvSpPr/>
            <p:nvPr/>
          </p:nvSpPr>
          <p:spPr>
            <a:xfrm rot="-2699590">
              <a:off x="5940318" y="35714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87" name="Google Shape;287;p30"/>
            <p:cNvSpPr/>
            <p:nvPr/>
          </p:nvSpPr>
          <p:spPr>
            <a:xfrm>
              <a:off x="6778080" y="2891160"/>
              <a:ext cx="1596300" cy="1596300"/>
            </a:xfrm>
            <a:prstGeom prst="ellipse">
              <a:avLst/>
            </a:prstGeom>
            <a:noFill/>
            <a:ln cap="flat" cmpd="sng" w="9525">
              <a:solidFill>
                <a:srgbClr val="F8F8F8"/>
              </a:solidFill>
              <a:prstDash val="lg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288" name="Google Shape;288;p30"/>
          <p:cNvSpPr txBox="1"/>
          <p:nvPr>
            <p:ph type="title"/>
          </p:nvPr>
        </p:nvSpPr>
        <p:spPr>
          <a:xfrm>
            <a:off x="312775" y="2139725"/>
            <a:ext cx="4554600" cy="551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Requisitos Funcionales</a:t>
            </a:r>
            <a:endParaRPr b="1" sz="3200" u="none" strike="noStrike">
              <a:solidFill>
                <a:schemeClr val="dk1"/>
              </a:solidFill>
              <a:latin typeface="Roboto"/>
              <a:ea typeface="Roboto"/>
              <a:cs typeface="Roboto"/>
              <a:sym typeface="Roboto"/>
            </a:endParaRPr>
          </a:p>
        </p:txBody>
      </p:sp>
      <p:sp>
        <p:nvSpPr>
          <p:cNvPr id="289" name="Google Shape;289;p30"/>
          <p:cNvSpPr/>
          <p:nvPr/>
        </p:nvSpPr>
        <p:spPr>
          <a:xfrm>
            <a:off x="5397480" y="1055160"/>
            <a:ext cx="3033000" cy="3033000"/>
          </a:xfrm>
          <a:prstGeom prst="ellipse">
            <a:avLst/>
          </a:prstGeom>
          <a:blipFill rotWithShape="1">
            <a:blip r:embed="rId3">
              <a:alphaModFix/>
            </a:blip>
            <a:stretch>
              <a:fillRect b="0" l="0" r="0" t="0"/>
            </a:stretch>
          </a:blipFill>
          <a:ln cap="flat" cmpd="sng" w="38100">
            <a:solidFill>
              <a:srgbClr val="F8F8F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290" name="Google Shape;290;p30"/>
          <p:cNvGrpSpPr/>
          <p:nvPr/>
        </p:nvGrpSpPr>
        <p:grpSpPr>
          <a:xfrm>
            <a:off x="5405271" y="1044240"/>
            <a:ext cx="3160020" cy="3290700"/>
            <a:chOff x="5405271" y="1044240"/>
            <a:chExt cx="3160020" cy="3290700"/>
          </a:xfrm>
        </p:grpSpPr>
        <p:sp>
          <p:nvSpPr>
            <p:cNvPr id="291" name="Google Shape;291;p30"/>
            <p:cNvSpPr/>
            <p:nvPr/>
          </p:nvSpPr>
          <p:spPr>
            <a:xfrm rot="-2700000">
              <a:off x="7674867" y="13795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92" name="Google Shape;292;p30"/>
            <p:cNvSpPr/>
            <p:nvPr/>
          </p:nvSpPr>
          <p:spPr>
            <a:xfrm rot="-2700000">
              <a:off x="5299947" y="38851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293" name="Google Shape;293;p30"/>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294" name="Google Shape;294;p30"/>
          <p:cNvPicPr preferRelativeResize="0"/>
          <p:nvPr/>
        </p:nvPicPr>
        <p:blipFill>
          <a:blip r:embed="rId4">
            <a:alphaModFix/>
          </a:blip>
          <a:stretch>
            <a:fillRect/>
          </a:stretch>
        </p:blipFill>
        <p:spPr>
          <a:xfrm>
            <a:off x="1378150" y="329050"/>
            <a:ext cx="1978201" cy="17645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1"/>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300" name="Google Shape;300;p31"/>
          <p:cNvSpPr txBox="1"/>
          <p:nvPr>
            <p:ph type="title"/>
          </p:nvPr>
        </p:nvSpPr>
        <p:spPr>
          <a:xfrm>
            <a:off x="1816275" y="0"/>
            <a:ext cx="4713000" cy="551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Requisitos Funcionales</a:t>
            </a:r>
            <a:endParaRPr b="1" sz="3200" u="none" strike="noStrike">
              <a:solidFill>
                <a:schemeClr val="dk1"/>
              </a:solidFill>
              <a:latin typeface="Roboto"/>
              <a:ea typeface="Roboto"/>
              <a:cs typeface="Roboto"/>
              <a:sym typeface="Roboto"/>
            </a:endParaRPr>
          </a:p>
        </p:txBody>
      </p:sp>
      <p:sp>
        <p:nvSpPr>
          <p:cNvPr id="301" name="Google Shape;301;p31"/>
          <p:cNvSpPr/>
          <p:nvPr/>
        </p:nvSpPr>
        <p:spPr>
          <a:xfrm>
            <a:off x="4402175" y="894963"/>
            <a:ext cx="3018900" cy="669000"/>
          </a:xfrm>
          <a:prstGeom prst="chevron">
            <a:avLst>
              <a:gd fmla="val 50000" name="adj"/>
            </a:avLst>
          </a:prstGeom>
          <a:solidFill>
            <a:srgbClr val="3D85C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300">
                <a:solidFill>
                  <a:srgbClr val="FFFFFF"/>
                </a:solidFill>
                <a:latin typeface="Roboto"/>
                <a:ea typeface="Roboto"/>
                <a:cs typeface="Roboto"/>
                <a:sym typeface="Roboto"/>
              </a:rPr>
              <a:t> Administración de Contenido Analítico</a:t>
            </a:r>
            <a:endParaRPr sz="1300">
              <a:solidFill>
                <a:srgbClr val="FFFFFF"/>
              </a:solidFill>
              <a:latin typeface="Roboto"/>
              <a:ea typeface="Roboto"/>
              <a:cs typeface="Roboto"/>
              <a:sym typeface="Roboto"/>
            </a:endParaRPr>
          </a:p>
        </p:txBody>
      </p:sp>
      <p:grpSp>
        <p:nvGrpSpPr>
          <p:cNvPr id="302" name="Google Shape;302;p31"/>
          <p:cNvGrpSpPr/>
          <p:nvPr/>
        </p:nvGrpSpPr>
        <p:grpSpPr>
          <a:xfrm>
            <a:off x="0" y="895052"/>
            <a:ext cx="3546900" cy="3482836"/>
            <a:chOff x="0" y="1189989"/>
            <a:chExt cx="3546900" cy="3482836"/>
          </a:xfrm>
        </p:grpSpPr>
        <p:sp>
          <p:nvSpPr>
            <p:cNvPr id="303" name="Google Shape;303;p31"/>
            <p:cNvSpPr/>
            <p:nvPr/>
          </p:nvSpPr>
          <p:spPr>
            <a:xfrm>
              <a:off x="0" y="1189989"/>
              <a:ext cx="3546900" cy="669000"/>
            </a:xfrm>
            <a:prstGeom prst="homePlate">
              <a:avLst>
                <a:gd fmla="val 50000" name="adj"/>
              </a:avLst>
            </a:prstGeom>
            <a:solidFill>
              <a:srgbClr val="073763"/>
            </a:solid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None/>
              </a:pPr>
              <a:r>
                <a:rPr lang="en-US" sz="1100">
                  <a:solidFill>
                    <a:srgbClr val="FFFFFF"/>
                  </a:solidFill>
                  <a:latin typeface="Roboto"/>
                  <a:ea typeface="Roboto"/>
                  <a:cs typeface="Roboto"/>
                  <a:sym typeface="Roboto"/>
                </a:rPr>
                <a:t>Gestión de Acceso y Seguridad</a:t>
              </a:r>
              <a:endParaRPr sz="1100">
                <a:solidFill>
                  <a:srgbClr val="FFFFFF"/>
                </a:solidFill>
                <a:latin typeface="Roboto"/>
                <a:ea typeface="Roboto"/>
                <a:cs typeface="Roboto"/>
                <a:sym typeface="Roboto"/>
              </a:endParaRPr>
            </a:p>
          </p:txBody>
        </p:sp>
        <p:sp>
          <p:nvSpPr>
            <p:cNvPr id="304" name="Google Shape;304;p31"/>
            <p:cNvSpPr txBox="1"/>
            <p:nvPr/>
          </p:nvSpPr>
          <p:spPr>
            <a:xfrm>
              <a:off x="412875" y="2057125"/>
              <a:ext cx="18837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100">
                  <a:solidFill>
                    <a:schemeClr val="dk1"/>
                  </a:solidFill>
                  <a:highlight>
                    <a:schemeClr val="lt1"/>
                  </a:highlight>
                  <a:latin typeface="Roboto"/>
                  <a:ea typeface="Roboto"/>
                  <a:cs typeface="Roboto"/>
                  <a:sym typeface="Roboto"/>
                </a:rPr>
                <a:t>Implementar un sistema de login seguro y una gestión de roles que garantice que cada usuario acceda únicamente a la información y funcionalidades permitidas.</a:t>
              </a:r>
              <a:endParaRPr sz="1100">
                <a:solidFill>
                  <a:schemeClr val="dk1"/>
                </a:solidFill>
                <a:highlight>
                  <a:schemeClr val="lt1"/>
                </a:highlight>
                <a:latin typeface="Roboto"/>
                <a:ea typeface="Roboto"/>
                <a:cs typeface="Roboto"/>
                <a:sym typeface="Roboto"/>
              </a:endParaRPr>
            </a:p>
          </p:txBody>
        </p:sp>
      </p:grpSp>
      <p:sp>
        <p:nvSpPr>
          <p:cNvPr id="305" name="Google Shape;305;p31"/>
          <p:cNvSpPr/>
          <p:nvPr/>
        </p:nvSpPr>
        <p:spPr>
          <a:xfrm>
            <a:off x="2296775" y="894963"/>
            <a:ext cx="2675400" cy="669000"/>
          </a:xfrm>
          <a:prstGeom prst="chevron">
            <a:avLst>
              <a:gd fmla="val 50000" name="adj"/>
            </a:avLst>
          </a:prstGeom>
          <a:solidFill>
            <a:srgbClr val="0B539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300">
                <a:solidFill>
                  <a:srgbClr val="FFFFFF"/>
                </a:solidFill>
                <a:latin typeface="Roboto"/>
                <a:ea typeface="Roboto"/>
                <a:cs typeface="Roboto"/>
                <a:sym typeface="Roboto"/>
              </a:rPr>
              <a:t>Ingesta de Datos</a:t>
            </a:r>
            <a:endParaRPr sz="1300">
              <a:solidFill>
                <a:srgbClr val="FFFFFF"/>
              </a:solidFill>
              <a:latin typeface="Roboto"/>
              <a:ea typeface="Roboto"/>
              <a:cs typeface="Roboto"/>
              <a:sym typeface="Roboto"/>
            </a:endParaRPr>
          </a:p>
        </p:txBody>
      </p:sp>
      <p:sp>
        <p:nvSpPr>
          <p:cNvPr id="306" name="Google Shape;306;p31"/>
          <p:cNvSpPr/>
          <p:nvPr/>
        </p:nvSpPr>
        <p:spPr>
          <a:xfrm>
            <a:off x="6810661" y="895013"/>
            <a:ext cx="2294700" cy="669000"/>
          </a:xfrm>
          <a:prstGeom prst="chevron">
            <a:avLst>
              <a:gd fmla="val 50000" name="adj"/>
            </a:avLst>
          </a:prstGeom>
          <a:solidFill>
            <a:srgbClr val="6FA8D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300">
                <a:solidFill>
                  <a:srgbClr val="FFFFFF"/>
                </a:solidFill>
                <a:latin typeface="Roboto"/>
                <a:ea typeface="Roboto"/>
                <a:cs typeface="Roboto"/>
                <a:sym typeface="Roboto"/>
              </a:rPr>
              <a:t>Visualización de Dashboards Interactivos</a:t>
            </a:r>
            <a:endParaRPr sz="1300">
              <a:solidFill>
                <a:srgbClr val="FFFFFF"/>
              </a:solidFill>
              <a:latin typeface="Roboto"/>
              <a:ea typeface="Roboto"/>
              <a:cs typeface="Roboto"/>
              <a:sym typeface="Roboto"/>
            </a:endParaRPr>
          </a:p>
        </p:txBody>
      </p:sp>
      <p:sp>
        <p:nvSpPr>
          <p:cNvPr id="307" name="Google Shape;307;p31"/>
          <p:cNvSpPr txBox="1"/>
          <p:nvPr/>
        </p:nvSpPr>
        <p:spPr>
          <a:xfrm>
            <a:off x="2612550" y="1790288"/>
            <a:ext cx="18837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100">
                <a:solidFill>
                  <a:schemeClr val="dk1"/>
                </a:solidFill>
                <a:highlight>
                  <a:schemeClr val="lt1"/>
                </a:highlight>
                <a:latin typeface="Roboto"/>
                <a:ea typeface="Roboto"/>
                <a:cs typeface="Roboto"/>
                <a:sym typeface="Roboto"/>
              </a:rPr>
              <a:t>Automatizar la carga y validación de reportes CSV de producción para centralizar los datos y crear una fuente centralizada de información, eliminando el proceso manual.</a:t>
            </a:r>
            <a:endParaRPr sz="1100">
              <a:solidFill>
                <a:schemeClr val="dk1"/>
              </a:solidFill>
              <a:highlight>
                <a:schemeClr val="lt1"/>
              </a:highlight>
              <a:latin typeface="Roboto"/>
              <a:ea typeface="Roboto"/>
              <a:cs typeface="Roboto"/>
              <a:sym typeface="Roboto"/>
            </a:endParaRPr>
          </a:p>
        </p:txBody>
      </p:sp>
      <p:sp>
        <p:nvSpPr>
          <p:cNvPr id="308" name="Google Shape;308;p31"/>
          <p:cNvSpPr txBox="1"/>
          <p:nvPr/>
        </p:nvSpPr>
        <p:spPr>
          <a:xfrm>
            <a:off x="4969700" y="1790288"/>
            <a:ext cx="18837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100">
                <a:solidFill>
                  <a:schemeClr val="dk1"/>
                </a:solidFill>
                <a:highlight>
                  <a:schemeClr val="lt1"/>
                </a:highlight>
                <a:latin typeface="Roboto"/>
                <a:ea typeface="Roboto"/>
                <a:cs typeface="Roboto"/>
                <a:sym typeface="Roboto"/>
              </a:rPr>
              <a:t>Proveer a los administradores las herramientas para definir y configurar los KPIs, gráficos y la disposición del dashboard principal que verán los usuarios finales.</a:t>
            </a:r>
            <a:endParaRPr sz="1100">
              <a:solidFill>
                <a:schemeClr val="dk1"/>
              </a:solidFill>
              <a:highlight>
                <a:schemeClr val="lt1"/>
              </a:highlight>
              <a:latin typeface="Roboto"/>
              <a:ea typeface="Roboto"/>
              <a:cs typeface="Roboto"/>
              <a:sym typeface="Roboto"/>
            </a:endParaRPr>
          </a:p>
        </p:txBody>
      </p:sp>
      <p:sp>
        <p:nvSpPr>
          <p:cNvPr id="309" name="Google Shape;309;p31"/>
          <p:cNvSpPr txBox="1"/>
          <p:nvPr/>
        </p:nvSpPr>
        <p:spPr>
          <a:xfrm>
            <a:off x="7143200" y="1790288"/>
            <a:ext cx="18837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100">
                <a:solidFill>
                  <a:schemeClr val="dk1"/>
                </a:solidFill>
                <a:highlight>
                  <a:schemeClr val="lt1"/>
                </a:highlight>
                <a:latin typeface="Roboto"/>
                <a:ea typeface="Roboto"/>
                <a:cs typeface="Roboto"/>
                <a:sym typeface="Roboto"/>
              </a:rPr>
              <a:t>Presentar a los gerentes dashboards dinámicos que reflejen el estado más reciente de la producción, eliminando la latencia de los reportes manuales y permitiendo el análisis interactivo para la toma de decisiones oportunas.</a:t>
            </a:r>
            <a:endParaRPr sz="1100">
              <a:solidFill>
                <a:schemeClr val="dk1"/>
              </a:solidFill>
              <a:highlight>
                <a:schemeClr val="lt1"/>
              </a:highlight>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grpSp>
        <p:nvGrpSpPr>
          <p:cNvPr id="314" name="Google Shape;314;p32"/>
          <p:cNvGrpSpPr/>
          <p:nvPr/>
        </p:nvGrpSpPr>
        <p:grpSpPr>
          <a:xfrm>
            <a:off x="3978720" y="6840"/>
            <a:ext cx="5164200" cy="5143200"/>
            <a:chOff x="3978720" y="6840"/>
            <a:chExt cx="5164200" cy="5143200"/>
          </a:xfrm>
        </p:grpSpPr>
        <p:sp>
          <p:nvSpPr>
            <p:cNvPr id="315" name="Google Shape;315;p32"/>
            <p:cNvSpPr/>
            <p:nvPr/>
          </p:nvSpPr>
          <p:spPr>
            <a:xfrm flipH="1">
              <a:off x="3978720" y="6840"/>
              <a:ext cx="5164200" cy="51432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16" name="Google Shape;316;p32"/>
            <p:cNvSpPr/>
            <p:nvPr/>
          </p:nvSpPr>
          <p:spPr>
            <a:xfrm rot="-2699590">
              <a:off x="4520886" y="36474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17" name="Google Shape;317;p32"/>
            <p:cNvSpPr/>
            <p:nvPr/>
          </p:nvSpPr>
          <p:spPr>
            <a:xfrm rot="-2699590">
              <a:off x="7184166" y="22452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18" name="Google Shape;318;p32"/>
            <p:cNvSpPr/>
            <p:nvPr/>
          </p:nvSpPr>
          <p:spPr>
            <a:xfrm rot="-2699590">
              <a:off x="6716478" y="11666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19" name="Google Shape;319;p32"/>
            <p:cNvSpPr/>
            <p:nvPr/>
          </p:nvSpPr>
          <p:spPr>
            <a:xfrm rot="-2699590">
              <a:off x="5940318" y="35714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20" name="Google Shape;320;p32"/>
            <p:cNvSpPr/>
            <p:nvPr/>
          </p:nvSpPr>
          <p:spPr>
            <a:xfrm>
              <a:off x="6778080" y="2891160"/>
              <a:ext cx="1596300" cy="1596300"/>
            </a:xfrm>
            <a:prstGeom prst="ellipse">
              <a:avLst/>
            </a:prstGeom>
            <a:noFill/>
            <a:ln cap="flat" cmpd="sng" w="9525">
              <a:solidFill>
                <a:srgbClr val="F8F8F8"/>
              </a:solidFill>
              <a:prstDash val="lg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321" name="Google Shape;321;p32"/>
          <p:cNvSpPr txBox="1"/>
          <p:nvPr>
            <p:ph type="title"/>
          </p:nvPr>
        </p:nvSpPr>
        <p:spPr>
          <a:xfrm>
            <a:off x="318125" y="2121825"/>
            <a:ext cx="5164200" cy="551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Requisitos No Funcionales</a:t>
            </a:r>
            <a:endParaRPr b="1" sz="3200" u="none" strike="noStrike">
              <a:solidFill>
                <a:schemeClr val="dk1"/>
              </a:solidFill>
              <a:latin typeface="Roboto"/>
              <a:ea typeface="Roboto"/>
              <a:cs typeface="Roboto"/>
              <a:sym typeface="Roboto"/>
            </a:endParaRPr>
          </a:p>
        </p:txBody>
      </p:sp>
      <p:sp>
        <p:nvSpPr>
          <p:cNvPr id="322" name="Google Shape;322;p32"/>
          <p:cNvSpPr/>
          <p:nvPr/>
        </p:nvSpPr>
        <p:spPr>
          <a:xfrm>
            <a:off x="5397480" y="1055160"/>
            <a:ext cx="3033000" cy="3033000"/>
          </a:xfrm>
          <a:prstGeom prst="ellipse">
            <a:avLst/>
          </a:prstGeom>
          <a:blipFill rotWithShape="1">
            <a:blip r:embed="rId3">
              <a:alphaModFix/>
            </a:blip>
            <a:stretch>
              <a:fillRect b="0" l="0" r="0" t="0"/>
            </a:stretch>
          </a:blipFill>
          <a:ln cap="flat" cmpd="sng" w="38100">
            <a:solidFill>
              <a:srgbClr val="F8F8F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323" name="Google Shape;323;p32"/>
          <p:cNvGrpSpPr/>
          <p:nvPr/>
        </p:nvGrpSpPr>
        <p:grpSpPr>
          <a:xfrm>
            <a:off x="5405271" y="1044240"/>
            <a:ext cx="3160020" cy="3290700"/>
            <a:chOff x="5405271" y="1044240"/>
            <a:chExt cx="3160020" cy="3290700"/>
          </a:xfrm>
        </p:grpSpPr>
        <p:sp>
          <p:nvSpPr>
            <p:cNvPr id="324" name="Google Shape;324;p32"/>
            <p:cNvSpPr/>
            <p:nvPr/>
          </p:nvSpPr>
          <p:spPr>
            <a:xfrm rot="-2700000">
              <a:off x="7674867" y="13795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25" name="Google Shape;325;p32"/>
            <p:cNvSpPr/>
            <p:nvPr/>
          </p:nvSpPr>
          <p:spPr>
            <a:xfrm rot="-2700000">
              <a:off x="5299947" y="38851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326" name="Google Shape;326;p32"/>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327" name="Google Shape;327;p32"/>
          <p:cNvPicPr preferRelativeResize="0"/>
          <p:nvPr/>
        </p:nvPicPr>
        <p:blipFill>
          <a:blip r:embed="rId4">
            <a:alphaModFix/>
          </a:blip>
          <a:stretch>
            <a:fillRect/>
          </a:stretch>
        </p:blipFill>
        <p:spPr>
          <a:xfrm>
            <a:off x="1458700" y="393675"/>
            <a:ext cx="1937392" cy="17281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3"/>
          <p:cNvSpPr txBox="1"/>
          <p:nvPr>
            <p:ph idx="12" type="sldNum"/>
          </p:nvPr>
        </p:nvSpPr>
        <p:spPr>
          <a:xfrm>
            <a:off x="8547510"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333" name="Google Shape;333;p33"/>
          <p:cNvSpPr txBox="1"/>
          <p:nvPr>
            <p:ph type="title"/>
          </p:nvPr>
        </p:nvSpPr>
        <p:spPr>
          <a:xfrm>
            <a:off x="1825225" y="0"/>
            <a:ext cx="5108700" cy="551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Requisitos No Funcionales</a:t>
            </a:r>
            <a:endParaRPr b="1" sz="3200" u="none" strike="noStrike">
              <a:solidFill>
                <a:schemeClr val="dk1"/>
              </a:solidFill>
              <a:latin typeface="Roboto"/>
              <a:ea typeface="Roboto"/>
              <a:cs typeface="Roboto"/>
              <a:sym typeface="Roboto"/>
            </a:endParaRPr>
          </a:p>
        </p:txBody>
      </p:sp>
      <p:sp>
        <p:nvSpPr>
          <p:cNvPr id="334" name="Google Shape;334;p33"/>
          <p:cNvSpPr/>
          <p:nvPr/>
        </p:nvSpPr>
        <p:spPr>
          <a:xfrm>
            <a:off x="5638425" y="915200"/>
            <a:ext cx="3565800" cy="669000"/>
          </a:xfrm>
          <a:prstGeom prst="chevron">
            <a:avLst>
              <a:gd fmla="val 50000" name="adj"/>
            </a:avLst>
          </a:prstGeom>
          <a:solidFill>
            <a:srgbClr val="3D85C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FFFFFF"/>
                </a:solidFill>
                <a:latin typeface="Roboto"/>
                <a:ea typeface="Roboto"/>
                <a:cs typeface="Roboto"/>
                <a:sym typeface="Roboto"/>
              </a:rPr>
              <a:t>Usabilidad</a:t>
            </a:r>
            <a:endParaRPr b="1" sz="1300">
              <a:solidFill>
                <a:srgbClr val="FFFFFF"/>
              </a:solidFill>
              <a:latin typeface="Roboto"/>
              <a:ea typeface="Roboto"/>
              <a:cs typeface="Roboto"/>
              <a:sym typeface="Roboto"/>
            </a:endParaRPr>
          </a:p>
        </p:txBody>
      </p:sp>
      <p:grpSp>
        <p:nvGrpSpPr>
          <p:cNvPr id="335" name="Google Shape;335;p33"/>
          <p:cNvGrpSpPr/>
          <p:nvPr/>
        </p:nvGrpSpPr>
        <p:grpSpPr>
          <a:xfrm>
            <a:off x="0" y="915300"/>
            <a:ext cx="3565954" cy="3482825"/>
            <a:chOff x="0" y="1189994"/>
            <a:chExt cx="4841100" cy="3482825"/>
          </a:xfrm>
        </p:grpSpPr>
        <p:sp>
          <p:nvSpPr>
            <p:cNvPr id="336" name="Google Shape;336;p33"/>
            <p:cNvSpPr/>
            <p:nvPr/>
          </p:nvSpPr>
          <p:spPr>
            <a:xfrm>
              <a:off x="0" y="1189994"/>
              <a:ext cx="4841100" cy="669000"/>
            </a:xfrm>
            <a:prstGeom prst="homePlate">
              <a:avLst>
                <a:gd fmla="val 50000" name="adj"/>
              </a:avLst>
            </a:prstGeom>
            <a:solidFill>
              <a:srgbClr val="073763"/>
            </a:solidFill>
            <a:ln>
              <a:noFill/>
            </a:ln>
          </p:spPr>
          <p:txBody>
            <a:bodyPr anchorCtr="0" anchor="ctr" bIns="91425" lIns="91425" spcFirstLastPara="1" rIns="91425" wrap="square" tIns="91425">
              <a:noAutofit/>
            </a:bodyPr>
            <a:lstStyle/>
            <a:p>
              <a:pPr indent="0" lvl="0" marL="0" rtl="0" algn="ctr">
                <a:lnSpc>
                  <a:spcPct val="115000"/>
                </a:lnSpc>
                <a:spcBef>
                  <a:spcPts val="1200"/>
                </a:spcBef>
                <a:spcAft>
                  <a:spcPts val="1200"/>
                </a:spcAft>
                <a:buNone/>
              </a:pPr>
              <a:r>
                <a:rPr b="1" lang="en-US" sz="1300">
                  <a:solidFill>
                    <a:srgbClr val="FFFFFF"/>
                  </a:solidFill>
                  <a:latin typeface="Roboto"/>
                  <a:ea typeface="Roboto"/>
                  <a:cs typeface="Roboto"/>
                  <a:sym typeface="Roboto"/>
                </a:rPr>
                <a:t>Rendimiento</a:t>
              </a:r>
              <a:endParaRPr b="1" sz="1300">
                <a:solidFill>
                  <a:srgbClr val="FFFFFF"/>
                </a:solidFill>
                <a:latin typeface="Roboto"/>
                <a:ea typeface="Roboto"/>
                <a:cs typeface="Roboto"/>
                <a:sym typeface="Roboto"/>
              </a:endParaRPr>
            </a:p>
          </p:txBody>
        </p:sp>
        <p:sp>
          <p:nvSpPr>
            <p:cNvPr id="337" name="Google Shape;337;p33"/>
            <p:cNvSpPr txBox="1"/>
            <p:nvPr/>
          </p:nvSpPr>
          <p:spPr>
            <a:xfrm>
              <a:off x="412878" y="2057119"/>
              <a:ext cx="33450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050">
                  <a:solidFill>
                    <a:schemeClr val="dk1"/>
                  </a:solidFill>
                  <a:highlight>
                    <a:schemeClr val="lt1"/>
                  </a:highlight>
                  <a:latin typeface="Roboto"/>
                  <a:ea typeface="Roboto"/>
                  <a:cs typeface="Roboto"/>
                  <a:sym typeface="Roboto"/>
                </a:rPr>
                <a:t>Garantizar una experiencia fluida: Carga de dashboard en </a:t>
              </a:r>
              <a:r>
                <a:rPr b="1" lang="en-US" sz="1050">
                  <a:solidFill>
                    <a:schemeClr val="dk1"/>
                  </a:solidFill>
                  <a:highlight>
                    <a:schemeClr val="lt1"/>
                  </a:highlight>
                  <a:latin typeface="Roboto"/>
                  <a:ea typeface="Roboto"/>
                  <a:cs typeface="Roboto"/>
                  <a:sym typeface="Roboto"/>
                </a:rPr>
                <a:t>&lt; 3 segundos</a:t>
              </a:r>
              <a:r>
                <a:rPr lang="en-US" sz="1050">
                  <a:solidFill>
                    <a:schemeClr val="dk1"/>
                  </a:solidFill>
                  <a:highlight>
                    <a:schemeClr val="lt1"/>
                  </a:highlight>
                  <a:latin typeface="Roboto"/>
                  <a:ea typeface="Roboto"/>
                  <a:cs typeface="Roboto"/>
                  <a:sym typeface="Roboto"/>
                </a:rPr>
                <a:t> y aplicación de filtros en </a:t>
              </a:r>
              <a:r>
                <a:rPr b="1" lang="en-US" sz="1050">
                  <a:solidFill>
                    <a:schemeClr val="dk1"/>
                  </a:solidFill>
                  <a:highlight>
                    <a:schemeClr val="lt1"/>
                  </a:highlight>
                  <a:latin typeface="Roboto"/>
                  <a:ea typeface="Roboto"/>
                  <a:cs typeface="Roboto"/>
                  <a:sym typeface="Roboto"/>
                </a:rPr>
                <a:t>&lt; 2 segundos</a:t>
              </a:r>
              <a:r>
                <a:rPr lang="en-US" sz="1050">
                  <a:solidFill>
                    <a:schemeClr val="dk1"/>
                  </a:solidFill>
                  <a:highlight>
                    <a:schemeClr val="lt1"/>
                  </a:highlight>
                  <a:latin typeface="Roboto"/>
                  <a:ea typeface="Roboto"/>
                  <a:cs typeface="Roboto"/>
                  <a:sym typeface="Roboto"/>
                </a:rPr>
                <a:t> bajo carga simulada.</a:t>
              </a:r>
              <a:endParaRPr b="1" sz="1050">
                <a:solidFill>
                  <a:schemeClr val="dk1"/>
                </a:solidFill>
                <a:highlight>
                  <a:schemeClr val="lt1"/>
                </a:highlight>
                <a:latin typeface="Roboto"/>
                <a:ea typeface="Roboto"/>
                <a:cs typeface="Roboto"/>
                <a:sym typeface="Roboto"/>
              </a:endParaRPr>
            </a:p>
          </p:txBody>
        </p:sp>
      </p:grpSp>
      <p:sp>
        <p:nvSpPr>
          <p:cNvPr id="338" name="Google Shape;338;p33"/>
          <p:cNvSpPr/>
          <p:nvPr/>
        </p:nvSpPr>
        <p:spPr>
          <a:xfrm>
            <a:off x="2768050" y="915200"/>
            <a:ext cx="3440400" cy="669000"/>
          </a:xfrm>
          <a:prstGeom prst="chevron">
            <a:avLst>
              <a:gd fmla="val 50000" name="adj"/>
            </a:avLst>
          </a:prstGeom>
          <a:solidFill>
            <a:srgbClr val="0B539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FFFFFF"/>
                </a:solidFill>
                <a:latin typeface="Roboto"/>
                <a:ea typeface="Roboto"/>
                <a:cs typeface="Roboto"/>
                <a:sym typeface="Roboto"/>
              </a:rPr>
              <a:t>Seguridad</a:t>
            </a:r>
            <a:endParaRPr b="1" sz="1300">
              <a:solidFill>
                <a:srgbClr val="FFFFFF"/>
              </a:solidFill>
              <a:latin typeface="Roboto"/>
              <a:ea typeface="Roboto"/>
              <a:cs typeface="Roboto"/>
              <a:sym typeface="Roboto"/>
            </a:endParaRPr>
          </a:p>
        </p:txBody>
      </p:sp>
      <p:sp>
        <p:nvSpPr>
          <p:cNvPr id="339" name="Google Shape;339;p33"/>
          <p:cNvSpPr txBox="1"/>
          <p:nvPr/>
        </p:nvSpPr>
        <p:spPr>
          <a:xfrm>
            <a:off x="3256301" y="1782425"/>
            <a:ext cx="24639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050">
                <a:solidFill>
                  <a:schemeClr val="dk1"/>
                </a:solidFill>
                <a:highlight>
                  <a:schemeClr val="lt1"/>
                </a:highlight>
                <a:latin typeface="Roboto"/>
                <a:ea typeface="Roboto"/>
                <a:cs typeface="Roboto"/>
                <a:sym typeface="Roboto"/>
              </a:rPr>
              <a:t>Proteger el sistema: </a:t>
            </a:r>
            <a:r>
              <a:rPr b="1" lang="en-US" sz="1050">
                <a:solidFill>
                  <a:schemeClr val="dk1"/>
                </a:solidFill>
                <a:highlight>
                  <a:schemeClr val="lt1"/>
                </a:highlight>
                <a:latin typeface="Roboto"/>
                <a:ea typeface="Roboto"/>
                <a:cs typeface="Roboto"/>
                <a:sym typeface="Roboto"/>
              </a:rPr>
              <a:t>Cero vulnerabilidades críticas en dependencias</a:t>
            </a:r>
            <a:r>
              <a:rPr lang="en-US" sz="1050">
                <a:solidFill>
                  <a:schemeClr val="dk1"/>
                </a:solidFill>
                <a:highlight>
                  <a:schemeClr val="lt1"/>
                </a:highlight>
                <a:latin typeface="Roboto"/>
                <a:ea typeface="Roboto"/>
                <a:cs typeface="Roboto"/>
                <a:sym typeface="Roboto"/>
              </a:rPr>
              <a:t> y endpoints de administración inaccesibles para usuarios y roles no autorizados.</a:t>
            </a:r>
            <a:endParaRPr sz="1050">
              <a:solidFill>
                <a:schemeClr val="dk1"/>
              </a:solidFill>
              <a:highlight>
                <a:schemeClr val="lt1"/>
              </a:highlight>
              <a:latin typeface="Roboto"/>
              <a:ea typeface="Roboto"/>
              <a:cs typeface="Roboto"/>
              <a:sym typeface="Roboto"/>
            </a:endParaRPr>
          </a:p>
          <a:p>
            <a:pPr indent="0" lvl="0" marL="0" rtl="0" algn="l">
              <a:lnSpc>
                <a:spcPct val="115000"/>
              </a:lnSpc>
              <a:spcBef>
                <a:spcPts val="0"/>
              </a:spcBef>
              <a:spcAft>
                <a:spcPts val="0"/>
              </a:spcAft>
              <a:buNone/>
            </a:pPr>
            <a:r>
              <a:t/>
            </a:r>
            <a:endParaRPr sz="1050">
              <a:solidFill>
                <a:schemeClr val="dk1"/>
              </a:solidFill>
              <a:highlight>
                <a:schemeClr val="lt1"/>
              </a:highlight>
              <a:latin typeface="Roboto"/>
              <a:ea typeface="Roboto"/>
              <a:cs typeface="Roboto"/>
              <a:sym typeface="Roboto"/>
            </a:endParaRPr>
          </a:p>
        </p:txBody>
      </p:sp>
      <p:sp>
        <p:nvSpPr>
          <p:cNvPr id="340" name="Google Shape;340;p33"/>
          <p:cNvSpPr txBox="1"/>
          <p:nvPr/>
        </p:nvSpPr>
        <p:spPr>
          <a:xfrm>
            <a:off x="6189376" y="1782425"/>
            <a:ext cx="24639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050">
                <a:solidFill>
                  <a:schemeClr val="dk1"/>
                </a:solidFill>
                <a:highlight>
                  <a:schemeClr val="lt1"/>
                </a:highlight>
                <a:latin typeface="Roboto"/>
                <a:ea typeface="Roboto"/>
                <a:cs typeface="Roboto"/>
                <a:sym typeface="Roboto"/>
              </a:rPr>
              <a:t>Asegurar una interfaz intuitiva: Tasa de éxito de </a:t>
            </a:r>
            <a:r>
              <a:rPr b="1" lang="en-US" sz="1050">
                <a:solidFill>
                  <a:schemeClr val="dk1"/>
                </a:solidFill>
                <a:highlight>
                  <a:schemeClr val="lt1"/>
                </a:highlight>
                <a:latin typeface="Roboto"/>
                <a:ea typeface="Roboto"/>
                <a:cs typeface="Roboto"/>
                <a:sym typeface="Roboto"/>
              </a:rPr>
              <a:t>&gt;80% en tareas clave</a:t>
            </a:r>
            <a:r>
              <a:rPr lang="en-US" sz="1050">
                <a:solidFill>
                  <a:schemeClr val="dk1"/>
                </a:solidFill>
                <a:highlight>
                  <a:schemeClr val="lt1"/>
                </a:highlight>
                <a:latin typeface="Roboto"/>
                <a:ea typeface="Roboto"/>
                <a:cs typeface="Roboto"/>
                <a:sym typeface="Roboto"/>
              </a:rPr>
              <a:t> durante las pruebas de usuario (UAT) sin necesidad de asistencia.</a:t>
            </a:r>
            <a:endParaRPr sz="1050">
              <a:solidFill>
                <a:schemeClr val="dk1"/>
              </a:solidFill>
              <a:highlight>
                <a:schemeClr val="lt1"/>
              </a:highlight>
              <a:latin typeface="Roboto"/>
              <a:ea typeface="Roboto"/>
              <a:cs typeface="Roboto"/>
              <a:sym typeface="Roboto"/>
            </a:endParaRPr>
          </a:p>
        </p:txBody>
      </p:sp>
      <p:sp>
        <p:nvSpPr>
          <p:cNvPr id="341" name="Google Shape;341;p33"/>
          <p:cNvSpPr/>
          <p:nvPr/>
        </p:nvSpPr>
        <p:spPr>
          <a:xfrm>
            <a:off x="5638425" y="2892475"/>
            <a:ext cx="3565800" cy="669000"/>
          </a:xfrm>
          <a:prstGeom prst="chevron">
            <a:avLst>
              <a:gd fmla="val 50000" name="adj"/>
            </a:avLst>
          </a:prstGeom>
          <a:solidFill>
            <a:srgbClr val="3D85C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FFFFFF"/>
                </a:solidFill>
                <a:latin typeface="Roboto"/>
                <a:ea typeface="Roboto"/>
                <a:cs typeface="Roboto"/>
                <a:sym typeface="Roboto"/>
              </a:rPr>
              <a:t>Escalabilidad</a:t>
            </a:r>
            <a:endParaRPr b="1" sz="1300">
              <a:solidFill>
                <a:srgbClr val="FFFFFF"/>
              </a:solidFill>
              <a:latin typeface="Roboto"/>
              <a:ea typeface="Roboto"/>
              <a:cs typeface="Roboto"/>
              <a:sym typeface="Roboto"/>
            </a:endParaRPr>
          </a:p>
        </p:txBody>
      </p:sp>
      <p:grpSp>
        <p:nvGrpSpPr>
          <p:cNvPr id="342" name="Google Shape;342;p33"/>
          <p:cNvGrpSpPr/>
          <p:nvPr/>
        </p:nvGrpSpPr>
        <p:grpSpPr>
          <a:xfrm>
            <a:off x="0" y="2892575"/>
            <a:ext cx="3565954" cy="3482825"/>
            <a:chOff x="0" y="1189994"/>
            <a:chExt cx="4841100" cy="3482825"/>
          </a:xfrm>
        </p:grpSpPr>
        <p:sp>
          <p:nvSpPr>
            <p:cNvPr id="343" name="Google Shape;343;p33"/>
            <p:cNvSpPr/>
            <p:nvPr/>
          </p:nvSpPr>
          <p:spPr>
            <a:xfrm>
              <a:off x="0" y="1189994"/>
              <a:ext cx="4841100" cy="669000"/>
            </a:xfrm>
            <a:prstGeom prst="homePlate">
              <a:avLst>
                <a:gd fmla="val 50000" name="adj"/>
              </a:avLst>
            </a:prstGeom>
            <a:solidFill>
              <a:srgbClr val="073763"/>
            </a:solidFill>
            <a:ln>
              <a:noFill/>
            </a:ln>
          </p:spPr>
          <p:txBody>
            <a:bodyPr anchorCtr="0" anchor="ctr" bIns="91425" lIns="91425" spcFirstLastPara="1" rIns="91425" wrap="square" tIns="91425">
              <a:noAutofit/>
            </a:bodyPr>
            <a:lstStyle/>
            <a:p>
              <a:pPr indent="0" lvl="0" marL="0" rtl="0" algn="ctr">
                <a:lnSpc>
                  <a:spcPct val="115000"/>
                </a:lnSpc>
                <a:spcBef>
                  <a:spcPts val="1200"/>
                </a:spcBef>
                <a:spcAft>
                  <a:spcPts val="1200"/>
                </a:spcAft>
                <a:buNone/>
              </a:pPr>
              <a:r>
                <a:rPr b="1" lang="en-US" sz="1300">
                  <a:solidFill>
                    <a:srgbClr val="FFFFFF"/>
                  </a:solidFill>
                  <a:latin typeface="Roboto"/>
                  <a:ea typeface="Roboto"/>
                  <a:cs typeface="Roboto"/>
                  <a:sym typeface="Roboto"/>
                </a:rPr>
                <a:t>Fiabilidad</a:t>
              </a:r>
              <a:endParaRPr b="1" sz="1300">
                <a:solidFill>
                  <a:srgbClr val="FFFFFF"/>
                </a:solidFill>
                <a:latin typeface="Roboto"/>
                <a:ea typeface="Roboto"/>
                <a:cs typeface="Roboto"/>
                <a:sym typeface="Roboto"/>
              </a:endParaRPr>
            </a:p>
          </p:txBody>
        </p:sp>
        <p:sp>
          <p:nvSpPr>
            <p:cNvPr id="344" name="Google Shape;344;p33"/>
            <p:cNvSpPr txBox="1"/>
            <p:nvPr/>
          </p:nvSpPr>
          <p:spPr>
            <a:xfrm>
              <a:off x="412878" y="2057119"/>
              <a:ext cx="33450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050">
                  <a:solidFill>
                    <a:schemeClr val="dk1"/>
                  </a:solidFill>
                  <a:highlight>
                    <a:schemeClr val="lt1"/>
                  </a:highlight>
                  <a:latin typeface="Roboto"/>
                  <a:ea typeface="Roboto"/>
                  <a:cs typeface="Roboto"/>
                  <a:sym typeface="Roboto"/>
                </a:rPr>
                <a:t>Construir un sistema robusto: </a:t>
              </a:r>
              <a:r>
                <a:rPr b="1" lang="en-US" sz="1050">
                  <a:solidFill>
                    <a:schemeClr val="dk1"/>
                  </a:solidFill>
                  <a:highlight>
                    <a:schemeClr val="lt1"/>
                  </a:highlight>
                  <a:latin typeface="Roboto"/>
                  <a:ea typeface="Roboto"/>
                  <a:cs typeface="Roboto"/>
                  <a:sym typeface="Roboto"/>
                </a:rPr>
                <a:t>Rechazo del 100% de archivos CSV malformados</a:t>
              </a:r>
              <a:r>
                <a:rPr lang="en-US" sz="1050">
                  <a:solidFill>
                    <a:schemeClr val="dk1"/>
                  </a:solidFill>
                  <a:highlight>
                    <a:schemeClr val="lt1"/>
                  </a:highlight>
                  <a:latin typeface="Roboto"/>
                  <a:ea typeface="Roboto"/>
                  <a:cs typeface="Roboto"/>
                  <a:sym typeface="Roboto"/>
                </a:rPr>
                <a:t> durante la carga, con notificaciones de error claras y sin corrupción de datos.</a:t>
              </a:r>
              <a:endParaRPr b="1" sz="1050">
                <a:solidFill>
                  <a:schemeClr val="dk1"/>
                </a:solidFill>
                <a:highlight>
                  <a:schemeClr val="lt1"/>
                </a:highlight>
                <a:latin typeface="Roboto"/>
                <a:ea typeface="Roboto"/>
                <a:cs typeface="Roboto"/>
                <a:sym typeface="Roboto"/>
              </a:endParaRPr>
            </a:p>
          </p:txBody>
        </p:sp>
      </p:grpSp>
      <p:sp>
        <p:nvSpPr>
          <p:cNvPr id="345" name="Google Shape;345;p33"/>
          <p:cNvSpPr/>
          <p:nvPr/>
        </p:nvSpPr>
        <p:spPr>
          <a:xfrm>
            <a:off x="2768050" y="2892475"/>
            <a:ext cx="3440400" cy="669000"/>
          </a:xfrm>
          <a:prstGeom prst="chevron">
            <a:avLst>
              <a:gd fmla="val 50000" name="adj"/>
            </a:avLst>
          </a:prstGeom>
          <a:solidFill>
            <a:srgbClr val="0B539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FFFFFF"/>
                </a:solidFill>
                <a:latin typeface="Roboto"/>
                <a:ea typeface="Roboto"/>
                <a:cs typeface="Roboto"/>
                <a:sym typeface="Roboto"/>
              </a:rPr>
              <a:t>Compatibilidad</a:t>
            </a:r>
            <a:endParaRPr b="1" sz="1300">
              <a:solidFill>
                <a:srgbClr val="FFFFFF"/>
              </a:solidFill>
              <a:latin typeface="Roboto"/>
              <a:ea typeface="Roboto"/>
              <a:cs typeface="Roboto"/>
              <a:sym typeface="Roboto"/>
            </a:endParaRPr>
          </a:p>
        </p:txBody>
      </p:sp>
      <p:sp>
        <p:nvSpPr>
          <p:cNvPr id="346" name="Google Shape;346;p33"/>
          <p:cNvSpPr txBox="1"/>
          <p:nvPr/>
        </p:nvSpPr>
        <p:spPr>
          <a:xfrm>
            <a:off x="3256301" y="3759700"/>
            <a:ext cx="24639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050">
                <a:solidFill>
                  <a:schemeClr val="dk1"/>
                </a:solidFill>
                <a:highlight>
                  <a:schemeClr val="lt1"/>
                </a:highlight>
                <a:latin typeface="Roboto"/>
                <a:ea typeface="Roboto"/>
                <a:cs typeface="Roboto"/>
                <a:sym typeface="Roboto"/>
              </a:rPr>
              <a:t>Garantizar el acceso: 100% de funcionalidad en las últimas 2 versiones mayores de Chrome, Firefox y Edge para escritorio antes de la entrega.</a:t>
            </a:r>
            <a:endParaRPr sz="1050">
              <a:solidFill>
                <a:schemeClr val="dk1"/>
              </a:solidFill>
              <a:highlight>
                <a:schemeClr val="lt1"/>
              </a:highlight>
              <a:latin typeface="Roboto"/>
              <a:ea typeface="Roboto"/>
              <a:cs typeface="Roboto"/>
              <a:sym typeface="Roboto"/>
            </a:endParaRPr>
          </a:p>
        </p:txBody>
      </p:sp>
      <p:sp>
        <p:nvSpPr>
          <p:cNvPr id="347" name="Google Shape;347;p33"/>
          <p:cNvSpPr txBox="1"/>
          <p:nvPr/>
        </p:nvSpPr>
        <p:spPr>
          <a:xfrm>
            <a:off x="6189376" y="3759700"/>
            <a:ext cx="24639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050">
                <a:solidFill>
                  <a:schemeClr val="dk1"/>
                </a:solidFill>
                <a:highlight>
                  <a:schemeClr val="lt1"/>
                </a:highlight>
                <a:latin typeface="Roboto"/>
                <a:ea typeface="Roboto"/>
                <a:cs typeface="Roboto"/>
                <a:sym typeface="Roboto"/>
              </a:rPr>
              <a:t>Diseñar para el crecimiento: La arquitectura debe </a:t>
            </a:r>
            <a:r>
              <a:rPr b="1" lang="en-US" sz="1050">
                <a:solidFill>
                  <a:schemeClr val="dk1"/>
                </a:solidFill>
                <a:highlight>
                  <a:schemeClr val="lt1"/>
                </a:highlight>
                <a:latin typeface="Roboto"/>
                <a:ea typeface="Roboto"/>
                <a:cs typeface="Roboto"/>
                <a:sym typeface="Roboto"/>
              </a:rPr>
              <a:t>soportar 50 usuarios concurrentes</a:t>
            </a:r>
            <a:r>
              <a:rPr lang="en-US" sz="1050">
                <a:solidFill>
                  <a:schemeClr val="dk1"/>
                </a:solidFill>
                <a:highlight>
                  <a:schemeClr val="lt1"/>
                </a:highlight>
                <a:latin typeface="Roboto"/>
                <a:ea typeface="Roboto"/>
                <a:cs typeface="Roboto"/>
                <a:sym typeface="Roboto"/>
              </a:rPr>
              <a:t> y estar preparada para </a:t>
            </a:r>
            <a:r>
              <a:rPr b="1" lang="en-US" sz="1050">
                <a:solidFill>
                  <a:schemeClr val="dk1"/>
                </a:solidFill>
                <a:highlight>
                  <a:schemeClr val="lt1"/>
                </a:highlight>
                <a:latin typeface="Roboto"/>
                <a:ea typeface="Roboto"/>
                <a:cs typeface="Roboto"/>
                <a:sym typeface="Roboto"/>
              </a:rPr>
              <a:t>incorporar datos de múltiples plantas</a:t>
            </a:r>
            <a:r>
              <a:rPr lang="en-US" sz="1050">
                <a:solidFill>
                  <a:schemeClr val="dk1"/>
                </a:solidFill>
                <a:highlight>
                  <a:schemeClr val="lt1"/>
                </a:highlight>
                <a:latin typeface="Roboto"/>
                <a:ea typeface="Roboto"/>
                <a:cs typeface="Roboto"/>
                <a:sym typeface="Roboto"/>
              </a:rPr>
              <a:t> y sucursales sin requerir un rediseño fundamental.</a:t>
            </a:r>
            <a:endParaRPr sz="1050">
              <a:solidFill>
                <a:schemeClr val="dk1"/>
              </a:solidFill>
              <a:highlight>
                <a:schemeClr val="lt1"/>
              </a:highlight>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grpSp>
        <p:nvGrpSpPr>
          <p:cNvPr id="352" name="Google Shape;352;p34"/>
          <p:cNvGrpSpPr/>
          <p:nvPr/>
        </p:nvGrpSpPr>
        <p:grpSpPr>
          <a:xfrm>
            <a:off x="3978720" y="6840"/>
            <a:ext cx="5164200" cy="5143200"/>
            <a:chOff x="3978720" y="6840"/>
            <a:chExt cx="5164200" cy="5143200"/>
          </a:xfrm>
        </p:grpSpPr>
        <p:sp>
          <p:nvSpPr>
            <p:cNvPr id="353" name="Google Shape;353;p34"/>
            <p:cNvSpPr/>
            <p:nvPr/>
          </p:nvSpPr>
          <p:spPr>
            <a:xfrm flipH="1">
              <a:off x="3978720" y="6840"/>
              <a:ext cx="5164200" cy="51432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54" name="Google Shape;354;p34"/>
            <p:cNvSpPr/>
            <p:nvPr/>
          </p:nvSpPr>
          <p:spPr>
            <a:xfrm rot="-2699590">
              <a:off x="4520886" y="36474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55" name="Google Shape;355;p34"/>
            <p:cNvSpPr/>
            <p:nvPr/>
          </p:nvSpPr>
          <p:spPr>
            <a:xfrm rot="-2699590">
              <a:off x="7184166" y="22452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56" name="Google Shape;356;p34"/>
            <p:cNvSpPr/>
            <p:nvPr/>
          </p:nvSpPr>
          <p:spPr>
            <a:xfrm rot="-2699590">
              <a:off x="6716478" y="11666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57" name="Google Shape;357;p34"/>
            <p:cNvSpPr/>
            <p:nvPr/>
          </p:nvSpPr>
          <p:spPr>
            <a:xfrm rot="-2699590">
              <a:off x="5940318" y="35714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58" name="Google Shape;358;p34"/>
            <p:cNvSpPr/>
            <p:nvPr/>
          </p:nvSpPr>
          <p:spPr>
            <a:xfrm>
              <a:off x="6778080" y="2891160"/>
              <a:ext cx="1596300" cy="1596300"/>
            </a:xfrm>
            <a:prstGeom prst="ellipse">
              <a:avLst/>
            </a:prstGeom>
            <a:noFill/>
            <a:ln cap="flat" cmpd="sng" w="9525">
              <a:solidFill>
                <a:srgbClr val="F8F8F8"/>
              </a:solidFill>
              <a:prstDash val="lg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359" name="Google Shape;359;p34"/>
          <p:cNvSpPr txBox="1"/>
          <p:nvPr>
            <p:ph type="title"/>
          </p:nvPr>
        </p:nvSpPr>
        <p:spPr>
          <a:xfrm>
            <a:off x="733325" y="2121825"/>
            <a:ext cx="4749000" cy="551100"/>
          </a:xfrm>
          <a:prstGeom prst="rect">
            <a:avLst/>
          </a:prstGeom>
          <a:noFill/>
          <a:ln>
            <a:noFill/>
          </a:ln>
        </p:spPr>
        <p:txBody>
          <a:bodyPr anchorCtr="0" anchor="b"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100000"/>
              <a:buFont typeface="Archivo Black"/>
              <a:buNone/>
            </a:pPr>
            <a:r>
              <a:rPr b="1" lang="en-US" sz="3200">
                <a:solidFill>
                  <a:schemeClr val="dk1"/>
                </a:solidFill>
                <a:latin typeface="Roboto"/>
                <a:ea typeface="Roboto"/>
                <a:cs typeface="Roboto"/>
                <a:sym typeface="Roboto"/>
              </a:rPr>
              <a:t>Solución</a:t>
            </a:r>
            <a:endParaRPr b="1" sz="3200" u="none" strike="noStrike">
              <a:solidFill>
                <a:schemeClr val="dk1"/>
              </a:solidFill>
              <a:latin typeface="Roboto"/>
              <a:ea typeface="Roboto"/>
              <a:cs typeface="Roboto"/>
              <a:sym typeface="Roboto"/>
            </a:endParaRPr>
          </a:p>
        </p:txBody>
      </p:sp>
      <p:sp>
        <p:nvSpPr>
          <p:cNvPr id="360" name="Google Shape;360;p34"/>
          <p:cNvSpPr/>
          <p:nvPr/>
        </p:nvSpPr>
        <p:spPr>
          <a:xfrm>
            <a:off x="5397480" y="1055160"/>
            <a:ext cx="3033000" cy="3033000"/>
          </a:xfrm>
          <a:prstGeom prst="ellipse">
            <a:avLst/>
          </a:prstGeom>
          <a:blipFill rotWithShape="1">
            <a:blip r:embed="rId3">
              <a:alphaModFix/>
            </a:blip>
            <a:stretch>
              <a:fillRect b="0" l="0" r="0" t="0"/>
            </a:stretch>
          </a:blipFill>
          <a:ln cap="flat" cmpd="sng" w="38100">
            <a:solidFill>
              <a:srgbClr val="F8F8F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361" name="Google Shape;361;p34"/>
          <p:cNvGrpSpPr/>
          <p:nvPr/>
        </p:nvGrpSpPr>
        <p:grpSpPr>
          <a:xfrm>
            <a:off x="5405271" y="1044240"/>
            <a:ext cx="3160020" cy="3290700"/>
            <a:chOff x="5405271" y="1044240"/>
            <a:chExt cx="3160020" cy="3290700"/>
          </a:xfrm>
        </p:grpSpPr>
        <p:sp>
          <p:nvSpPr>
            <p:cNvPr id="362" name="Google Shape;362;p34"/>
            <p:cNvSpPr/>
            <p:nvPr/>
          </p:nvSpPr>
          <p:spPr>
            <a:xfrm rot="-2700000">
              <a:off x="7674867" y="13795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63" name="Google Shape;363;p34"/>
            <p:cNvSpPr/>
            <p:nvPr/>
          </p:nvSpPr>
          <p:spPr>
            <a:xfrm rot="-2700000">
              <a:off x="5299947" y="38851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364" name="Google Shape;364;p34"/>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365" name="Google Shape;365;p34"/>
          <p:cNvPicPr preferRelativeResize="0"/>
          <p:nvPr/>
        </p:nvPicPr>
        <p:blipFill>
          <a:blip r:embed="rId4">
            <a:alphaModFix/>
          </a:blip>
          <a:stretch>
            <a:fillRect/>
          </a:stretch>
        </p:blipFill>
        <p:spPr>
          <a:xfrm>
            <a:off x="2523400" y="1314488"/>
            <a:ext cx="2788534" cy="21657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35"/>
          <p:cNvSpPr/>
          <p:nvPr/>
        </p:nvSpPr>
        <p:spPr>
          <a:xfrm>
            <a:off x="831973" y="2762262"/>
            <a:ext cx="730500" cy="730500"/>
          </a:xfrm>
          <a:prstGeom prst="rtTriangle">
            <a:avLst/>
          </a:prstGeom>
          <a:solidFill>
            <a:srgbClr val="0E63F0"/>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sp>
        <p:nvSpPr>
          <p:cNvPr id="371" name="Google Shape;371;p35"/>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372" name="Google Shape;372;p35"/>
          <p:cNvSpPr txBox="1"/>
          <p:nvPr>
            <p:ph type="title"/>
          </p:nvPr>
        </p:nvSpPr>
        <p:spPr>
          <a:xfrm>
            <a:off x="56850" y="94950"/>
            <a:ext cx="7636200" cy="12819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SOLUCIÓN: </a:t>
            </a:r>
            <a:endParaRPr b="1" sz="3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Inteligencia Operacional Cambiaso (IOC)</a:t>
            </a:r>
            <a:endParaRPr b="1" sz="3200" u="none" strike="noStrike">
              <a:solidFill>
                <a:schemeClr val="dk1"/>
              </a:solidFill>
              <a:latin typeface="Roboto"/>
              <a:ea typeface="Roboto"/>
              <a:cs typeface="Roboto"/>
              <a:sym typeface="Roboto"/>
            </a:endParaRPr>
          </a:p>
        </p:txBody>
      </p:sp>
      <p:sp>
        <p:nvSpPr>
          <p:cNvPr id="373" name="Google Shape;373;p35"/>
          <p:cNvSpPr/>
          <p:nvPr/>
        </p:nvSpPr>
        <p:spPr>
          <a:xfrm>
            <a:off x="2647375" y="1683075"/>
            <a:ext cx="5270100" cy="325200"/>
          </a:xfrm>
          <a:prstGeom prst="rect">
            <a:avLst/>
          </a:prstGeom>
          <a:solidFill>
            <a:srgbClr val="073763"/>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ctr">
              <a:lnSpc>
                <a:spcPct val="115000"/>
              </a:lnSpc>
              <a:spcBef>
                <a:spcPts val="0"/>
              </a:spcBef>
              <a:spcAft>
                <a:spcPts val="0"/>
              </a:spcAft>
              <a:buNone/>
            </a:pPr>
            <a:r>
              <a:rPr lang="en-US" sz="1600">
                <a:solidFill>
                  <a:srgbClr val="FFFFFF"/>
                </a:solidFill>
                <a:latin typeface="Roboto"/>
                <a:ea typeface="Roboto"/>
                <a:cs typeface="Roboto"/>
                <a:sym typeface="Roboto"/>
              </a:rPr>
              <a:t>Descripción de la Capacidad</a:t>
            </a:r>
            <a:endParaRPr sz="1600">
              <a:solidFill>
                <a:srgbClr val="FFFFFF"/>
              </a:solidFill>
              <a:latin typeface="Roboto"/>
              <a:ea typeface="Roboto"/>
              <a:cs typeface="Roboto"/>
              <a:sym typeface="Roboto"/>
            </a:endParaRPr>
          </a:p>
        </p:txBody>
      </p:sp>
      <p:sp>
        <p:nvSpPr>
          <p:cNvPr id="374" name="Google Shape;374;p35"/>
          <p:cNvSpPr/>
          <p:nvPr/>
        </p:nvSpPr>
        <p:spPr>
          <a:xfrm>
            <a:off x="55826" y="1683076"/>
            <a:ext cx="2578800" cy="325200"/>
          </a:xfrm>
          <a:prstGeom prst="rect">
            <a:avLst/>
          </a:prstGeom>
          <a:solidFill>
            <a:srgbClr val="073763"/>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ctr">
              <a:spcBef>
                <a:spcPts val="0"/>
              </a:spcBef>
              <a:spcAft>
                <a:spcPts val="0"/>
              </a:spcAft>
              <a:buNone/>
            </a:pPr>
            <a:r>
              <a:rPr lang="en-US" sz="1616">
                <a:solidFill>
                  <a:schemeClr val="lt1"/>
                </a:solidFill>
                <a:latin typeface="Roboto"/>
                <a:ea typeface="Roboto"/>
                <a:cs typeface="Roboto"/>
                <a:sym typeface="Roboto"/>
              </a:rPr>
              <a:t>Pilar </a:t>
            </a:r>
            <a:endParaRPr sz="1616">
              <a:solidFill>
                <a:schemeClr val="lt1"/>
              </a:solidFill>
              <a:latin typeface="Roboto"/>
              <a:ea typeface="Roboto"/>
              <a:cs typeface="Roboto"/>
              <a:sym typeface="Roboto"/>
            </a:endParaRPr>
          </a:p>
        </p:txBody>
      </p:sp>
      <p:grpSp>
        <p:nvGrpSpPr>
          <p:cNvPr id="375" name="Google Shape;375;p35"/>
          <p:cNvGrpSpPr/>
          <p:nvPr/>
        </p:nvGrpSpPr>
        <p:grpSpPr>
          <a:xfrm>
            <a:off x="56831" y="2762255"/>
            <a:ext cx="7860586" cy="730497"/>
            <a:chOff x="943723" y="3783775"/>
            <a:chExt cx="7257489" cy="674450"/>
          </a:xfrm>
        </p:grpSpPr>
        <p:sp>
          <p:nvSpPr>
            <p:cNvPr id="376" name="Google Shape;376;p35"/>
            <p:cNvSpPr/>
            <p:nvPr/>
          </p:nvSpPr>
          <p:spPr>
            <a:xfrm>
              <a:off x="5373412" y="3783788"/>
              <a:ext cx="2827800" cy="674400"/>
            </a:xfrm>
            <a:prstGeom prst="rect">
              <a:avLst/>
            </a:prstGeom>
            <a:solidFill>
              <a:srgbClr val="073763"/>
            </a:solidFill>
            <a:ln>
              <a:noFill/>
            </a:ln>
            <a:effectLst>
              <a:outerShdw blurRad="61900" rotWithShape="0" algn="bl" dir="5400000" dist="20633">
                <a:srgbClr val="000000">
                  <a:alpha val="50000"/>
                </a:srgbClr>
              </a:outerShdw>
            </a:effectLst>
          </p:spPr>
          <p:txBody>
            <a:bodyPr anchorCtr="0" anchor="t" bIns="99025" lIns="99025" spcFirstLastPara="1" rIns="99025" wrap="square" tIns="99025">
              <a:noAutofit/>
            </a:bodyPr>
            <a:lstStyle/>
            <a:p>
              <a:pPr indent="0" lvl="0" marL="0" rtl="0" algn="l">
                <a:lnSpc>
                  <a:spcPct val="115000"/>
                </a:lnSpc>
                <a:spcBef>
                  <a:spcPts val="0"/>
                </a:spcBef>
                <a:spcAft>
                  <a:spcPts val="0"/>
                </a:spcAft>
                <a:buNone/>
              </a:pPr>
              <a:r>
                <a:rPr lang="en-US" sz="866">
                  <a:solidFill>
                    <a:srgbClr val="FFFFFF"/>
                  </a:solidFill>
                  <a:latin typeface="Roboto"/>
                  <a:ea typeface="Roboto"/>
                  <a:cs typeface="Roboto"/>
                  <a:sym typeface="Roboto"/>
                </a:rPr>
                <a:t>con dashboards interactivos y personalizables que presentan los KPIs (Indicadores Clave de Rendimiento) de forma gráfica e intuitiva, permitiendo un análisis dinámico y profundo.</a:t>
              </a:r>
              <a:endParaRPr sz="866">
                <a:solidFill>
                  <a:srgbClr val="FFFFFF"/>
                </a:solidFill>
                <a:latin typeface="Roboto"/>
                <a:ea typeface="Roboto"/>
                <a:cs typeface="Roboto"/>
                <a:sym typeface="Roboto"/>
              </a:endParaRPr>
            </a:p>
          </p:txBody>
        </p:sp>
        <p:sp>
          <p:nvSpPr>
            <p:cNvPr id="377" name="Google Shape;377;p35"/>
            <p:cNvSpPr/>
            <p:nvPr/>
          </p:nvSpPr>
          <p:spPr>
            <a:xfrm>
              <a:off x="943723" y="3783775"/>
              <a:ext cx="2379900" cy="674400"/>
            </a:xfrm>
            <a:prstGeom prst="rect">
              <a:avLst/>
            </a:prstGeom>
            <a:solidFill>
              <a:srgbClr val="073763"/>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sp>
          <p:nvSpPr>
            <p:cNvPr id="378" name="Google Shape;378;p35"/>
            <p:cNvSpPr/>
            <p:nvPr/>
          </p:nvSpPr>
          <p:spPr>
            <a:xfrm>
              <a:off x="943723" y="3783788"/>
              <a:ext cx="687600" cy="674400"/>
            </a:xfrm>
            <a:prstGeom prst="rtTriangle">
              <a:avLst/>
            </a:prstGeom>
            <a:solidFill>
              <a:srgbClr val="1C4587"/>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sp>
          <p:nvSpPr>
            <p:cNvPr id="379" name="Google Shape;379;p35"/>
            <p:cNvSpPr/>
            <p:nvPr/>
          </p:nvSpPr>
          <p:spPr>
            <a:xfrm>
              <a:off x="3335474" y="3783775"/>
              <a:ext cx="2025900" cy="674400"/>
            </a:xfrm>
            <a:prstGeom prst="rect">
              <a:avLst/>
            </a:prstGeom>
            <a:solidFill>
              <a:srgbClr val="073763"/>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sp>
          <p:nvSpPr>
            <p:cNvPr id="380" name="Google Shape;380;p35"/>
            <p:cNvSpPr/>
            <p:nvPr/>
          </p:nvSpPr>
          <p:spPr>
            <a:xfrm>
              <a:off x="1210848" y="3783832"/>
              <a:ext cx="425700" cy="409200"/>
            </a:xfrm>
            <a:prstGeom prst="rect">
              <a:avLst/>
            </a:prstGeom>
            <a:solidFill>
              <a:srgbClr val="073763"/>
            </a:solidFill>
            <a:ln>
              <a:noFill/>
            </a:ln>
          </p:spPr>
          <p:txBody>
            <a:bodyPr anchorCtr="0" anchor="b" bIns="99025" lIns="99025" spcFirstLastPara="1" rIns="99025" wrap="square" tIns="99025">
              <a:noAutofit/>
            </a:bodyPr>
            <a:lstStyle/>
            <a:p>
              <a:pPr indent="0" lvl="0" marL="0" rtl="0" algn="ctr">
                <a:spcBef>
                  <a:spcPts val="0"/>
                </a:spcBef>
                <a:spcAft>
                  <a:spcPts val="0"/>
                </a:spcAft>
                <a:buNone/>
              </a:pPr>
              <a:r>
                <a:rPr lang="en-US" sz="1732">
                  <a:solidFill>
                    <a:srgbClr val="FFFFFF"/>
                  </a:solidFill>
                  <a:latin typeface="Roboto"/>
                  <a:ea typeface="Roboto"/>
                  <a:cs typeface="Roboto"/>
                  <a:sym typeface="Roboto"/>
                </a:rPr>
                <a:t>2</a:t>
              </a:r>
              <a:endParaRPr sz="1732">
                <a:solidFill>
                  <a:srgbClr val="FFFFFF"/>
                </a:solidFill>
                <a:latin typeface="Roboto"/>
                <a:ea typeface="Roboto"/>
                <a:cs typeface="Roboto"/>
                <a:sym typeface="Roboto"/>
              </a:endParaRPr>
            </a:p>
          </p:txBody>
        </p:sp>
        <p:sp>
          <p:nvSpPr>
            <p:cNvPr id="381" name="Google Shape;381;p35"/>
            <p:cNvSpPr/>
            <p:nvPr/>
          </p:nvSpPr>
          <p:spPr>
            <a:xfrm>
              <a:off x="1704725" y="3783825"/>
              <a:ext cx="1488600" cy="674400"/>
            </a:xfrm>
            <a:prstGeom prst="rect">
              <a:avLst/>
            </a:prstGeom>
            <a:solidFill>
              <a:srgbClr val="073763"/>
            </a:solidFill>
            <a:ln>
              <a:noFill/>
            </a:ln>
          </p:spPr>
          <p:txBody>
            <a:bodyPr anchorCtr="0" anchor="t" bIns="99025" lIns="99025" spcFirstLastPara="1" rIns="99025" wrap="square" tIns="99025">
              <a:noAutofit/>
            </a:bodyPr>
            <a:lstStyle/>
            <a:p>
              <a:pPr indent="0" lvl="0" marL="0" rtl="0" algn="l">
                <a:spcBef>
                  <a:spcPts val="0"/>
                </a:spcBef>
                <a:spcAft>
                  <a:spcPts val="0"/>
                </a:spcAft>
                <a:buNone/>
              </a:pPr>
              <a:r>
                <a:rPr b="1" lang="en-US" sz="1299">
                  <a:solidFill>
                    <a:srgbClr val="FFFFFF"/>
                  </a:solidFill>
                  <a:latin typeface="Roboto"/>
                  <a:ea typeface="Roboto"/>
                  <a:cs typeface="Roboto"/>
                  <a:sym typeface="Roboto"/>
                </a:rPr>
                <a:t>VISUALIZACIÓN</a:t>
              </a:r>
              <a:endParaRPr b="1" sz="1299">
                <a:solidFill>
                  <a:srgbClr val="FFFFFF"/>
                </a:solidFill>
                <a:latin typeface="Roboto"/>
                <a:ea typeface="Roboto"/>
                <a:cs typeface="Roboto"/>
                <a:sym typeface="Roboto"/>
              </a:endParaRPr>
            </a:p>
          </p:txBody>
        </p:sp>
      </p:grpSp>
      <p:grpSp>
        <p:nvGrpSpPr>
          <p:cNvPr id="382" name="Google Shape;382;p35"/>
          <p:cNvGrpSpPr/>
          <p:nvPr/>
        </p:nvGrpSpPr>
        <p:grpSpPr>
          <a:xfrm>
            <a:off x="56831" y="3504477"/>
            <a:ext cx="7860586" cy="730497"/>
            <a:chOff x="943723" y="4469050"/>
            <a:chExt cx="7257489" cy="674450"/>
          </a:xfrm>
        </p:grpSpPr>
        <p:sp>
          <p:nvSpPr>
            <p:cNvPr id="383" name="Google Shape;383;p35"/>
            <p:cNvSpPr/>
            <p:nvPr/>
          </p:nvSpPr>
          <p:spPr>
            <a:xfrm>
              <a:off x="5373412" y="4469063"/>
              <a:ext cx="2827800" cy="674400"/>
            </a:xfrm>
            <a:prstGeom prst="rect">
              <a:avLst/>
            </a:prstGeom>
            <a:solidFill>
              <a:srgbClr val="073763"/>
            </a:solidFill>
            <a:ln>
              <a:noFill/>
            </a:ln>
            <a:effectLst>
              <a:outerShdw blurRad="61900" rotWithShape="0" algn="bl" dir="5400000" dist="20633">
                <a:srgbClr val="000000">
                  <a:alpha val="50000"/>
                </a:srgbClr>
              </a:outerShdw>
            </a:effectLst>
          </p:spPr>
          <p:txBody>
            <a:bodyPr anchorCtr="0" anchor="t" bIns="99025" lIns="99025" spcFirstLastPara="1" rIns="99025" wrap="square" tIns="99025">
              <a:noAutofit/>
            </a:bodyPr>
            <a:lstStyle/>
            <a:p>
              <a:pPr indent="0" lvl="0" marL="0" rtl="0" algn="l">
                <a:lnSpc>
                  <a:spcPct val="115000"/>
                </a:lnSpc>
                <a:spcBef>
                  <a:spcPts val="0"/>
                </a:spcBef>
                <a:spcAft>
                  <a:spcPts val="0"/>
                </a:spcAft>
                <a:buNone/>
              </a:pPr>
              <a:r>
                <a:rPr lang="en-US" sz="866">
                  <a:solidFill>
                    <a:srgbClr val="FFFFFF"/>
                  </a:solidFill>
                  <a:latin typeface="Roboto"/>
                  <a:ea typeface="Roboto"/>
                  <a:cs typeface="Roboto"/>
                  <a:sym typeface="Roboto"/>
                </a:rPr>
                <a:t>para la toma de decisiones ágil y basada en evidencia, reemplazando los reportes manuales y la latencia de información con acceso instantáneo a una visión operativa actualizada</a:t>
              </a:r>
              <a:endParaRPr sz="866">
                <a:solidFill>
                  <a:srgbClr val="FFFFFF"/>
                </a:solidFill>
                <a:latin typeface="Roboto"/>
                <a:ea typeface="Roboto"/>
                <a:cs typeface="Roboto"/>
                <a:sym typeface="Roboto"/>
              </a:endParaRPr>
            </a:p>
          </p:txBody>
        </p:sp>
        <p:sp>
          <p:nvSpPr>
            <p:cNvPr id="384" name="Google Shape;384;p35"/>
            <p:cNvSpPr/>
            <p:nvPr/>
          </p:nvSpPr>
          <p:spPr>
            <a:xfrm>
              <a:off x="943723" y="4469050"/>
              <a:ext cx="2379900" cy="674400"/>
            </a:xfrm>
            <a:prstGeom prst="rect">
              <a:avLst/>
            </a:prstGeom>
            <a:solidFill>
              <a:srgbClr val="073763"/>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sp>
          <p:nvSpPr>
            <p:cNvPr id="385" name="Google Shape;385;p35"/>
            <p:cNvSpPr/>
            <p:nvPr/>
          </p:nvSpPr>
          <p:spPr>
            <a:xfrm>
              <a:off x="943723" y="4469063"/>
              <a:ext cx="687600" cy="674400"/>
            </a:xfrm>
            <a:prstGeom prst="rtTriangle">
              <a:avLst/>
            </a:prstGeom>
            <a:solidFill>
              <a:srgbClr val="307AF3"/>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sp>
          <p:nvSpPr>
            <p:cNvPr id="386" name="Google Shape;386;p35"/>
            <p:cNvSpPr/>
            <p:nvPr/>
          </p:nvSpPr>
          <p:spPr>
            <a:xfrm>
              <a:off x="3335463" y="4469063"/>
              <a:ext cx="1007100" cy="674400"/>
            </a:xfrm>
            <a:prstGeom prst="rect">
              <a:avLst/>
            </a:prstGeom>
            <a:solidFill>
              <a:srgbClr val="0C57D3"/>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sp>
          <p:nvSpPr>
            <p:cNvPr id="387" name="Google Shape;387;p35"/>
            <p:cNvSpPr/>
            <p:nvPr/>
          </p:nvSpPr>
          <p:spPr>
            <a:xfrm>
              <a:off x="4354429" y="4469063"/>
              <a:ext cx="1007100" cy="674400"/>
            </a:xfrm>
            <a:prstGeom prst="rect">
              <a:avLst/>
            </a:prstGeom>
            <a:solidFill>
              <a:srgbClr val="0C57D3"/>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sp>
          <p:nvSpPr>
            <p:cNvPr id="388" name="Google Shape;388;p35"/>
            <p:cNvSpPr/>
            <p:nvPr/>
          </p:nvSpPr>
          <p:spPr>
            <a:xfrm>
              <a:off x="1210848" y="4469107"/>
              <a:ext cx="425700" cy="409200"/>
            </a:xfrm>
            <a:prstGeom prst="rect">
              <a:avLst/>
            </a:prstGeom>
            <a:noFill/>
            <a:ln>
              <a:noFill/>
            </a:ln>
            <a:effectLst>
              <a:outerShdw blurRad="61900" rotWithShape="0" algn="bl" dir="5400000" dist="20633">
                <a:srgbClr val="000000">
                  <a:alpha val="50000"/>
                </a:srgbClr>
              </a:outerShdw>
            </a:effectLst>
          </p:spPr>
          <p:txBody>
            <a:bodyPr anchorCtr="0" anchor="b" bIns="99025" lIns="99025" spcFirstLastPara="1" rIns="99025" wrap="square" tIns="99025">
              <a:noAutofit/>
            </a:bodyPr>
            <a:lstStyle/>
            <a:p>
              <a:pPr indent="0" lvl="0" marL="0" rtl="0" algn="ctr">
                <a:spcBef>
                  <a:spcPts val="0"/>
                </a:spcBef>
                <a:spcAft>
                  <a:spcPts val="0"/>
                </a:spcAft>
                <a:buNone/>
              </a:pPr>
              <a:r>
                <a:rPr lang="en-US" sz="1732">
                  <a:solidFill>
                    <a:srgbClr val="FFFFFF"/>
                  </a:solidFill>
                  <a:latin typeface="Roboto"/>
                  <a:ea typeface="Roboto"/>
                  <a:cs typeface="Roboto"/>
                  <a:sym typeface="Roboto"/>
                </a:rPr>
                <a:t>3</a:t>
              </a:r>
              <a:endParaRPr sz="1732">
                <a:solidFill>
                  <a:srgbClr val="FFFFFF"/>
                </a:solidFill>
                <a:latin typeface="Roboto"/>
                <a:ea typeface="Roboto"/>
                <a:cs typeface="Roboto"/>
                <a:sym typeface="Roboto"/>
              </a:endParaRPr>
            </a:p>
          </p:txBody>
        </p:sp>
        <p:sp>
          <p:nvSpPr>
            <p:cNvPr id="389" name="Google Shape;389;p35"/>
            <p:cNvSpPr/>
            <p:nvPr/>
          </p:nvSpPr>
          <p:spPr>
            <a:xfrm rot="-2700000">
              <a:off x="4705031" y="4706942"/>
              <a:ext cx="305894" cy="116673"/>
            </a:xfrm>
            <a:prstGeom prst="corner">
              <a:avLst>
                <a:gd fmla="val 18804" name="adj1"/>
                <a:gd fmla="val 18145" name="adj2"/>
              </a:avLst>
            </a:prstGeom>
            <a:solidFill>
              <a:srgbClr val="FFFFFF"/>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sp>
          <p:nvSpPr>
            <p:cNvPr id="390" name="Google Shape;390;p35"/>
            <p:cNvSpPr/>
            <p:nvPr/>
          </p:nvSpPr>
          <p:spPr>
            <a:xfrm>
              <a:off x="3633813" y="4601063"/>
              <a:ext cx="410400" cy="410400"/>
            </a:xfrm>
            <a:prstGeom prst="mathMultiply">
              <a:avLst>
                <a:gd fmla="val 5080" name="adj1"/>
              </a:avLst>
            </a:prstGeom>
            <a:solidFill>
              <a:srgbClr val="FFFFFF"/>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sp>
          <p:nvSpPr>
            <p:cNvPr id="391" name="Google Shape;391;p35"/>
            <p:cNvSpPr/>
            <p:nvPr/>
          </p:nvSpPr>
          <p:spPr>
            <a:xfrm>
              <a:off x="1704725" y="4469100"/>
              <a:ext cx="1488600" cy="674400"/>
            </a:xfrm>
            <a:prstGeom prst="rect">
              <a:avLst/>
            </a:prstGeom>
            <a:noFill/>
            <a:ln>
              <a:noFill/>
            </a:ln>
            <a:effectLst>
              <a:outerShdw blurRad="61900" rotWithShape="0" algn="bl" dir="5400000" dist="20633">
                <a:srgbClr val="000000">
                  <a:alpha val="50000"/>
                </a:srgbClr>
              </a:outerShdw>
            </a:effectLst>
          </p:spPr>
          <p:txBody>
            <a:bodyPr anchorCtr="0" anchor="t" bIns="99025" lIns="99025" spcFirstLastPara="1" rIns="99025" wrap="square" tIns="99025">
              <a:noAutofit/>
            </a:bodyPr>
            <a:lstStyle/>
            <a:p>
              <a:pPr indent="0" lvl="0" marL="0" rtl="0" algn="l">
                <a:spcBef>
                  <a:spcPts val="0"/>
                </a:spcBef>
                <a:spcAft>
                  <a:spcPts val="0"/>
                </a:spcAft>
                <a:buNone/>
              </a:pPr>
              <a:r>
                <a:rPr b="1" lang="en-US" sz="1299">
                  <a:solidFill>
                    <a:srgbClr val="FFFFFF"/>
                  </a:solidFill>
                  <a:latin typeface="Roboto"/>
                  <a:ea typeface="Roboto"/>
                  <a:cs typeface="Roboto"/>
                  <a:sym typeface="Roboto"/>
                </a:rPr>
                <a:t>DECISIÓN</a:t>
              </a:r>
              <a:endParaRPr b="1" sz="1299">
                <a:solidFill>
                  <a:srgbClr val="FFFFFF"/>
                </a:solidFill>
                <a:latin typeface="Roboto"/>
                <a:ea typeface="Roboto"/>
                <a:cs typeface="Roboto"/>
                <a:sym typeface="Roboto"/>
              </a:endParaRPr>
            </a:p>
          </p:txBody>
        </p:sp>
      </p:grpSp>
      <p:sp>
        <p:nvSpPr>
          <p:cNvPr id="392" name="Google Shape;392;p35"/>
          <p:cNvSpPr txBox="1"/>
          <p:nvPr/>
        </p:nvSpPr>
        <p:spPr>
          <a:xfrm>
            <a:off x="2647375" y="2762373"/>
            <a:ext cx="2194200" cy="600300"/>
          </a:xfrm>
          <a:prstGeom prst="rect">
            <a:avLst/>
          </a:prstGeom>
          <a:solidFill>
            <a:srgbClr val="073763"/>
          </a:solidFill>
          <a:ln>
            <a:noFill/>
          </a:ln>
        </p:spPr>
        <p:txBody>
          <a:bodyPr anchorCtr="0" anchor="t" bIns="99025" lIns="99025" spcFirstLastPara="1" rIns="99025" wrap="square" tIns="99025">
            <a:spAutoFit/>
          </a:bodyPr>
          <a:lstStyle/>
          <a:p>
            <a:pPr indent="0" lvl="0" marL="0" rtl="0" algn="l">
              <a:spcBef>
                <a:spcPts val="0"/>
              </a:spcBef>
              <a:spcAft>
                <a:spcPts val="0"/>
              </a:spcAft>
              <a:buNone/>
            </a:pPr>
            <a:r>
              <a:rPr lang="en-US" sz="1299">
                <a:solidFill>
                  <a:schemeClr val="lt1"/>
                </a:solidFill>
                <a:latin typeface="Roboto"/>
                <a:ea typeface="Roboto"/>
                <a:cs typeface="Roboto"/>
                <a:sym typeface="Roboto"/>
              </a:rPr>
              <a:t>Desarrollamos una</a:t>
            </a:r>
            <a:r>
              <a:rPr lang="en-US" sz="1299">
                <a:solidFill>
                  <a:schemeClr val="lt1"/>
                </a:solidFill>
                <a:latin typeface="Roboto"/>
                <a:ea typeface="Roboto"/>
                <a:cs typeface="Roboto"/>
                <a:sym typeface="Roboto"/>
              </a:rPr>
              <a:t> </a:t>
            </a:r>
            <a:r>
              <a:rPr lang="en-US" sz="1299">
                <a:solidFill>
                  <a:schemeClr val="lt1"/>
                </a:solidFill>
                <a:latin typeface="Roboto"/>
                <a:ea typeface="Roboto"/>
                <a:cs typeface="Roboto"/>
                <a:sym typeface="Roboto"/>
              </a:rPr>
              <a:t>plataforma web</a:t>
            </a:r>
            <a:endParaRPr sz="1299">
              <a:latin typeface="Roboto"/>
              <a:ea typeface="Roboto"/>
              <a:cs typeface="Roboto"/>
              <a:sym typeface="Roboto"/>
            </a:endParaRPr>
          </a:p>
        </p:txBody>
      </p:sp>
      <p:sp>
        <p:nvSpPr>
          <p:cNvPr id="393" name="Google Shape;393;p35"/>
          <p:cNvSpPr/>
          <p:nvPr/>
        </p:nvSpPr>
        <p:spPr>
          <a:xfrm>
            <a:off x="2647381" y="3504506"/>
            <a:ext cx="2194200" cy="730500"/>
          </a:xfrm>
          <a:prstGeom prst="rect">
            <a:avLst/>
          </a:prstGeom>
          <a:solidFill>
            <a:srgbClr val="073763"/>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rPr lang="en-US" sz="1299">
                <a:solidFill>
                  <a:schemeClr val="lt1"/>
                </a:solidFill>
              </a:rPr>
              <a:t>Entregaremos a la gerencia una herramienta segura </a:t>
            </a:r>
            <a:endParaRPr sz="1299">
              <a:solidFill>
                <a:schemeClr val="lt1"/>
              </a:solidFill>
            </a:endParaRPr>
          </a:p>
        </p:txBody>
      </p:sp>
      <p:grpSp>
        <p:nvGrpSpPr>
          <p:cNvPr id="394" name="Google Shape;394;p35"/>
          <p:cNvGrpSpPr/>
          <p:nvPr/>
        </p:nvGrpSpPr>
        <p:grpSpPr>
          <a:xfrm>
            <a:off x="7952743" y="2020088"/>
            <a:ext cx="795810" cy="730443"/>
            <a:chOff x="4354411" y="3098513"/>
            <a:chExt cx="1007100" cy="674400"/>
          </a:xfrm>
        </p:grpSpPr>
        <p:sp>
          <p:nvSpPr>
            <p:cNvPr id="395" name="Google Shape;395;p35"/>
            <p:cNvSpPr/>
            <p:nvPr/>
          </p:nvSpPr>
          <p:spPr>
            <a:xfrm>
              <a:off x="4354411" y="3098513"/>
              <a:ext cx="1007100" cy="674400"/>
            </a:xfrm>
            <a:prstGeom prst="rect">
              <a:avLst/>
            </a:prstGeom>
            <a:solidFill>
              <a:srgbClr val="073763"/>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sp>
          <p:nvSpPr>
            <p:cNvPr id="396" name="Google Shape;396;p35"/>
            <p:cNvSpPr/>
            <p:nvPr/>
          </p:nvSpPr>
          <p:spPr>
            <a:xfrm rot="-2700000">
              <a:off x="4705031" y="3336392"/>
              <a:ext cx="305894" cy="116673"/>
            </a:xfrm>
            <a:prstGeom prst="corner">
              <a:avLst>
                <a:gd fmla="val 18804" name="adj1"/>
                <a:gd fmla="val 18145" name="adj2"/>
              </a:avLst>
            </a:prstGeom>
            <a:solidFill>
              <a:srgbClr val="FFFFFF"/>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grpSp>
      <p:grpSp>
        <p:nvGrpSpPr>
          <p:cNvPr id="397" name="Google Shape;397;p35"/>
          <p:cNvGrpSpPr/>
          <p:nvPr/>
        </p:nvGrpSpPr>
        <p:grpSpPr>
          <a:xfrm>
            <a:off x="7952743" y="2762305"/>
            <a:ext cx="795810" cy="730443"/>
            <a:chOff x="4354411" y="3098513"/>
            <a:chExt cx="1007100" cy="674400"/>
          </a:xfrm>
        </p:grpSpPr>
        <p:sp>
          <p:nvSpPr>
            <p:cNvPr id="398" name="Google Shape;398;p35"/>
            <p:cNvSpPr/>
            <p:nvPr/>
          </p:nvSpPr>
          <p:spPr>
            <a:xfrm>
              <a:off x="4354411" y="3098513"/>
              <a:ext cx="1007100" cy="674400"/>
            </a:xfrm>
            <a:prstGeom prst="rect">
              <a:avLst/>
            </a:prstGeom>
            <a:solidFill>
              <a:srgbClr val="073763"/>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sp>
          <p:nvSpPr>
            <p:cNvPr id="399" name="Google Shape;399;p35"/>
            <p:cNvSpPr/>
            <p:nvPr/>
          </p:nvSpPr>
          <p:spPr>
            <a:xfrm rot="-2700000">
              <a:off x="4705031" y="3336392"/>
              <a:ext cx="305894" cy="116673"/>
            </a:xfrm>
            <a:prstGeom prst="corner">
              <a:avLst>
                <a:gd fmla="val 18804" name="adj1"/>
                <a:gd fmla="val 18145" name="adj2"/>
              </a:avLst>
            </a:prstGeom>
            <a:solidFill>
              <a:srgbClr val="FFFFFF"/>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grpSp>
      <p:grpSp>
        <p:nvGrpSpPr>
          <p:cNvPr id="400" name="Google Shape;400;p35"/>
          <p:cNvGrpSpPr/>
          <p:nvPr/>
        </p:nvGrpSpPr>
        <p:grpSpPr>
          <a:xfrm>
            <a:off x="7952743" y="3504521"/>
            <a:ext cx="795810" cy="730443"/>
            <a:chOff x="4354411" y="3098513"/>
            <a:chExt cx="1007100" cy="674400"/>
          </a:xfrm>
        </p:grpSpPr>
        <p:sp>
          <p:nvSpPr>
            <p:cNvPr id="401" name="Google Shape;401;p35"/>
            <p:cNvSpPr/>
            <p:nvPr/>
          </p:nvSpPr>
          <p:spPr>
            <a:xfrm>
              <a:off x="4354411" y="3098513"/>
              <a:ext cx="1007100" cy="674400"/>
            </a:xfrm>
            <a:prstGeom prst="rect">
              <a:avLst/>
            </a:prstGeom>
            <a:solidFill>
              <a:srgbClr val="073763"/>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sp>
          <p:nvSpPr>
            <p:cNvPr id="402" name="Google Shape;402;p35"/>
            <p:cNvSpPr/>
            <p:nvPr/>
          </p:nvSpPr>
          <p:spPr>
            <a:xfrm rot="-2700000">
              <a:off x="4705031" y="3336392"/>
              <a:ext cx="305894" cy="116673"/>
            </a:xfrm>
            <a:prstGeom prst="corner">
              <a:avLst>
                <a:gd fmla="val 18804" name="adj1"/>
                <a:gd fmla="val 18145" name="adj2"/>
              </a:avLst>
            </a:prstGeom>
            <a:solidFill>
              <a:srgbClr val="FFFFFF"/>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grpSp>
      <p:sp>
        <p:nvSpPr>
          <p:cNvPr id="403" name="Google Shape;403;p35"/>
          <p:cNvSpPr/>
          <p:nvPr/>
        </p:nvSpPr>
        <p:spPr>
          <a:xfrm>
            <a:off x="831973" y="2020012"/>
            <a:ext cx="730500" cy="730500"/>
          </a:xfrm>
          <a:prstGeom prst="rtTriangle">
            <a:avLst/>
          </a:prstGeom>
          <a:solidFill>
            <a:srgbClr val="0E63F0"/>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sp>
        <p:nvSpPr>
          <p:cNvPr id="404" name="Google Shape;404;p35"/>
          <p:cNvSpPr/>
          <p:nvPr/>
        </p:nvSpPr>
        <p:spPr>
          <a:xfrm>
            <a:off x="56856" y="2762265"/>
            <a:ext cx="744600" cy="730500"/>
          </a:xfrm>
          <a:prstGeom prst="rtTriangle">
            <a:avLst/>
          </a:prstGeom>
          <a:solidFill>
            <a:srgbClr val="307AF3"/>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grpSp>
        <p:nvGrpSpPr>
          <p:cNvPr id="405" name="Google Shape;405;p35"/>
          <p:cNvGrpSpPr/>
          <p:nvPr/>
        </p:nvGrpSpPr>
        <p:grpSpPr>
          <a:xfrm>
            <a:off x="56844" y="2020061"/>
            <a:ext cx="7860586" cy="730497"/>
            <a:chOff x="943723" y="3098500"/>
            <a:chExt cx="7257489" cy="674450"/>
          </a:xfrm>
        </p:grpSpPr>
        <p:sp>
          <p:nvSpPr>
            <p:cNvPr id="406" name="Google Shape;406;p35"/>
            <p:cNvSpPr/>
            <p:nvPr/>
          </p:nvSpPr>
          <p:spPr>
            <a:xfrm>
              <a:off x="943723" y="3098500"/>
              <a:ext cx="2379900" cy="674400"/>
            </a:xfrm>
            <a:prstGeom prst="rect">
              <a:avLst/>
            </a:prstGeom>
            <a:solidFill>
              <a:srgbClr val="073763"/>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sp>
          <p:nvSpPr>
            <p:cNvPr id="407" name="Google Shape;407;p35"/>
            <p:cNvSpPr/>
            <p:nvPr/>
          </p:nvSpPr>
          <p:spPr>
            <a:xfrm>
              <a:off x="943723" y="3098513"/>
              <a:ext cx="687600" cy="674400"/>
            </a:xfrm>
            <a:prstGeom prst="rtTriangle">
              <a:avLst/>
            </a:prstGeom>
            <a:solidFill>
              <a:srgbClr val="307AF3"/>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sp>
          <p:nvSpPr>
            <p:cNvPr id="408" name="Google Shape;408;p35"/>
            <p:cNvSpPr/>
            <p:nvPr/>
          </p:nvSpPr>
          <p:spPr>
            <a:xfrm>
              <a:off x="1210848" y="3098557"/>
              <a:ext cx="425700" cy="409200"/>
            </a:xfrm>
            <a:prstGeom prst="rect">
              <a:avLst/>
            </a:prstGeom>
            <a:noFill/>
            <a:ln>
              <a:noFill/>
            </a:ln>
            <a:effectLst>
              <a:outerShdw blurRad="61900" rotWithShape="0" algn="bl" dir="5400000" dist="20633">
                <a:srgbClr val="000000">
                  <a:alpha val="50000"/>
                </a:srgbClr>
              </a:outerShdw>
            </a:effectLst>
          </p:spPr>
          <p:txBody>
            <a:bodyPr anchorCtr="0" anchor="b" bIns="99025" lIns="99025" spcFirstLastPara="1" rIns="99025" wrap="square" tIns="99025">
              <a:noAutofit/>
            </a:bodyPr>
            <a:lstStyle/>
            <a:p>
              <a:pPr indent="0" lvl="0" marL="0" rtl="0" algn="ctr">
                <a:spcBef>
                  <a:spcPts val="0"/>
                </a:spcBef>
                <a:spcAft>
                  <a:spcPts val="0"/>
                </a:spcAft>
                <a:buNone/>
              </a:pPr>
              <a:r>
                <a:rPr lang="en-US" sz="1732">
                  <a:solidFill>
                    <a:srgbClr val="FFFFFF"/>
                  </a:solidFill>
                  <a:latin typeface="Roboto"/>
                  <a:ea typeface="Roboto"/>
                  <a:cs typeface="Roboto"/>
                  <a:sym typeface="Roboto"/>
                </a:rPr>
                <a:t>1</a:t>
              </a:r>
              <a:endParaRPr sz="1732">
                <a:solidFill>
                  <a:srgbClr val="FFFFFF"/>
                </a:solidFill>
                <a:latin typeface="Roboto"/>
                <a:ea typeface="Roboto"/>
                <a:cs typeface="Roboto"/>
                <a:sym typeface="Roboto"/>
              </a:endParaRPr>
            </a:p>
          </p:txBody>
        </p:sp>
        <p:sp>
          <p:nvSpPr>
            <p:cNvPr id="409" name="Google Shape;409;p35"/>
            <p:cNvSpPr/>
            <p:nvPr/>
          </p:nvSpPr>
          <p:spPr>
            <a:xfrm rot="-2700000">
              <a:off x="4705031" y="3336392"/>
              <a:ext cx="305894" cy="116673"/>
            </a:xfrm>
            <a:prstGeom prst="corner">
              <a:avLst>
                <a:gd fmla="val 18804" name="adj1"/>
                <a:gd fmla="val 18145" name="adj2"/>
              </a:avLst>
            </a:prstGeom>
            <a:solidFill>
              <a:srgbClr val="FFFFFF"/>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sp>
          <p:nvSpPr>
            <p:cNvPr id="410" name="Google Shape;410;p35"/>
            <p:cNvSpPr/>
            <p:nvPr/>
          </p:nvSpPr>
          <p:spPr>
            <a:xfrm>
              <a:off x="3633813" y="3230513"/>
              <a:ext cx="410400" cy="410400"/>
            </a:xfrm>
            <a:prstGeom prst="mathMultiply">
              <a:avLst>
                <a:gd fmla="val 5080" name="adj1"/>
              </a:avLst>
            </a:prstGeom>
            <a:solidFill>
              <a:srgbClr val="FFFFFF"/>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t/>
              </a:r>
              <a:endParaRPr/>
            </a:p>
          </p:txBody>
        </p:sp>
        <p:sp>
          <p:nvSpPr>
            <p:cNvPr id="411" name="Google Shape;411;p35"/>
            <p:cNvSpPr/>
            <p:nvPr/>
          </p:nvSpPr>
          <p:spPr>
            <a:xfrm>
              <a:off x="3335475" y="3098500"/>
              <a:ext cx="2025900" cy="674400"/>
            </a:xfrm>
            <a:prstGeom prst="rect">
              <a:avLst/>
            </a:prstGeom>
            <a:solidFill>
              <a:srgbClr val="073763"/>
            </a:solidFill>
            <a:ln>
              <a:noFill/>
            </a:ln>
            <a:effectLst>
              <a:outerShdw blurRad="61900" rotWithShape="0" algn="bl" dir="5400000" dist="20633">
                <a:srgbClr val="000000">
                  <a:alpha val="50000"/>
                </a:srgbClr>
              </a:outerShdw>
            </a:effectLst>
          </p:spPr>
          <p:txBody>
            <a:bodyPr anchorCtr="0" anchor="ctr" bIns="99025" lIns="99025" spcFirstLastPara="1" rIns="99025" wrap="square" tIns="99025">
              <a:noAutofit/>
            </a:bodyPr>
            <a:lstStyle/>
            <a:p>
              <a:pPr indent="0" lvl="0" marL="0" rtl="0" algn="l">
                <a:spcBef>
                  <a:spcPts val="0"/>
                </a:spcBef>
                <a:spcAft>
                  <a:spcPts val="0"/>
                </a:spcAft>
                <a:buNone/>
              </a:pPr>
              <a:r>
                <a:rPr lang="en-US" sz="1299">
                  <a:solidFill>
                    <a:schemeClr val="lt1"/>
                  </a:solidFill>
                  <a:latin typeface="Roboto"/>
                  <a:ea typeface="Roboto"/>
                  <a:cs typeface="Roboto"/>
                  <a:sym typeface="Roboto"/>
                </a:rPr>
                <a:t>Implementaremos</a:t>
              </a:r>
              <a:endParaRPr sz="1299">
                <a:solidFill>
                  <a:schemeClr val="lt1"/>
                </a:solidFill>
                <a:latin typeface="Roboto"/>
                <a:ea typeface="Roboto"/>
                <a:cs typeface="Roboto"/>
                <a:sym typeface="Roboto"/>
              </a:endParaRPr>
            </a:p>
          </p:txBody>
        </p:sp>
        <p:sp>
          <p:nvSpPr>
            <p:cNvPr id="412" name="Google Shape;412;p35"/>
            <p:cNvSpPr/>
            <p:nvPr/>
          </p:nvSpPr>
          <p:spPr>
            <a:xfrm>
              <a:off x="5373412" y="3098513"/>
              <a:ext cx="2827800" cy="674400"/>
            </a:xfrm>
            <a:prstGeom prst="rect">
              <a:avLst/>
            </a:prstGeom>
            <a:solidFill>
              <a:srgbClr val="073763"/>
            </a:solidFill>
            <a:ln>
              <a:noFill/>
            </a:ln>
            <a:effectLst>
              <a:outerShdw blurRad="61900" rotWithShape="0" algn="bl" dir="5400000" dist="20633">
                <a:srgbClr val="000000">
                  <a:alpha val="50000"/>
                </a:srgbClr>
              </a:outerShdw>
            </a:effectLst>
          </p:spPr>
          <p:txBody>
            <a:bodyPr anchorCtr="0" anchor="t" bIns="99025" lIns="99025" spcFirstLastPara="1" rIns="99025" wrap="square" tIns="99025">
              <a:noAutofit/>
            </a:bodyPr>
            <a:lstStyle/>
            <a:p>
              <a:pPr indent="0" lvl="0" marL="0" rtl="0" algn="l">
                <a:lnSpc>
                  <a:spcPct val="115000"/>
                </a:lnSpc>
                <a:spcBef>
                  <a:spcPts val="0"/>
                </a:spcBef>
                <a:spcAft>
                  <a:spcPts val="0"/>
                </a:spcAft>
                <a:buNone/>
              </a:pPr>
              <a:r>
                <a:rPr lang="en-US" sz="900">
                  <a:solidFill>
                    <a:srgbClr val="FFFFFF"/>
                  </a:solidFill>
                  <a:latin typeface="Roboto"/>
                  <a:ea typeface="Roboto"/>
                  <a:cs typeface="Roboto"/>
                  <a:sym typeface="Roboto"/>
                </a:rPr>
                <a:t>un proceso ETL (Extracción, Transformación y Carga) que unifica los datos de producción de SAP en una única fuente de verdad, eliminando las inconsistencias y la fragmentación de la información.</a:t>
              </a:r>
              <a:endParaRPr sz="900">
                <a:solidFill>
                  <a:srgbClr val="FFFFFF"/>
                </a:solidFill>
                <a:latin typeface="Roboto"/>
                <a:ea typeface="Roboto"/>
                <a:cs typeface="Roboto"/>
                <a:sym typeface="Roboto"/>
              </a:endParaRPr>
            </a:p>
          </p:txBody>
        </p:sp>
        <p:sp>
          <p:nvSpPr>
            <p:cNvPr id="413" name="Google Shape;413;p35"/>
            <p:cNvSpPr/>
            <p:nvPr/>
          </p:nvSpPr>
          <p:spPr>
            <a:xfrm>
              <a:off x="1704725" y="3098550"/>
              <a:ext cx="1488600" cy="674400"/>
            </a:xfrm>
            <a:prstGeom prst="rect">
              <a:avLst/>
            </a:prstGeom>
            <a:noFill/>
            <a:ln>
              <a:noFill/>
            </a:ln>
            <a:effectLst>
              <a:outerShdw blurRad="61900" rotWithShape="0" algn="bl" dir="5400000" dist="20633">
                <a:srgbClr val="000000">
                  <a:alpha val="50000"/>
                </a:srgbClr>
              </a:outerShdw>
            </a:effectLst>
          </p:spPr>
          <p:txBody>
            <a:bodyPr anchorCtr="0" anchor="t" bIns="99025" lIns="99025" spcFirstLastPara="1" rIns="99025" wrap="square" tIns="99025">
              <a:noAutofit/>
            </a:bodyPr>
            <a:lstStyle/>
            <a:p>
              <a:pPr indent="0" lvl="0" marL="0" rtl="0" algn="l">
                <a:spcBef>
                  <a:spcPts val="0"/>
                </a:spcBef>
                <a:spcAft>
                  <a:spcPts val="0"/>
                </a:spcAft>
                <a:buNone/>
              </a:pPr>
              <a:r>
                <a:rPr b="1" lang="en-US" sz="1299">
                  <a:solidFill>
                    <a:srgbClr val="FFFFFF"/>
                  </a:solidFill>
                  <a:latin typeface="Roboto"/>
                  <a:ea typeface="Roboto"/>
                  <a:cs typeface="Roboto"/>
                  <a:sym typeface="Roboto"/>
                </a:rPr>
                <a:t>CENTRALIZACIÓN</a:t>
              </a:r>
              <a:endParaRPr b="1" sz="1299">
                <a:solidFill>
                  <a:srgbClr val="FFFFFF"/>
                </a:solidFill>
                <a:latin typeface="Roboto"/>
                <a:ea typeface="Roboto"/>
                <a:cs typeface="Roboto"/>
                <a:sym typeface="Roboto"/>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grpSp>
        <p:nvGrpSpPr>
          <p:cNvPr id="418" name="Google Shape;418;p36"/>
          <p:cNvGrpSpPr/>
          <p:nvPr/>
        </p:nvGrpSpPr>
        <p:grpSpPr>
          <a:xfrm>
            <a:off x="3978720" y="6840"/>
            <a:ext cx="5164200" cy="5143200"/>
            <a:chOff x="3978720" y="6840"/>
            <a:chExt cx="5164200" cy="5143200"/>
          </a:xfrm>
        </p:grpSpPr>
        <p:sp>
          <p:nvSpPr>
            <p:cNvPr id="419" name="Google Shape;419;p36"/>
            <p:cNvSpPr/>
            <p:nvPr/>
          </p:nvSpPr>
          <p:spPr>
            <a:xfrm flipH="1">
              <a:off x="3978720" y="6840"/>
              <a:ext cx="5164200" cy="51432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20" name="Google Shape;420;p36"/>
            <p:cNvSpPr/>
            <p:nvPr/>
          </p:nvSpPr>
          <p:spPr>
            <a:xfrm rot="-2699590">
              <a:off x="4520886" y="36474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21" name="Google Shape;421;p36"/>
            <p:cNvSpPr/>
            <p:nvPr/>
          </p:nvSpPr>
          <p:spPr>
            <a:xfrm rot="-2699590">
              <a:off x="7184166" y="22452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22" name="Google Shape;422;p36"/>
            <p:cNvSpPr/>
            <p:nvPr/>
          </p:nvSpPr>
          <p:spPr>
            <a:xfrm rot="-2699590">
              <a:off x="6716478" y="11666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23" name="Google Shape;423;p36"/>
            <p:cNvSpPr/>
            <p:nvPr/>
          </p:nvSpPr>
          <p:spPr>
            <a:xfrm rot="-2699590">
              <a:off x="5940318" y="35714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24" name="Google Shape;424;p36"/>
            <p:cNvSpPr/>
            <p:nvPr/>
          </p:nvSpPr>
          <p:spPr>
            <a:xfrm>
              <a:off x="6778080" y="2891160"/>
              <a:ext cx="1596300" cy="1596300"/>
            </a:xfrm>
            <a:prstGeom prst="ellipse">
              <a:avLst/>
            </a:prstGeom>
            <a:noFill/>
            <a:ln cap="flat" cmpd="sng" w="9525">
              <a:solidFill>
                <a:srgbClr val="F8F8F8"/>
              </a:solidFill>
              <a:prstDash val="lg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425" name="Google Shape;425;p36"/>
          <p:cNvSpPr txBox="1"/>
          <p:nvPr>
            <p:ph type="title"/>
          </p:nvPr>
        </p:nvSpPr>
        <p:spPr>
          <a:xfrm>
            <a:off x="733325" y="2121825"/>
            <a:ext cx="4749000" cy="551100"/>
          </a:xfrm>
          <a:prstGeom prst="rect">
            <a:avLst/>
          </a:prstGeom>
          <a:noFill/>
          <a:ln>
            <a:noFill/>
          </a:ln>
        </p:spPr>
        <p:txBody>
          <a:bodyPr anchorCtr="0" anchor="b"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100000"/>
              <a:buFont typeface="Archivo Black"/>
              <a:buNone/>
            </a:pPr>
            <a:r>
              <a:rPr b="1" lang="en-US" sz="3200">
                <a:solidFill>
                  <a:schemeClr val="dk1"/>
                </a:solidFill>
                <a:latin typeface="Roboto"/>
                <a:ea typeface="Roboto"/>
                <a:cs typeface="Roboto"/>
                <a:sym typeface="Roboto"/>
              </a:rPr>
              <a:t>Arquitectura</a:t>
            </a:r>
            <a:endParaRPr b="1" sz="3200" u="none" strike="noStrike">
              <a:solidFill>
                <a:schemeClr val="dk1"/>
              </a:solidFill>
              <a:latin typeface="Roboto"/>
              <a:ea typeface="Roboto"/>
              <a:cs typeface="Roboto"/>
              <a:sym typeface="Roboto"/>
            </a:endParaRPr>
          </a:p>
        </p:txBody>
      </p:sp>
      <p:sp>
        <p:nvSpPr>
          <p:cNvPr id="426" name="Google Shape;426;p36"/>
          <p:cNvSpPr/>
          <p:nvPr/>
        </p:nvSpPr>
        <p:spPr>
          <a:xfrm>
            <a:off x="5397480" y="1055160"/>
            <a:ext cx="3033000" cy="3033000"/>
          </a:xfrm>
          <a:prstGeom prst="ellipse">
            <a:avLst/>
          </a:prstGeom>
          <a:blipFill rotWithShape="1">
            <a:blip r:embed="rId3">
              <a:alphaModFix/>
            </a:blip>
            <a:stretch>
              <a:fillRect b="0" l="0" r="0" t="0"/>
            </a:stretch>
          </a:blipFill>
          <a:ln cap="flat" cmpd="sng" w="38100">
            <a:solidFill>
              <a:srgbClr val="F8F8F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427" name="Google Shape;427;p36"/>
          <p:cNvGrpSpPr/>
          <p:nvPr/>
        </p:nvGrpSpPr>
        <p:grpSpPr>
          <a:xfrm>
            <a:off x="5405271" y="1044240"/>
            <a:ext cx="3160020" cy="3290700"/>
            <a:chOff x="5405271" y="1044240"/>
            <a:chExt cx="3160020" cy="3290700"/>
          </a:xfrm>
        </p:grpSpPr>
        <p:sp>
          <p:nvSpPr>
            <p:cNvPr id="428" name="Google Shape;428;p36"/>
            <p:cNvSpPr/>
            <p:nvPr/>
          </p:nvSpPr>
          <p:spPr>
            <a:xfrm rot="-2700000">
              <a:off x="7674867" y="13795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29" name="Google Shape;429;p36"/>
            <p:cNvSpPr/>
            <p:nvPr/>
          </p:nvSpPr>
          <p:spPr>
            <a:xfrm rot="-2700000">
              <a:off x="5299947" y="38851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430" name="Google Shape;430;p36"/>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37"/>
          <p:cNvSpPr txBox="1"/>
          <p:nvPr>
            <p:ph type="title"/>
          </p:nvPr>
        </p:nvSpPr>
        <p:spPr>
          <a:xfrm>
            <a:off x="167400" y="153650"/>
            <a:ext cx="7010700" cy="8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3200">
                <a:latin typeface="Roboto"/>
                <a:ea typeface="Roboto"/>
                <a:cs typeface="Roboto"/>
                <a:sym typeface="Roboto"/>
              </a:rPr>
              <a:t>Arquitectura</a:t>
            </a:r>
            <a:endParaRPr b="1" sz="3200">
              <a:latin typeface="Roboto"/>
              <a:ea typeface="Roboto"/>
              <a:cs typeface="Roboto"/>
              <a:sym typeface="Roboto"/>
            </a:endParaRPr>
          </a:p>
        </p:txBody>
      </p:sp>
      <p:sp>
        <p:nvSpPr>
          <p:cNvPr id="436" name="Google Shape;436;p37"/>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437" name="Google Shape;437;p37" title="04.-diagrama_arquitectura.png"/>
          <p:cNvPicPr preferRelativeResize="0"/>
          <p:nvPr/>
        </p:nvPicPr>
        <p:blipFill>
          <a:blip r:embed="rId3">
            <a:alphaModFix/>
          </a:blip>
          <a:stretch>
            <a:fillRect/>
          </a:stretch>
        </p:blipFill>
        <p:spPr>
          <a:xfrm>
            <a:off x="906080" y="636625"/>
            <a:ext cx="7331840" cy="38702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grpSp>
        <p:nvGrpSpPr>
          <p:cNvPr id="442" name="Google Shape;442;p38"/>
          <p:cNvGrpSpPr/>
          <p:nvPr/>
        </p:nvGrpSpPr>
        <p:grpSpPr>
          <a:xfrm>
            <a:off x="3978720" y="6840"/>
            <a:ext cx="5164200" cy="5143200"/>
            <a:chOff x="3978720" y="6840"/>
            <a:chExt cx="5164200" cy="5143200"/>
          </a:xfrm>
        </p:grpSpPr>
        <p:sp>
          <p:nvSpPr>
            <p:cNvPr id="443" name="Google Shape;443;p38"/>
            <p:cNvSpPr/>
            <p:nvPr/>
          </p:nvSpPr>
          <p:spPr>
            <a:xfrm flipH="1">
              <a:off x="3978720" y="6840"/>
              <a:ext cx="5164200" cy="51432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44" name="Google Shape;444;p38"/>
            <p:cNvSpPr/>
            <p:nvPr/>
          </p:nvSpPr>
          <p:spPr>
            <a:xfrm rot="-2699590">
              <a:off x="4520886" y="36474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45" name="Google Shape;445;p38"/>
            <p:cNvSpPr/>
            <p:nvPr/>
          </p:nvSpPr>
          <p:spPr>
            <a:xfrm rot="-2699590">
              <a:off x="7184166" y="22452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46" name="Google Shape;446;p38"/>
            <p:cNvSpPr/>
            <p:nvPr/>
          </p:nvSpPr>
          <p:spPr>
            <a:xfrm rot="-2699590">
              <a:off x="6716478" y="11666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47" name="Google Shape;447;p38"/>
            <p:cNvSpPr/>
            <p:nvPr/>
          </p:nvSpPr>
          <p:spPr>
            <a:xfrm rot="-2699590">
              <a:off x="5940318" y="35714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48" name="Google Shape;448;p38"/>
            <p:cNvSpPr/>
            <p:nvPr/>
          </p:nvSpPr>
          <p:spPr>
            <a:xfrm>
              <a:off x="6778080" y="2891160"/>
              <a:ext cx="1596300" cy="1596300"/>
            </a:xfrm>
            <a:prstGeom prst="ellipse">
              <a:avLst/>
            </a:prstGeom>
            <a:noFill/>
            <a:ln cap="flat" cmpd="sng" w="9525">
              <a:solidFill>
                <a:srgbClr val="F8F8F8"/>
              </a:solidFill>
              <a:prstDash val="lg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449" name="Google Shape;449;p38"/>
          <p:cNvSpPr/>
          <p:nvPr/>
        </p:nvSpPr>
        <p:spPr>
          <a:xfrm>
            <a:off x="5397480" y="1055160"/>
            <a:ext cx="3033000" cy="3033000"/>
          </a:xfrm>
          <a:prstGeom prst="ellipse">
            <a:avLst/>
          </a:prstGeom>
          <a:blipFill rotWithShape="1">
            <a:blip r:embed="rId3">
              <a:alphaModFix/>
            </a:blip>
            <a:stretch>
              <a:fillRect b="0" l="0" r="0" t="0"/>
            </a:stretch>
          </a:blipFill>
          <a:ln cap="flat" cmpd="sng" w="38100">
            <a:solidFill>
              <a:srgbClr val="F8F8F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450" name="Google Shape;450;p38"/>
          <p:cNvGrpSpPr/>
          <p:nvPr/>
        </p:nvGrpSpPr>
        <p:grpSpPr>
          <a:xfrm>
            <a:off x="5405271" y="1044240"/>
            <a:ext cx="3160020" cy="3290700"/>
            <a:chOff x="5405271" y="1044240"/>
            <a:chExt cx="3160020" cy="3290700"/>
          </a:xfrm>
        </p:grpSpPr>
        <p:sp>
          <p:nvSpPr>
            <p:cNvPr id="451" name="Google Shape;451;p38"/>
            <p:cNvSpPr/>
            <p:nvPr/>
          </p:nvSpPr>
          <p:spPr>
            <a:xfrm rot="-2700000">
              <a:off x="7674867" y="13795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52" name="Google Shape;452;p38"/>
            <p:cNvSpPr/>
            <p:nvPr/>
          </p:nvSpPr>
          <p:spPr>
            <a:xfrm rot="-2700000">
              <a:off x="5299947" y="38851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453" name="Google Shape;453;p38"/>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454" name="Google Shape;454;p38"/>
          <p:cNvSpPr txBox="1"/>
          <p:nvPr>
            <p:ph type="title"/>
          </p:nvPr>
        </p:nvSpPr>
        <p:spPr>
          <a:xfrm>
            <a:off x="346028" y="1948375"/>
            <a:ext cx="6990900" cy="818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Metodología</a:t>
            </a:r>
            <a:endParaRPr b="1" sz="3200" u="none" strike="noStrike">
              <a:solidFill>
                <a:schemeClr val="dk1"/>
              </a:solidFill>
              <a:latin typeface="Roboto"/>
              <a:ea typeface="Roboto"/>
              <a:cs typeface="Roboto"/>
              <a:sym typeface="Roboto"/>
            </a:endParaRPr>
          </a:p>
        </p:txBody>
      </p:sp>
      <p:pic>
        <p:nvPicPr>
          <p:cNvPr id="455" name="Google Shape;455;p38"/>
          <p:cNvPicPr preferRelativeResize="0"/>
          <p:nvPr/>
        </p:nvPicPr>
        <p:blipFill>
          <a:blip r:embed="rId4">
            <a:alphaModFix/>
          </a:blip>
          <a:stretch>
            <a:fillRect/>
          </a:stretch>
        </p:blipFill>
        <p:spPr>
          <a:xfrm>
            <a:off x="2961800" y="1321913"/>
            <a:ext cx="2228125" cy="207162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39"/>
          <p:cNvSpPr txBox="1"/>
          <p:nvPr>
            <p:ph idx="1" type="body"/>
          </p:nvPr>
        </p:nvSpPr>
        <p:spPr>
          <a:xfrm>
            <a:off x="157075" y="1511975"/>
            <a:ext cx="8655900" cy="35610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1200"/>
              </a:spcBef>
              <a:spcAft>
                <a:spcPts val="0"/>
              </a:spcAft>
              <a:buNone/>
            </a:pPr>
            <a:r>
              <a:rPr lang="en-US" sz="1400">
                <a:solidFill>
                  <a:srgbClr val="000000"/>
                </a:solidFill>
              </a:rPr>
              <a:t>Para el proyecto "</a:t>
            </a:r>
            <a:r>
              <a:rPr lang="en-US" sz="1400">
                <a:solidFill>
                  <a:srgbClr val="000000"/>
                </a:solidFill>
              </a:rPr>
              <a:t>Inteligencia</a:t>
            </a:r>
            <a:r>
              <a:rPr lang="en-US" sz="1400">
                <a:solidFill>
                  <a:srgbClr val="000000"/>
                </a:solidFill>
              </a:rPr>
              <a:t> Operacional Cambiaso (IOC)", se usará una</a:t>
            </a:r>
            <a:endParaRPr sz="1400">
              <a:solidFill>
                <a:srgbClr val="000000"/>
              </a:solidFill>
            </a:endParaRPr>
          </a:p>
          <a:p>
            <a:pPr indent="0" lvl="0" marL="0" rtl="0" algn="l">
              <a:spcBef>
                <a:spcPts val="1200"/>
              </a:spcBef>
              <a:spcAft>
                <a:spcPts val="0"/>
              </a:spcAft>
              <a:buNone/>
            </a:pPr>
            <a:r>
              <a:rPr lang="en-US" sz="1400">
                <a:solidFill>
                  <a:srgbClr val="000000"/>
                </a:solidFill>
              </a:rPr>
              <a:t>m</a:t>
            </a:r>
            <a:r>
              <a:rPr lang="en-US" sz="1400">
                <a:solidFill>
                  <a:srgbClr val="000000"/>
                </a:solidFill>
              </a:rPr>
              <a:t>etodología ágil</a:t>
            </a:r>
            <a:r>
              <a:rPr b="1" lang="en-US" sz="1400">
                <a:solidFill>
                  <a:srgbClr val="000000"/>
                </a:solidFill>
              </a:rPr>
              <a:t> Scrum</a:t>
            </a:r>
            <a:r>
              <a:rPr lang="en-US" sz="1400">
                <a:solidFill>
                  <a:srgbClr val="000000"/>
                </a:solidFill>
              </a:rPr>
              <a:t> y complementado con un tablero </a:t>
            </a:r>
            <a:r>
              <a:rPr b="1" lang="en-US" sz="1400">
                <a:solidFill>
                  <a:srgbClr val="000000"/>
                </a:solidFill>
              </a:rPr>
              <a:t>Kanban</a:t>
            </a:r>
            <a:r>
              <a:rPr lang="en-US" sz="1400">
                <a:solidFill>
                  <a:srgbClr val="000000"/>
                </a:solidFill>
              </a:rPr>
              <a:t>.</a:t>
            </a:r>
            <a:endParaRPr sz="1400">
              <a:solidFill>
                <a:srgbClr val="000000"/>
              </a:solidFill>
            </a:endParaRPr>
          </a:p>
          <a:p>
            <a:pPr indent="-317500" lvl="0" marL="457200" rtl="0" algn="l">
              <a:spcBef>
                <a:spcPts val="1200"/>
              </a:spcBef>
              <a:spcAft>
                <a:spcPts val="0"/>
              </a:spcAft>
              <a:buClr>
                <a:srgbClr val="000000"/>
              </a:buClr>
              <a:buSzPts val="1400"/>
              <a:buFont typeface="Arial"/>
              <a:buChar char="●"/>
            </a:pPr>
            <a:r>
              <a:rPr b="1" lang="en-US" sz="1400">
                <a:solidFill>
                  <a:srgbClr val="000000"/>
                </a:solidFill>
              </a:rPr>
              <a:t>Scrum:</a:t>
            </a:r>
            <a:r>
              <a:rPr lang="en-US" sz="1400">
                <a:solidFill>
                  <a:srgbClr val="000000"/>
                </a:solidFill>
              </a:rPr>
              <a:t>  podremos dividir el proyecto en ciclos de trabajo cortos , lo que permite entregar avances funcionales de forma regular, adaptarnos a cambios y gestionar riesgos rápidamente.</a:t>
            </a:r>
            <a:endParaRPr sz="1400">
              <a:solidFill>
                <a:srgbClr val="000000"/>
              </a:solidFill>
            </a:endParaRPr>
          </a:p>
          <a:p>
            <a:pPr indent="-317500" lvl="0" marL="457200" rtl="0" algn="l">
              <a:spcBef>
                <a:spcPts val="0"/>
              </a:spcBef>
              <a:spcAft>
                <a:spcPts val="0"/>
              </a:spcAft>
              <a:buClr>
                <a:srgbClr val="000000"/>
              </a:buClr>
              <a:buSzPts val="1400"/>
              <a:buFont typeface="Arial"/>
              <a:buChar char="●"/>
            </a:pPr>
            <a:r>
              <a:rPr b="1" lang="en-US" sz="1400">
                <a:solidFill>
                  <a:srgbClr val="000000"/>
                </a:solidFill>
              </a:rPr>
              <a:t>Kanban:</a:t>
            </a:r>
            <a:r>
              <a:rPr lang="en-US" sz="1400">
                <a:solidFill>
                  <a:srgbClr val="000000"/>
                </a:solidFill>
              </a:rPr>
              <a:t> </a:t>
            </a:r>
            <a:r>
              <a:rPr lang="en-US" sz="1400">
                <a:solidFill>
                  <a:srgbClr val="000000"/>
                </a:solidFill>
              </a:rPr>
              <a:t>visualizamos</a:t>
            </a:r>
            <a:r>
              <a:rPr lang="en-US" sz="1400">
                <a:solidFill>
                  <a:srgbClr val="000000"/>
                </a:solidFill>
              </a:rPr>
              <a:t> las tareas dentro de cada ciclo, optimizando el flujo de trabajo y detectando posibles retrasos.</a:t>
            </a:r>
            <a:endParaRPr sz="1400">
              <a:solidFill>
                <a:srgbClr val="000000"/>
              </a:solidFill>
            </a:endParaRPr>
          </a:p>
          <a:p>
            <a:pPr indent="0" lvl="0" marL="0" rtl="0" algn="l">
              <a:spcBef>
                <a:spcPts val="1200"/>
              </a:spcBef>
              <a:spcAft>
                <a:spcPts val="0"/>
              </a:spcAft>
              <a:buNone/>
            </a:pPr>
            <a:r>
              <a:rPr lang="en-US" sz="1400">
                <a:solidFill>
                  <a:srgbClr val="000000"/>
                </a:solidFill>
              </a:rPr>
              <a:t>Esta combinación se </a:t>
            </a:r>
            <a:r>
              <a:rPr lang="en-US" sz="1400">
                <a:solidFill>
                  <a:srgbClr val="000000"/>
                </a:solidFill>
              </a:rPr>
              <a:t>seleccionó</a:t>
            </a:r>
            <a:r>
              <a:rPr lang="en-US" sz="1400">
                <a:solidFill>
                  <a:srgbClr val="000000"/>
                </a:solidFill>
              </a:rPr>
              <a:t> porque es ideal para un proyecto con requisitos en constante </a:t>
            </a:r>
            <a:r>
              <a:rPr lang="en-US" sz="1400">
                <a:solidFill>
                  <a:srgbClr val="000000"/>
                </a:solidFill>
              </a:rPr>
              <a:t>evolución</a:t>
            </a:r>
            <a:r>
              <a:rPr lang="en-US" sz="1400">
                <a:solidFill>
                  <a:srgbClr val="000000"/>
                </a:solidFill>
              </a:rPr>
              <a:t> y un equipo pequeño, ya que fomenta la entrega de valor continua, la flexibilidad y un ritmo de trabajo disciplinado.</a:t>
            </a:r>
            <a:endParaRPr sz="1400">
              <a:solidFill>
                <a:srgbClr val="000000"/>
              </a:solidFill>
            </a:endParaRPr>
          </a:p>
          <a:p>
            <a:pPr indent="0" lvl="0" marL="0" marR="0" rtl="0" algn="l">
              <a:lnSpc>
                <a:spcPct val="100000"/>
              </a:lnSpc>
              <a:spcBef>
                <a:spcPts val="1200"/>
              </a:spcBef>
              <a:spcAft>
                <a:spcPts val="0"/>
              </a:spcAft>
              <a:buClr>
                <a:schemeClr val="dk1"/>
              </a:buClr>
              <a:buSzPts val="1400"/>
              <a:buFont typeface="Manrope"/>
              <a:buNone/>
            </a:pPr>
            <a:r>
              <a:t/>
            </a:r>
            <a:endParaRPr b="1" sz="1400">
              <a:solidFill>
                <a:schemeClr val="dk1"/>
              </a:solidFill>
            </a:endParaRPr>
          </a:p>
          <a:p>
            <a:pPr indent="0" lvl="0" marL="0" marR="0" rtl="0" algn="l">
              <a:lnSpc>
                <a:spcPct val="100000"/>
              </a:lnSpc>
              <a:spcBef>
                <a:spcPts val="1200"/>
              </a:spcBef>
              <a:spcAft>
                <a:spcPts val="1200"/>
              </a:spcAft>
              <a:buClr>
                <a:schemeClr val="dk1"/>
              </a:buClr>
              <a:buSzPts val="1400"/>
              <a:buFont typeface="Manrope"/>
              <a:buNone/>
            </a:pPr>
            <a:r>
              <a:t/>
            </a:r>
            <a:endParaRPr sz="1600">
              <a:solidFill>
                <a:schemeClr val="dk1"/>
              </a:solidFill>
              <a:latin typeface="Manrope"/>
              <a:ea typeface="Manrope"/>
              <a:cs typeface="Manrope"/>
              <a:sym typeface="Manrope"/>
            </a:endParaRPr>
          </a:p>
        </p:txBody>
      </p:sp>
      <p:sp>
        <p:nvSpPr>
          <p:cNvPr id="461" name="Google Shape;461;p39"/>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462" name="Google Shape;462;p39"/>
          <p:cNvPicPr preferRelativeResize="0"/>
          <p:nvPr/>
        </p:nvPicPr>
        <p:blipFill>
          <a:blip r:embed="rId3">
            <a:alphaModFix/>
          </a:blip>
          <a:stretch>
            <a:fillRect/>
          </a:stretch>
        </p:blipFill>
        <p:spPr>
          <a:xfrm>
            <a:off x="2585750" y="126175"/>
            <a:ext cx="3203074" cy="138580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grpSp>
        <p:nvGrpSpPr>
          <p:cNvPr id="467" name="Google Shape;467;p40"/>
          <p:cNvGrpSpPr/>
          <p:nvPr/>
        </p:nvGrpSpPr>
        <p:grpSpPr>
          <a:xfrm>
            <a:off x="3978720" y="6840"/>
            <a:ext cx="5164200" cy="5143200"/>
            <a:chOff x="3978720" y="6840"/>
            <a:chExt cx="5164200" cy="5143200"/>
          </a:xfrm>
        </p:grpSpPr>
        <p:sp>
          <p:nvSpPr>
            <p:cNvPr id="468" name="Google Shape;468;p40"/>
            <p:cNvSpPr/>
            <p:nvPr/>
          </p:nvSpPr>
          <p:spPr>
            <a:xfrm flipH="1">
              <a:off x="3978720" y="6840"/>
              <a:ext cx="5164200" cy="51432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69" name="Google Shape;469;p40"/>
            <p:cNvSpPr/>
            <p:nvPr/>
          </p:nvSpPr>
          <p:spPr>
            <a:xfrm rot="-2699590">
              <a:off x="4520886" y="36474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70" name="Google Shape;470;p40"/>
            <p:cNvSpPr/>
            <p:nvPr/>
          </p:nvSpPr>
          <p:spPr>
            <a:xfrm rot="-2699590">
              <a:off x="7184166" y="22452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71" name="Google Shape;471;p40"/>
            <p:cNvSpPr/>
            <p:nvPr/>
          </p:nvSpPr>
          <p:spPr>
            <a:xfrm rot="-2699590">
              <a:off x="6716478" y="11666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72" name="Google Shape;472;p40"/>
            <p:cNvSpPr/>
            <p:nvPr/>
          </p:nvSpPr>
          <p:spPr>
            <a:xfrm rot="-2699590">
              <a:off x="5940318" y="35714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73" name="Google Shape;473;p40"/>
            <p:cNvSpPr/>
            <p:nvPr/>
          </p:nvSpPr>
          <p:spPr>
            <a:xfrm>
              <a:off x="6778080" y="2891160"/>
              <a:ext cx="1596300" cy="1596300"/>
            </a:xfrm>
            <a:prstGeom prst="ellipse">
              <a:avLst/>
            </a:prstGeom>
            <a:noFill/>
            <a:ln cap="flat" cmpd="sng" w="9525">
              <a:solidFill>
                <a:srgbClr val="F8F8F8"/>
              </a:solidFill>
              <a:prstDash val="lg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474" name="Google Shape;474;p40"/>
          <p:cNvSpPr/>
          <p:nvPr/>
        </p:nvSpPr>
        <p:spPr>
          <a:xfrm>
            <a:off x="5397480" y="1055160"/>
            <a:ext cx="3033000" cy="3033000"/>
          </a:xfrm>
          <a:prstGeom prst="ellipse">
            <a:avLst/>
          </a:prstGeom>
          <a:blipFill rotWithShape="1">
            <a:blip r:embed="rId3">
              <a:alphaModFix/>
            </a:blip>
            <a:stretch>
              <a:fillRect b="0" l="0" r="0" t="0"/>
            </a:stretch>
          </a:blipFill>
          <a:ln cap="flat" cmpd="sng" w="38100">
            <a:solidFill>
              <a:srgbClr val="F8F8F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475" name="Google Shape;475;p40"/>
          <p:cNvGrpSpPr/>
          <p:nvPr/>
        </p:nvGrpSpPr>
        <p:grpSpPr>
          <a:xfrm>
            <a:off x="5405271" y="1044240"/>
            <a:ext cx="3160020" cy="3290700"/>
            <a:chOff x="5405271" y="1044240"/>
            <a:chExt cx="3160020" cy="3290700"/>
          </a:xfrm>
        </p:grpSpPr>
        <p:sp>
          <p:nvSpPr>
            <p:cNvPr id="476" name="Google Shape;476;p40"/>
            <p:cNvSpPr/>
            <p:nvPr/>
          </p:nvSpPr>
          <p:spPr>
            <a:xfrm rot="-2700000">
              <a:off x="7674867" y="13795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77" name="Google Shape;477;p40"/>
            <p:cNvSpPr/>
            <p:nvPr/>
          </p:nvSpPr>
          <p:spPr>
            <a:xfrm rot="-2700000">
              <a:off x="5299947" y="38851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478" name="Google Shape;478;p40"/>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479" name="Google Shape;479;p40"/>
          <p:cNvSpPr txBox="1"/>
          <p:nvPr>
            <p:ph type="title"/>
          </p:nvPr>
        </p:nvSpPr>
        <p:spPr>
          <a:xfrm>
            <a:off x="346028" y="1948375"/>
            <a:ext cx="6990900" cy="818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Roles</a:t>
            </a:r>
            <a:endParaRPr b="1" sz="3200" u="none" strike="noStrike">
              <a:solidFill>
                <a:schemeClr val="dk1"/>
              </a:solidFill>
              <a:latin typeface="Roboto"/>
              <a:ea typeface="Roboto"/>
              <a:cs typeface="Roboto"/>
              <a:sym typeface="Roboto"/>
            </a:endParaRPr>
          </a:p>
        </p:txBody>
      </p:sp>
      <p:pic>
        <p:nvPicPr>
          <p:cNvPr id="480" name="Google Shape;480;p40"/>
          <p:cNvPicPr preferRelativeResize="0"/>
          <p:nvPr/>
        </p:nvPicPr>
        <p:blipFill rotWithShape="1">
          <a:blip r:embed="rId4">
            <a:alphaModFix/>
          </a:blip>
          <a:srcRect b="23569" l="13106" r="12884" t="8876"/>
          <a:stretch/>
        </p:blipFill>
        <p:spPr>
          <a:xfrm>
            <a:off x="1673125" y="921695"/>
            <a:ext cx="2843001" cy="272874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41"/>
          <p:cNvSpPr txBox="1"/>
          <p:nvPr>
            <p:ph type="title"/>
          </p:nvPr>
        </p:nvSpPr>
        <p:spPr>
          <a:xfrm>
            <a:off x="167400" y="153650"/>
            <a:ext cx="7010700" cy="8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3200">
                <a:latin typeface="Roboto"/>
                <a:ea typeface="Roboto"/>
                <a:cs typeface="Roboto"/>
                <a:sym typeface="Roboto"/>
              </a:rPr>
              <a:t>Roles</a:t>
            </a:r>
            <a:endParaRPr b="1" sz="3200">
              <a:latin typeface="Roboto"/>
              <a:ea typeface="Roboto"/>
              <a:cs typeface="Roboto"/>
              <a:sym typeface="Roboto"/>
            </a:endParaRPr>
          </a:p>
        </p:txBody>
      </p:sp>
      <p:sp>
        <p:nvSpPr>
          <p:cNvPr id="486" name="Google Shape;486;p41"/>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487" name="Google Shape;487;p41" title="gemini-2.5-flash-image-preview (nano-banana)_make_it_round_for_pr.png"/>
          <p:cNvPicPr preferRelativeResize="0"/>
          <p:nvPr/>
        </p:nvPicPr>
        <p:blipFill>
          <a:blip r:embed="rId3">
            <a:alphaModFix/>
          </a:blip>
          <a:stretch>
            <a:fillRect/>
          </a:stretch>
        </p:blipFill>
        <p:spPr>
          <a:xfrm>
            <a:off x="1639800" y="926900"/>
            <a:ext cx="2182626" cy="2990976"/>
          </a:xfrm>
          <a:prstGeom prst="rect">
            <a:avLst/>
          </a:prstGeom>
          <a:noFill/>
          <a:ln>
            <a:noFill/>
          </a:ln>
        </p:spPr>
      </p:pic>
      <p:pic>
        <p:nvPicPr>
          <p:cNvPr id="488" name="Google Shape;488;p41" title="gemini-2.5-flash-image-preview (nano-banana)_white_background_on_.png"/>
          <p:cNvPicPr preferRelativeResize="0"/>
          <p:nvPr/>
        </p:nvPicPr>
        <p:blipFill>
          <a:blip r:embed="rId4">
            <a:alphaModFix/>
          </a:blip>
          <a:stretch>
            <a:fillRect/>
          </a:stretch>
        </p:blipFill>
        <p:spPr>
          <a:xfrm>
            <a:off x="4775949" y="617625"/>
            <a:ext cx="2211571" cy="3870250"/>
          </a:xfrm>
          <a:prstGeom prst="rect">
            <a:avLst/>
          </a:prstGeom>
          <a:noFill/>
          <a:ln>
            <a:noFill/>
          </a:ln>
        </p:spPr>
      </p:pic>
      <p:sp>
        <p:nvSpPr>
          <p:cNvPr id="489" name="Google Shape;489;p41"/>
          <p:cNvSpPr txBox="1"/>
          <p:nvPr/>
        </p:nvSpPr>
        <p:spPr>
          <a:xfrm>
            <a:off x="1639800" y="3779050"/>
            <a:ext cx="2591700" cy="868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300">
                <a:highlight>
                  <a:srgbClr val="FFFFFF"/>
                </a:highlight>
                <a:latin typeface="Roboto"/>
                <a:ea typeface="Roboto"/>
                <a:cs typeface="Roboto"/>
                <a:sym typeface="Roboto"/>
              </a:rPr>
              <a:t>SCRUM MASTER |</a:t>
            </a:r>
            <a:endParaRPr b="1" sz="1300">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rPr b="1" lang="en-US" sz="1300">
                <a:highlight>
                  <a:srgbClr val="FFFFFF"/>
                </a:highlight>
                <a:latin typeface="Roboto"/>
                <a:ea typeface="Roboto"/>
                <a:cs typeface="Roboto"/>
                <a:sym typeface="Roboto"/>
              </a:rPr>
              <a:t>DEVELOPMENT TEAM</a:t>
            </a:r>
            <a:endParaRPr b="1" sz="1300">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rPr lang="en-US" sz="1300">
                <a:highlight>
                  <a:srgbClr val="FFFFFF"/>
                </a:highlight>
                <a:latin typeface="Roboto"/>
                <a:ea typeface="Roboto"/>
                <a:cs typeface="Roboto"/>
                <a:sym typeface="Roboto"/>
              </a:rPr>
              <a:t>Jaime Vicencio</a:t>
            </a:r>
            <a:endParaRPr sz="1300">
              <a:highlight>
                <a:srgbClr val="FFFFFF"/>
              </a:highlight>
              <a:latin typeface="Roboto"/>
              <a:ea typeface="Roboto"/>
              <a:cs typeface="Roboto"/>
              <a:sym typeface="Roboto"/>
            </a:endParaRPr>
          </a:p>
          <a:p>
            <a:pPr indent="0" lvl="0" marL="0" rtl="0" algn="l">
              <a:spcBef>
                <a:spcPts val="0"/>
              </a:spcBef>
              <a:spcAft>
                <a:spcPts val="0"/>
              </a:spcAft>
              <a:buNone/>
            </a:pPr>
            <a:r>
              <a:t/>
            </a:r>
            <a:endParaRPr sz="1300">
              <a:solidFill>
                <a:schemeClr val="dk2"/>
              </a:solidFill>
              <a:latin typeface="Roboto"/>
              <a:ea typeface="Roboto"/>
              <a:cs typeface="Roboto"/>
              <a:sym typeface="Roboto"/>
            </a:endParaRPr>
          </a:p>
        </p:txBody>
      </p:sp>
      <p:sp>
        <p:nvSpPr>
          <p:cNvPr id="490" name="Google Shape;490;p41"/>
          <p:cNvSpPr txBox="1"/>
          <p:nvPr/>
        </p:nvSpPr>
        <p:spPr>
          <a:xfrm>
            <a:off x="4811575" y="3779050"/>
            <a:ext cx="2591700" cy="868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300">
                <a:highlight>
                  <a:srgbClr val="FFFFFF"/>
                </a:highlight>
                <a:latin typeface="Roboto"/>
                <a:ea typeface="Roboto"/>
                <a:cs typeface="Roboto"/>
                <a:sym typeface="Roboto"/>
              </a:rPr>
              <a:t>PRODUCT OWNER</a:t>
            </a:r>
            <a:r>
              <a:rPr b="1" lang="en-US" sz="1300">
                <a:highlight>
                  <a:srgbClr val="FFFFFF"/>
                </a:highlight>
                <a:latin typeface="Roboto"/>
                <a:ea typeface="Roboto"/>
                <a:cs typeface="Roboto"/>
                <a:sym typeface="Roboto"/>
              </a:rPr>
              <a:t> |</a:t>
            </a:r>
            <a:endParaRPr b="1" sz="1300">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rPr b="1" lang="en-US" sz="1300">
                <a:highlight>
                  <a:srgbClr val="FFFFFF"/>
                </a:highlight>
                <a:latin typeface="Roboto"/>
                <a:ea typeface="Roboto"/>
                <a:cs typeface="Roboto"/>
                <a:sym typeface="Roboto"/>
              </a:rPr>
              <a:t>DEVELOPMENT TEAM</a:t>
            </a:r>
            <a:endParaRPr b="1" sz="1300">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rPr lang="en-US" sz="1300">
                <a:highlight>
                  <a:srgbClr val="FFFFFF"/>
                </a:highlight>
                <a:latin typeface="Roboto"/>
                <a:ea typeface="Roboto"/>
                <a:cs typeface="Roboto"/>
                <a:sym typeface="Roboto"/>
              </a:rPr>
              <a:t>Boris Arriagada</a:t>
            </a:r>
            <a:endParaRPr sz="1300">
              <a:highlight>
                <a:srgbClr val="FFFFFF"/>
              </a:highlight>
              <a:latin typeface="Roboto"/>
              <a:ea typeface="Roboto"/>
              <a:cs typeface="Roboto"/>
              <a:sym typeface="Roboto"/>
            </a:endParaRPr>
          </a:p>
          <a:p>
            <a:pPr indent="0" lvl="0" marL="0" rtl="0" algn="l">
              <a:spcBef>
                <a:spcPts val="0"/>
              </a:spcBef>
              <a:spcAft>
                <a:spcPts val="0"/>
              </a:spcAft>
              <a:buNone/>
            </a:pPr>
            <a:r>
              <a:t/>
            </a:r>
            <a:endParaRPr sz="1300">
              <a:solidFill>
                <a:schemeClr val="dk2"/>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grpSp>
        <p:nvGrpSpPr>
          <p:cNvPr id="495" name="Google Shape;495;p42"/>
          <p:cNvGrpSpPr/>
          <p:nvPr/>
        </p:nvGrpSpPr>
        <p:grpSpPr>
          <a:xfrm>
            <a:off x="3978720" y="6840"/>
            <a:ext cx="5164200" cy="5143200"/>
            <a:chOff x="3978720" y="6840"/>
            <a:chExt cx="5164200" cy="5143200"/>
          </a:xfrm>
        </p:grpSpPr>
        <p:sp>
          <p:nvSpPr>
            <p:cNvPr id="496" name="Google Shape;496;p42"/>
            <p:cNvSpPr/>
            <p:nvPr/>
          </p:nvSpPr>
          <p:spPr>
            <a:xfrm flipH="1">
              <a:off x="3978720" y="6840"/>
              <a:ext cx="5164200" cy="51432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97" name="Google Shape;497;p42"/>
            <p:cNvSpPr/>
            <p:nvPr/>
          </p:nvSpPr>
          <p:spPr>
            <a:xfrm rot="-2699590">
              <a:off x="4520886" y="36474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98" name="Google Shape;498;p42"/>
            <p:cNvSpPr/>
            <p:nvPr/>
          </p:nvSpPr>
          <p:spPr>
            <a:xfrm rot="-2699590">
              <a:off x="7184166" y="22452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99" name="Google Shape;499;p42"/>
            <p:cNvSpPr/>
            <p:nvPr/>
          </p:nvSpPr>
          <p:spPr>
            <a:xfrm rot="-2699590">
              <a:off x="6716478" y="11666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00" name="Google Shape;500;p42"/>
            <p:cNvSpPr/>
            <p:nvPr/>
          </p:nvSpPr>
          <p:spPr>
            <a:xfrm rot="-2699590">
              <a:off x="5940318" y="35714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01" name="Google Shape;501;p42"/>
            <p:cNvSpPr/>
            <p:nvPr/>
          </p:nvSpPr>
          <p:spPr>
            <a:xfrm>
              <a:off x="6778080" y="2891160"/>
              <a:ext cx="1596300" cy="1596300"/>
            </a:xfrm>
            <a:prstGeom prst="ellipse">
              <a:avLst/>
            </a:prstGeom>
            <a:noFill/>
            <a:ln cap="flat" cmpd="sng" w="9525">
              <a:solidFill>
                <a:srgbClr val="F8F8F8"/>
              </a:solidFill>
              <a:prstDash val="lg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502" name="Google Shape;502;p42"/>
          <p:cNvSpPr/>
          <p:nvPr/>
        </p:nvSpPr>
        <p:spPr>
          <a:xfrm>
            <a:off x="5397480" y="1055160"/>
            <a:ext cx="3033000" cy="3033000"/>
          </a:xfrm>
          <a:prstGeom prst="ellipse">
            <a:avLst/>
          </a:prstGeom>
          <a:blipFill rotWithShape="1">
            <a:blip r:embed="rId3">
              <a:alphaModFix/>
            </a:blip>
            <a:stretch>
              <a:fillRect b="0" l="0" r="0" t="0"/>
            </a:stretch>
          </a:blipFill>
          <a:ln cap="flat" cmpd="sng" w="38100">
            <a:solidFill>
              <a:srgbClr val="F8F8F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503" name="Google Shape;503;p42"/>
          <p:cNvGrpSpPr/>
          <p:nvPr/>
        </p:nvGrpSpPr>
        <p:grpSpPr>
          <a:xfrm>
            <a:off x="5405271" y="1044240"/>
            <a:ext cx="3160020" cy="3290700"/>
            <a:chOff x="5405271" y="1044240"/>
            <a:chExt cx="3160020" cy="3290700"/>
          </a:xfrm>
        </p:grpSpPr>
        <p:sp>
          <p:nvSpPr>
            <p:cNvPr id="504" name="Google Shape;504;p42"/>
            <p:cNvSpPr/>
            <p:nvPr/>
          </p:nvSpPr>
          <p:spPr>
            <a:xfrm rot="-2700000">
              <a:off x="7674867" y="13795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05" name="Google Shape;505;p42"/>
            <p:cNvSpPr/>
            <p:nvPr/>
          </p:nvSpPr>
          <p:spPr>
            <a:xfrm rot="-2700000">
              <a:off x="5299947" y="38851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506" name="Google Shape;506;p42"/>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507" name="Google Shape;507;p42"/>
          <p:cNvSpPr txBox="1"/>
          <p:nvPr>
            <p:ph type="title"/>
          </p:nvPr>
        </p:nvSpPr>
        <p:spPr>
          <a:xfrm>
            <a:off x="346028" y="1948375"/>
            <a:ext cx="6990900" cy="818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Evidencias</a:t>
            </a:r>
            <a:endParaRPr b="1" sz="3200" u="none" strike="noStrike">
              <a:solidFill>
                <a:schemeClr val="dk1"/>
              </a:solidFill>
              <a:latin typeface="Roboto"/>
              <a:ea typeface="Roboto"/>
              <a:cs typeface="Roboto"/>
              <a:sym typeface="Roboto"/>
            </a:endParaRPr>
          </a:p>
        </p:txBody>
      </p:sp>
      <p:pic>
        <p:nvPicPr>
          <p:cNvPr id="508" name="Google Shape;508;p42"/>
          <p:cNvPicPr preferRelativeResize="0"/>
          <p:nvPr/>
        </p:nvPicPr>
        <p:blipFill>
          <a:blip r:embed="rId4">
            <a:alphaModFix/>
          </a:blip>
          <a:stretch>
            <a:fillRect/>
          </a:stretch>
        </p:blipFill>
        <p:spPr>
          <a:xfrm>
            <a:off x="2708225" y="1255400"/>
            <a:ext cx="2159468" cy="20716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43"/>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514" name="Google Shape;514;p43"/>
          <p:cNvSpPr txBox="1"/>
          <p:nvPr>
            <p:ph type="title"/>
          </p:nvPr>
        </p:nvSpPr>
        <p:spPr>
          <a:xfrm>
            <a:off x="3483900" y="126625"/>
            <a:ext cx="2176200" cy="551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Evidencias</a:t>
            </a:r>
            <a:endParaRPr b="1" sz="3200" u="none" strike="noStrike">
              <a:solidFill>
                <a:schemeClr val="dk1"/>
              </a:solidFill>
              <a:latin typeface="Roboto"/>
              <a:ea typeface="Roboto"/>
              <a:cs typeface="Roboto"/>
              <a:sym typeface="Roboto"/>
            </a:endParaRPr>
          </a:p>
        </p:txBody>
      </p:sp>
      <p:grpSp>
        <p:nvGrpSpPr>
          <p:cNvPr id="515" name="Google Shape;515;p43"/>
          <p:cNvGrpSpPr/>
          <p:nvPr/>
        </p:nvGrpSpPr>
        <p:grpSpPr>
          <a:xfrm>
            <a:off x="714277" y="1483160"/>
            <a:ext cx="3689296" cy="2608119"/>
            <a:chOff x="1270266" y="940260"/>
            <a:chExt cx="6280721" cy="2608119"/>
          </a:xfrm>
        </p:grpSpPr>
        <p:grpSp>
          <p:nvGrpSpPr>
            <p:cNvPr id="516" name="Google Shape;516;p43"/>
            <p:cNvGrpSpPr/>
            <p:nvPr/>
          </p:nvGrpSpPr>
          <p:grpSpPr>
            <a:xfrm>
              <a:off x="1270266" y="1595119"/>
              <a:ext cx="6280721" cy="643500"/>
              <a:chOff x="1270254" y="2322568"/>
              <a:chExt cx="6280721" cy="643500"/>
            </a:xfrm>
          </p:grpSpPr>
          <p:sp>
            <p:nvSpPr>
              <p:cNvPr id="517" name="Google Shape;517;p43"/>
              <p:cNvSpPr/>
              <p:nvPr/>
            </p:nvSpPr>
            <p:spPr>
              <a:xfrm>
                <a:off x="3728375" y="2322568"/>
                <a:ext cx="3822600" cy="643500"/>
              </a:xfrm>
              <a:prstGeom prst="rect">
                <a:avLst/>
              </a:prstGeom>
              <a:solidFill>
                <a:srgbClr val="F8F8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43"/>
              <p:cNvSpPr/>
              <p:nvPr/>
            </p:nvSpPr>
            <p:spPr>
              <a:xfrm flipH="1">
                <a:off x="2283025" y="2322575"/>
                <a:ext cx="1844400" cy="64260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43"/>
              <p:cNvSpPr/>
              <p:nvPr/>
            </p:nvSpPr>
            <p:spPr>
              <a:xfrm rot="-5400000">
                <a:off x="3501574" y="1934671"/>
                <a:ext cx="643356" cy="1419149"/>
              </a:xfrm>
              <a:prstGeom prst="flowChartOffpageConnector">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43"/>
              <p:cNvSpPr/>
              <p:nvPr/>
            </p:nvSpPr>
            <p:spPr>
              <a:xfrm>
                <a:off x="2342625" y="2399951"/>
                <a:ext cx="19407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1000">
                    <a:latin typeface="Roboto Medium"/>
                    <a:ea typeface="Roboto Medium"/>
                    <a:cs typeface="Roboto Medium"/>
                    <a:sym typeface="Roboto Medium"/>
                  </a:rPr>
                  <a:t>PLANIFICACIÓN DEL SPRINT</a:t>
                </a:r>
                <a:endParaRPr sz="1000">
                  <a:latin typeface="Roboto"/>
                  <a:ea typeface="Roboto"/>
                  <a:cs typeface="Roboto"/>
                  <a:sym typeface="Roboto"/>
                </a:endParaRPr>
              </a:p>
            </p:txBody>
          </p:sp>
          <p:sp>
            <p:nvSpPr>
              <p:cNvPr id="521" name="Google Shape;521;p43"/>
              <p:cNvSpPr/>
              <p:nvPr/>
            </p:nvSpPr>
            <p:spPr>
              <a:xfrm>
                <a:off x="1593000" y="2322568"/>
                <a:ext cx="690000" cy="642300"/>
              </a:xfrm>
              <a:prstGeom prst="rect">
                <a:avLst/>
              </a:prstGeom>
              <a:solidFill>
                <a:srgbClr val="B02B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43"/>
              <p:cNvSpPr/>
              <p:nvPr/>
            </p:nvSpPr>
            <p:spPr>
              <a:xfrm>
                <a:off x="1270254" y="2322572"/>
                <a:ext cx="1012800" cy="642600"/>
              </a:xfrm>
              <a:prstGeom prst="rect">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600">
                    <a:latin typeface="Roboto Thin"/>
                    <a:ea typeface="Roboto Thin"/>
                    <a:cs typeface="Roboto Thin"/>
                    <a:sym typeface="Roboto Thin"/>
                  </a:rPr>
                  <a:t>02</a:t>
                </a:r>
                <a:endParaRPr sz="2600">
                  <a:latin typeface="Roboto Thin"/>
                  <a:ea typeface="Roboto Thin"/>
                  <a:cs typeface="Roboto Thin"/>
                  <a:sym typeface="Roboto Thin"/>
                </a:endParaRPr>
              </a:p>
            </p:txBody>
          </p:sp>
          <p:sp>
            <p:nvSpPr>
              <p:cNvPr id="523" name="Google Shape;523;p43"/>
              <p:cNvSpPr/>
              <p:nvPr/>
            </p:nvSpPr>
            <p:spPr>
              <a:xfrm>
                <a:off x="4387850" y="2323750"/>
                <a:ext cx="2971200" cy="642300"/>
              </a:xfrm>
              <a:prstGeom prst="rect">
                <a:avLst/>
              </a:prstGeom>
              <a:solidFill>
                <a:srgbClr val="F8F8F8"/>
              </a:solidFill>
              <a:ln>
                <a:noFill/>
              </a:ln>
            </p:spPr>
            <p:txBody>
              <a:bodyPr anchorCtr="0" anchor="ctr" bIns="91425" lIns="91425" spcFirstLastPara="1" rIns="91425" wrap="square" tIns="91425">
                <a:noAutofit/>
              </a:bodyPr>
              <a:lstStyle/>
              <a:p>
                <a:pPr indent="-279400" lvl="0" marL="457200" rtl="0" algn="l">
                  <a:lnSpc>
                    <a:spcPct val="115000"/>
                  </a:lnSpc>
                  <a:spcBef>
                    <a:spcPts val="0"/>
                  </a:spcBef>
                  <a:spcAft>
                    <a:spcPts val="0"/>
                  </a:spcAft>
                  <a:buSzPts val="800"/>
                  <a:buFont typeface="Roboto"/>
                  <a:buChar char="●"/>
                </a:pPr>
                <a:r>
                  <a:rPr lang="en-US" sz="800">
                    <a:latin typeface="Roboto"/>
                    <a:ea typeface="Roboto"/>
                    <a:cs typeface="Roboto"/>
                    <a:sym typeface="Roboto"/>
                  </a:rPr>
                  <a:t>Sprint Backlog</a:t>
                </a:r>
                <a:r>
                  <a:rPr lang="en-US" sz="800">
                    <a:latin typeface="Roboto"/>
                    <a:ea typeface="Roboto"/>
                    <a:cs typeface="Roboto"/>
                    <a:sym typeface="Roboto"/>
                  </a:rPr>
                  <a:t> </a:t>
                </a:r>
                <a:endParaRPr sz="800">
                  <a:latin typeface="Roboto"/>
                  <a:ea typeface="Roboto"/>
                  <a:cs typeface="Roboto"/>
                  <a:sym typeface="Roboto"/>
                </a:endParaRPr>
              </a:p>
              <a:p>
                <a:pPr indent="-279400" lvl="0" marL="457200" rtl="0" algn="l">
                  <a:lnSpc>
                    <a:spcPct val="115000"/>
                  </a:lnSpc>
                  <a:spcBef>
                    <a:spcPts val="0"/>
                  </a:spcBef>
                  <a:spcAft>
                    <a:spcPts val="0"/>
                  </a:spcAft>
                  <a:buSzPts val="800"/>
                  <a:buFont typeface="Roboto"/>
                  <a:buChar char="●"/>
                </a:pPr>
                <a:r>
                  <a:rPr lang="en-US" sz="800">
                    <a:latin typeface="Roboto"/>
                    <a:ea typeface="Roboto"/>
                    <a:cs typeface="Roboto"/>
                    <a:sym typeface="Roboto"/>
                  </a:rPr>
                  <a:t>Tablero Kanban</a:t>
                </a:r>
                <a:endParaRPr sz="800">
                  <a:latin typeface="Roboto"/>
                  <a:ea typeface="Roboto"/>
                  <a:cs typeface="Roboto"/>
                  <a:sym typeface="Roboto"/>
                </a:endParaRPr>
              </a:p>
              <a:p>
                <a:pPr indent="0" lvl="0" marL="457200" rtl="0" algn="l">
                  <a:lnSpc>
                    <a:spcPct val="115000"/>
                  </a:lnSpc>
                  <a:spcBef>
                    <a:spcPts val="0"/>
                  </a:spcBef>
                  <a:spcAft>
                    <a:spcPts val="0"/>
                  </a:spcAft>
                  <a:buNone/>
                </a:pPr>
                <a:r>
                  <a:t/>
                </a:r>
                <a:endParaRPr sz="800">
                  <a:latin typeface="Roboto"/>
                  <a:ea typeface="Roboto"/>
                  <a:cs typeface="Roboto"/>
                  <a:sym typeface="Roboto"/>
                </a:endParaRPr>
              </a:p>
            </p:txBody>
          </p:sp>
        </p:grpSp>
        <p:grpSp>
          <p:nvGrpSpPr>
            <p:cNvPr id="524" name="Google Shape;524;p43"/>
            <p:cNvGrpSpPr/>
            <p:nvPr/>
          </p:nvGrpSpPr>
          <p:grpSpPr>
            <a:xfrm>
              <a:off x="1270266" y="2250012"/>
              <a:ext cx="6280721" cy="643500"/>
              <a:chOff x="1270254" y="2322568"/>
              <a:chExt cx="6280721" cy="643500"/>
            </a:xfrm>
          </p:grpSpPr>
          <p:sp>
            <p:nvSpPr>
              <p:cNvPr id="525" name="Google Shape;525;p43"/>
              <p:cNvSpPr/>
              <p:nvPr/>
            </p:nvSpPr>
            <p:spPr>
              <a:xfrm>
                <a:off x="3728375" y="2322568"/>
                <a:ext cx="3822600" cy="643500"/>
              </a:xfrm>
              <a:prstGeom prst="rect">
                <a:avLst/>
              </a:prstGeom>
              <a:solidFill>
                <a:srgbClr val="F8F8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43"/>
              <p:cNvSpPr/>
              <p:nvPr/>
            </p:nvSpPr>
            <p:spPr>
              <a:xfrm flipH="1">
                <a:off x="2283025" y="2322575"/>
                <a:ext cx="1844400" cy="64260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43"/>
              <p:cNvSpPr/>
              <p:nvPr/>
            </p:nvSpPr>
            <p:spPr>
              <a:xfrm rot="-5400000">
                <a:off x="3501574" y="1934671"/>
                <a:ext cx="643356" cy="1419149"/>
              </a:xfrm>
              <a:prstGeom prst="flowChartOffpageConnector">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43"/>
              <p:cNvSpPr/>
              <p:nvPr/>
            </p:nvSpPr>
            <p:spPr>
              <a:xfrm>
                <a:off x="2342625" y="2399951"/>
                <a:ext cx="1940700" cy="49590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1000">
                    <a:latin typeface="Roboto Medium"/>
                    <a:ea typeface="Roboto Medium"/>
                    <a:cs typeface="Roboto Medium"/>
                    <a:sym typeface="Roboto Medium"/>
                  </a:rPr>
                  <a:t>SEGUIMIENTO DEL PROGRESO</a:t>
                </a:r>
                <a:endParaRPr sz="1000">
                  <a:latin typeface="Roboto"/>
                  <a:ea typeface="Roboto"/>
                  <a:cs typeface="Roboto"/>
                  <a:sym typeface="Roboto"/>
                </a:endParaRPr>
              </a:p>
            </p:txBody>
          </p:sp>
          <p:sp>
            <p:nvSpPr>
              <p:cNvPr id="529" name="Google Shape;529;p43"/>
              <p:cNvSpPr/>
              <p:nvPr/>
            </p:nvSpPr>
            <p:spPr>
              <a:xfrm>
                <a:off x="1593000" y="2322568"/>
                <a:ext cx="690000" cy="642300"/>
              </a:xfrm>
              <a:prstGeom prst="rect">
                <a:avLst/>
              </a:prstGeom>
              <a:solidFill>
                <a:srgbClr val="B02B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43"/>
              <p:cNvSpPr/>
              <p:nvPr/>
            </p:nvSpPr>
            <p:spPr>
              <a:xfrm>
                <a:off x="1270254" y="2322574"/>
                <a:ext cx="1012800" cy="642600"/>
              </a:xfrm>
              <a:prstGeom prst="rect">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600">
                    <a:latin typeface="Roboto Thin"/>
                    <a:ea typeface="Roboto Thin"/>
                    <a:cs typeface="Roboto Thin"/>
                    <a:sym typeface="Roboto Thin"/>
                  </a:rPr>
                  <a:t>03</a:t>
                </a:r>
                <a:endParaRPr sz="2600">
                  <a:latin typeface="Roboto Thin"/>
                  <a:ea typeface="Roboto Thin"/>
                  <a:cs typeface="Roboto Thin"/>
                  <a:sym typeface="Roboto Thin"/>
                </a:endParaRPr>
              </a:p>
            </p:txBody>
          </p:sp>
          <p:sp>
            <p:nvSpPr>
              <p:cNvPr id="531" name="Google Shape;531;p43"/>
              <p:cNvSpPr/>
              <p:nvPr/>
            </p:nvSpPr>
            <p:spPr>
              <a:xfrm>
                <a:off x="4387850" y="2323750"/>
                <a:ext cx="2971200" cy="642300"/>
              </a:xfrm>
              <a:prstGeom prst="rect">
                <a:avLst/>
              </a:prstGeom>
              <a:solidFill>
                <a:srgbClr val="F8F8F8"/>
              </a:solidFill>
              <a:ln>
                <a:noFill/>
              </a:ln>
            </p:spPr>
            <p:txBody>
              <a:bodyPr anchorCtr="0" anchor="ctr" bIns="91425" lIns="91425" spcFirstLastPara="1" rIns="91425" wrap="square" tIns="91425">
                <a:noAutofit/>
              </a:bodyPr>
              <a:lstStyle/>
              <a:p>
                <a:pPr indent="-279400" lvl="0" marL="457200" rtl="0" algn="l">
                  <a:lnSpc>
                    <a:spcPct val="115000"/>
                  </a:lnSpc>
                  <a:spcBef>
                    <a:spcPts val="0"/>
                  </a:spcBef>
                  <a:spcAft>
                    <a:spcPts val="0"/>
                  </a:spcAft>
                  <a:buSzPts val="800"/>
                  <a:buFont typeface="Roboto"/>
                  <a:buChar char="●"/>
                </a:pPr>
                <a:r>
                  <a:rPr lang="en-US" sz="800">
                    <a:latin typeface="Roboto"/>
                    <a:ea typeface="Roboto"/>
                    <a:cs typeface="Roboto"/>
                    <a:sym typeface="Roboto"/>
                  </a:rPr>
                  <a:t>Burndown Chart</a:t>
                </a:r>
                <a:endParaRPr sz="800">
                  <a:latin typeface="Roboto"/>
                  <a:ea typeface="Roboto"/>
                  <a:cs typeface="Roboto"/>
                  <a:sym typeface="Roboto"/>
                </a:endParaRPr>
              </a:p>
              <a:p>
                <a:pPr indent="-279400" lvl="0" marL="457200" rtl="0" algn="l">
                  <a:lnSpc>
                    <a:spcPct val="115000"/>
                  </a:lnSpc>
                  <a:spcBef>
                    <a:spcPts val="0"/>
                  </a:spcBef>
                  <a:spcAft>
                    <a:spcPts val="0"/>
                  </a:spcAft>
                  <a:buSzPts val="800"/>
                  <a:buFont typeface="Roboto"/>
                  <a:buChar char="●"/>
                </a:pPr>
                <a:r>
                  <a:rPr lang="en-US" sz="800">
                    <a:latin typeface="Roboto"/>
                    <a:ea typeface="Roboto"/>
                    <a:cs typeface="Roboto"/>
                    <a:sym typeface="Roboto"/>
                  </a:rPr>
                  <a:t>Riesgos</a:t>
                </a:r>
                <a:endParaRPr sz="800">
                  <a:latin typeface="Roboto"/>
                  <a:ea typeface="Roboto"/>
                  <a:cs typeface="Roboto"/>
                  <a:sym typeface="Roboto"/>
                </a:endParaRPr>
              </a:p>
              <a:p>
                <a:pPr indent="-279400" lvl="0" marL="457200" rtl="0" algn="l">
                  <a:lnSpc>
                    <a:spcPct val="115000"/>
                  </a:lnSpc>
                  <a:spcBef>
                    <a:spcPts val="0"/>
                  </a:spcBef>
                  <a:spcAft>
                    <a:spcPts val="0"/>
                  </a:spcAft>
                  <a:buSzPts val="800"/>
                  <a:buFont typeface="Roboto"/>
                  <a:buChar char="●"/>
                </a:pPr>
                <a:r>
                  <a:rPr lang="en-US" sz="800">
                    <a:latin typeface="Roboto"/>
                    <a:ea typeface="Roboto"/>
                    <a:cs typeface="Roboto"/>
                    <a:sym typeface="Roboto"/>
                  </a:rPr>
                  <a:t>Impediment Log</a:t>
                </a:r>
                <a:endParaRPr sz="800">
                  <a:latin typeface="Roboto"/>
                  <a:ea typeface="Roboto"/>
                  <a:cs typeface="Roboto"/>
                  <a:sym typeface="Roboto"/>
                </a:endParaRPr>
              </a:p>
              <a:p>
                <a:pPr indent="-279400" lvl="0" marL="457200" rtl="0" algn="l">
                  <a:lnSpc>
                    <a:spcPct val="115000"/>
                  </a:lnSpc>
                  <a:spcBef>
                    <a:spcPts val="0"/>
                  </a:spcBef>
                  <a:spcAft>
                    <a:spcPts val="0"/>
                  </a:spcAft>
                  <a:buSzPts val="800"/>
                  <a:buFont typeface="Roboto"/>
                  <a:buChar char="●"/>
                </a:pPr>
                <a:r>
                  <a:rPr lang="en-US" sz="800">
                    <a:latin typeface="Roboto"/>
                    <a:ea typeface="Roboto"/>
                    <a:cs typeface="Roboto"/>
                    <a:sym typeface="Roboto"/>
                  </a:rPr>
                  <a:t>Daily Meeting</a:t>
                </a:r>
                <a:endParaRPr sz="800">
                  <a:latin typeface="Roboto"/>
                  <a:ea typeface="Roboto"/>
                  <a:cs typeface="Roboto"/>
                  <a:sym typeface="Roboto"/>
                </a:endParaRPr>
              </a:p>
            </p:txBody>
          </p:sp>
        </p:grpSp>
        <p:grpSp>
          <p:nvGrpSpPr>
            <p:cNvPr id="532" name="Google Shape;532;p43"/>
            <p:cNvGrpSpPr/>
            <p:nvPr/>
          </p:nvGrpSpPr>
          <p:grpSpPr>
            <a:xfrm>
              <a:off x="1270266" y="940260"/>
              <a:ext cx="6280721" cy="643500"/>
              <a:chOff x="1270254" y="2322568"/>
              <a:chExt cx="6280721" cy="643500"/>
            </a:xfrm>
          </p:grpSpPr>
          <p:sp>
            <p:nvSpPr>
              <p:cNvPr id="533" name="Google Shape;533;p43"/>
              <p:cNvSpPr/>
              <p:nvPr/>
            </p:nvSpPr>
            <p:spPr>
              <a:xfrm>
                <a:off x="3728375" y="2322568"/>
                <a:ext cx="3822600" cy="643500"/>
              </a:xfrm>
              <a:prstGeom prst="rect">
                <a:avLst/>
              </a:prstGeom>
              <a:solidFill>
                <a:srgbClr val="F8F8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43"/>
              <p:cNvSpPr/>
              <p:nvPr/>
            </p:nvSpPr>
            <p:spPr>
              <a:xfrm flipH="1">
                <a:off x="2283025" y="2322575"/>
                <a:ext cx="1844400" cy="64260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43"/>
              <p:cNvSpPr/>
              <p:nvPr/>
            </p:nvSpPr>
            <p:spPr>
              <a:xfrm rot="-5400000">
                <a:off x="3501574" y="1934671"/>
                <a:ext cx="643356" cy="1419149"/>
              </a:xfrm>
              <a:prstGeom prst="flowChartOffpageConnector">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43"/>
              <p:cNvSpPr/>
              <p:nvPr/>
            </p:nvSpPr>
            <p:spPr>
              <a:xfrm>
                <a:off x="2342625" y="2399951"/>
                <a:ext cx="1940700" cy="49590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1000">
                    <a:latin typeface="Roboto Medium"/>
                    <a:ea typeface="Roboto Medium"/>
                    <a:cs typeface="Roboto Medium"/>
                    <a:sym typeface="Roboto Medium"/>
                  </a:rPr>
                  <a:t>FUNDACIÓN ESTRATÉGICA</a:t>
                </a:r>
                <a:endParaRPr sz="1000">
                  <a:latin typeface="Roboto"/>
                  <a:ea typeface="Roboto"/>
                  <a:cs typeface="Roboto"/>
                  <a:sym typeface="Roboto"/>
                </a:endParaRPr>
              </a:p>
            </p:txBody>
          </p:sp>
          <p:sp>
            <p:nvSpPr>
              <p:cNvPr id="537" name="Google Shape;537;p43"/>
              <p:cNvSpPr/>
              <p:nvPr/>
            </p:nvSpPr>
            <p:spPr>
              <a:xfrm>
                <a:off x="1593000" y="2322568"/>
                <a:ext cx="690000" cy="642300"/>
              </a:xfrm>
              <a:prstGeom prst="rect">
                <a:avLst/>
              </a:prstGeom>
              <a:solidFill>
                <a:srgbClr val="B02B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43"/>
              <p:cNvSpPr/>
              <p:nvPr/>
            </p:nvSpPr>
            <p:spPr>
              <a:xfrm>
                <a:off x="1270254" y="2322570"/>
                <a:ext cx="1012800" cy="642600"/>
              </a:xfrm>
              <a:prstGeom prst="rect">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600">
                    <a:latin typeface="Roboto Thin"/>
                    <a:ea typeface="Roboto Thin"/>
                    <a:cs typeface="Roboto Thin"/>
                    <a:sym typeface="Roboto Thin"/>
                  </a:rPr>
                  <a:t>01</a:t>
                </a:r>
                <a:endParaRPr sz="2600">
                  <a:latin typeface="Roboto Thin"/>
                  <a:ea typeface="Roboto Thin"/>
                  <a:cs typeface="Roboto Thin"/>
                  <a:sym typeface="Roboto Thin"/>
                </a:endParaRPr>
              </a:p>
            </p:txBody>
          </p:sp>
          <p:sp>
            <p:nvSpPr>
              <p:cNvPr id="539" name="Google Shape;539;p43"/>
              <p:cNvSpPr/>
              <p:nvPr/>
            </p:nvSpPr>
            <p:spPr>
              <a:xfrm>
                <a:off x="4387850" y="2323750"/>
                <a:ext cx="2971200" cy="642300"/>
              </a:xfrm>
              <a:prstGeom prst="rect">
                <a:avLst/>
              </a:prstGeom>
              <a:solidFill>
                <a:srgbClr val="F8F8F8"/>
              </a:solidFill>
              <a:ln>
                <a:noFill/>
              </a:ln>
            </p:spPr>
            <p:txBody>
              <a:bodyPr anchorCtr="0" anchor="ctr" bIns="91425" lIns="91425" spcFirstLastPara="1" rIns="91425" wrap="square" tIns="91425">
                <a:noAutofit/>
              </a:bodyPr>
              <a:lstStyle/>
              <a:p>
                <a:pPr indent="-279400" lvl="0" marL="457200" rtl="0" algn="l">
                  <a:lnSpc>
                    <a:spcPct val="115000"/>
                  </a:lnSpc>
                  <a:spcBef>
                    <a:spcPts val="0"/>
                  </a:spcBef>
                  <a:spcAft>
                    <a:spcPts val="0"/>
                  </a:spcAft>
                  <a:buSzPts val="800"/>
                  <a:buFont typeface="Roboto"/>
                  <a:buChar char="●"/>
                </a:pPr>
                <a:r>
                  <a:rPr lang="en-US" sz="800">
                    <a:latin typeface="Roboto"/>
                    <a:ea typeface="Roboto"/>
                    <a:cs typeface="Roboto"/>
                    <a:sym typeface="Roboto"/>
                  </a:rPr>
                  <a:t>Historias de Usuario</a:t>
                </a:r>
                <a:endParaRPr sz="800">
                  <a:latin typeface="Roboto"/>
                  <a:ea typeface="Roboto"/>
                  <a:cs typeface="Roboto"/>
                  <a:sym typeface="Roboto"/>
                </a:endParaRPr>
              </a:p>
              <a:p>
                <a:pPr indent="-279400" lvl="0" marL="457200" rtl="0" algn="l">
                  <a:lnSpc>
                    <a:spcPct val="115000"/>
                  </a:lnSpc>
                  <a:spcBef>
                    <a:spcPts val="0"/>
                  </a:spcBef>
                  <a:spcAft>
                    <a:spcPts val="0"/>
                  </a:spcAft>
                  <a:buSzPts val="800"/>
                  <a:buFont typeface="Roboto"/>
                  <a:buChar char="●"/>
                </a:pPr>
                <a:r>
                  <a:rPr lang="en-US" sz="800">
                    <a:latin typeface="Roboto"/>
                    <a:ea typeface="Roboto"/>
                    <a:cs typeface="Roboto"/>
                    <a:sym typeface="Roboto"/>
                  </a:rPr>
                  <a:t>Product Backlog </a:t>
                </a:r>
                <a:endParaRPr sz="800">
                  <a:latin typeface="Roboto"/>
                  <a:ea typeface="Roboto"/>
                  <a:cs typeface="Roboto"/>
                  <a:sym typeface="Roboto"/>
                </a:endParaRPr>
              </a:p>
              <a:p>
                <a:pPr indent="-279400" lvl="0" marL="457200" rtl="0" algn="l">
                  <a:lnSpc>
                    <a:spcPct val="115000"/>
                  </a:lnSpc>
                  <a:spcBef>
                    <a:spcPts val="0"/>
                  </a:spcBef>
                  <a:spcAft>
                    <a:spcPts val="0"/>
                  </a:spcAft>
                  <a:buSzPts val="800"/>
                  <a:buFont typeface="Roboto"/>
                  <a:buChar char="●"/>
                </a:pPr>
                <a:r>
                  <a:rPr lang="en-US" sz="800">
                    <a:latin typeface="Roboto"/>
                    <a:ea typeface="Roboto"/>
                    <a:cs typeface="Roboto"/>
                    <a:sym typeface="Roboto"/>
                  </a:rPr>
                  <a:t>Arquitectura</a:t>
                </a:r>
                <a:endParaRPr sz="800">
                  <a:latin typeface="Roboto"/>
                  <a:ea typeface="Roboto"/>
                  <a:cs typeface="Roboto"/>
                  <a:sym typeface="Roboto"/>
                </a:endParaRPr>
              </a:p>
            </p:txBody>
          </p:sp>
        </p:grpSp>
        <p:grpSp>
          <p:nvGrpSpPr>
            <p:cNvPr id="540" name="Google Shape;540;p43"/>
            <p:cNvGrpSpPr/>
            <p:nvPr/>
          </p:nvGrpSpPr>
          <p:grpSpPr>
            <a:xfrm>
              <a:off x="1270266" y="2904879"/>
              <a:ext cx="6280721" cy="643500"/>
              <a:chOff x="1270254" y="2322568"/>
              <a:chExt cx="6280721" cy="643500"/>
            </a:xfrm>
          </p:grpSpPr>
          <p:sp>
            <p:nvSpPr>
              <p:cNvPr id="541" name="Google Shape;541;p43"/>
              <p:cNvSpPr/>
              <p:nvPr/>
            </p:nvSpPr>
            <p:spPr>
              <a:xfrm>
                <a:off x="3728375" y="2322568"/>
                <a:ext cx="3822600" cy="643500"/>
              </a:xfrm>
              <a:prstGeom prst="rect">
                <a:avLst/>
              </a:prstGeom>
              <a:solidFill>
                <a:srgbClr val="F8F8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43"/>
              <p:cNvSpPr/>
              <p:nvPr/>
            </p:nvSpPr>
            <p:spPr>
              <a:xfrm flipH="1">
                <a:off x="2283025" y="2322575"/>
                <a:ext cx="1844400" cy="64260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43"/>
              <p:cNvSpPr/>
              <p:nvPr/>
            </p:nvSpPr>
            <p:spPr>
              <a:xfrm rot="-5400000">
                <a:off x="3501574" y="1934671"/>
                <a:ext cx="643356" cy="1419149"/>
              </a:xfrm>
              <a:prstGeom prst="flowChartOffpageConnector">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43"/>
              <p:cNvSpPr/>
              <p:nvPr/>
            </p:nvSpPr>
            <p:spPr>
              <a:xfrm>
                <a:off x="2342625" y="2399951"/>
                <a:ext cx="1940700" cy="49590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1000">
                    <a:latin typeface="Roboto Medium"/>
                    <a:ea typeface="Roboto Medium"/>
                    <a:cs typeface="Roboto Medium"/>
                    <a:sym typeface="Roboto Medium"/>
                  </a:rPr>
                  <a:t>APRENDIZAJE Y MEJORA</a:t>
                </a:r>
                <a:endParaRPr sz="1000">
                  <a:latin typeface="Roboto"/>
                  <a:ea typeface="Roboto"/>
                  <a:cs typeface="Roboto"/>
                  <a:sym typeface="Roboto"/>
                </a:endParaRPr>
              </a:p>
            </p:txBody>
          </p:sp>
          <p:sp>
            <p:nvSpPr>
              <p:cNvPr id="545" name="Google Shape;545;p43"/>
              <p:cNvSpPr/>
              <p:nvPr/>
            </p:nvSpPr>
            <p:spPr>
              <a:xfrm>
                <a:off x="1593000" y="2322568"/>
                <a:ext cx="690000" cy="642300"/>
              </a:xfrm>
              <a:prstGeom prst="rect">
                <a:avLst/>
              </a:prstGeom>
              <a:solidFill>
                <a:srgbClr val="B02B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43"/>
              <p:cNvSpPr/>
              <p:nvPr/>
            </p:nvSpPr>
            <p:spPr>
              <a:xfrm>
                <a:off x="1270254" y="2322575"/>
                <a:ext cx="1012800" cy="642600"/>
              </a:xfrm>
              <a:prstGeom prst="rect">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600">
                    <a:latin typeface="Roboto Thin"/>
                    <a:ea typeface="Roboto Thin"/>
                    <a:cs typeface="Roboto Thin"/>
                    <a:sym typeface="Roboto Thin"/>
                  </a:rPr>
                  <a:t>04</a:t>
                </a:r>
                <a:endParaRPr sz="2600">
                  <a:latin typeface="Roboto Thin"/>
                  <a:ea typeface="Roboto Thin"/>
                  <a:cs typeface="Roboto Thin"/>
                  <a:sym typeface="Roboto Thin"/>
                </a:endParaRPr>
              </a:p>
            </p:txBody>
          </p:sp>
          <p:sp>
            <p:nvSpPr>
              <p:cNvPr id="547" name="Google Shape;547;p43"/>
              <p:cNvSpPr/>
              <p:nvPr/>
            </p:nvSpPr>
            <p:spPr>
              <a:xfrm>
                <a:off x="4387850" y="2323750"/>
                <a:ext cx="2971200" cy="642300"/>
              </a:xfrm>
              <a:prstGeom prst="rect">
                <a:avLst/>
              </a:prstGeom>
              <a:solidFill>
                <a:srgbClr val="F8F8F8"/>
              </a:solidFill>
              <a:ln>
                <a:noFill/>
              </a:ln>
            </p:spPr>
            <p:txBody>
              <a:bodyPr anchorCtr="0" anchor="ctr" bIns="91425" lIns="91425" spcFirstLastPara="1" rIns="91425" wrap="square" tIns="91425">
                <a:noAutofit/>
              </a:bodyPr>
              <a:lstStyle/>
              <a:p>
                <a:pPr indent="-279400" lvl="0" marL="457200" rtl="0" algn="l">
                  <a:lnSpc>
                    <a:spcPct val="115000"/>
                  </a:lnSpc>
                  <a:spcBef>
                    <a:spcPts val="0"/>
                  </a:spcBef>
                  <a:spcAft>
                    <a:spcPts val="0"/>
                  </a:spcAft>
                  <a:buSzPts val="800"/>
                  <a:buFont typeface="Roboto"/>
                  <a:buChar char="●"/>
                </a:pPr>
                <a:r>
                  <a:rPr lang="en-US" sz="800">
                    <a:latin typeface="Roboto"/>
                    <a:ea typeface="Roboto"/>
                    <a:cs typeface="Roboto"/>
                    <a:sym typeface="Roboto"/>
                  </a:rPr>
                  <a:t>Sprint Review (Demo)</a:t>
                </a:r>
                <a:endParaRPr sz="800">
                  <a:latin typeface="Roboto"/>
                  <a:ea typeface="Roboto"/>
                  <a:cs typeface="Roboto"/>
                  <a:sym typeface="Roboto"/>
                </a:endParaRPr>
              </a:p>
              <a:p>
                <a:pPr indent="-279400" lvl="0" marL="457200" rtl="0" algn="l">
                  <a:lnSpc>
                    <a:spcPct val="115000"/>
                  </a:lnSpc>
                  <a:spcBef>
                    <a:spcPts val="0"/>
                  </a:spcBef>
                  <a:spcAft>
                    <a:spcPts val="0"/>
                  </a:spcAft>
                  <a:buSzPts val="800"/>
                  <a:buFont typeface="Roboto"/>
                  <a:buChar char="●"/>
                </a:pPr>
                <a:r>
                  <a:rPr lang="en-US" sz="800">
                    <a:latin typeface="Roboto"/>
                    <a:ea typeface="Roboto"/>
                    <a:cs typeface="Roboto"/>
                    <a:sym typeface="Roboto"/>
                  </a:rPr>
                  <a:t>Retrospectiva Sprint </a:t>
                </a:r>
                <a:endParaRPr sz="800">
                  <a:latin typeface="Roboto"/>
                  <a:ea typeface="Roboto"/>
                  <a:cs typeface="Roboto"/>
                  <a:sym typeface="Roboto"/>
                </a:endParaRPr>
              </a:p>
            </p:txBody>
          </p:sp>
        </p:grpSp>
      </p:grpSp>
      <p:grpSp>
        <p:nvGrpSpPr>
          <p:cNvPr id="548" name="Google Shape;548;p43"/>
          <p:cNvGrpSpPr/>
          <p:nvPr/>
        </p:nvGrpSpPr>
        <p:grpSpPr>
          <a:xfrm>
            <a:off x="4686477" y="1483160"/>
            <a:ext cx="3689296" cy="2608119"/>
            <a:chOff x="1270266" y="940260"/>
            <a:chExt cx="6280721" cy="2608119"/>
          </a:xfrm>
        </p:grpSpPr>
        <p:grpSp>
          <p:nvGrpSpPr>
            <p:cNvPr id="549" name="Google Shape;549;p43"/>
            <p:cNvGrpSpPr/>
            <p:nvPr/>
          </p:nvGrpSpPr>
          <p:grpSpPr>
            <a:xfrm>
              <a:off x="1270266" y="1595119"/>
              <a:ext cx="6280721" cy="643500"/>
              <a:chOff x="1270254" y="2322568"/>
              <a:chExt cx="6280721" cy="643500"/>
            </a:xfrm>
          </p:grpSpPr>
          <p:sp>
            <p:nvSpPr>
              <p:cNvPr id="550" name="Google Shape;550;p43"/>
              <p:cNvSpPr/>
              <p:nvPr/>
            </p:nvSpPr>
            <p:spPr>
              <a:xfrm>
                <a:off x="3728375" y="2322568"/>
                <a:ext cx="3822600" cy="643500"/>
              </a:xfrm>
              <a:prstGeom prst="rect">
                <a:avLst/>
              </a:prstGeom>
              <a:solidFill>
                <a:srgbClr val="F8F8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43"/>
              <p:cNvSpPr/>
              <p:nvPr/>
            </p:nvSpPr>
            <p:spPr>
              <a:xfrm flipH="1">
                <a:off x="2283025" y="2322575"/>
                <a:ext cx="1844400" cy="64260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43"/>
              <p:cNvSpPr/>
              <p:nvPr/>
            </p:nvSpPr>
            <p:spPr>
              <a:xfrm rot="-5400000">
                <a:off x="3501574" y="1934671"/>
                <a:ext cx="643356" cy="1419149"/>
              </a:xfrm>
              <a:prstGeom prst="flowChartOffpageConnector">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43"/>
              <p:cNvSpPr/>
              <p:nvPr/>
            </p:nvSpPr>
            <p:spPr>
              <a:xfrm>
                <a:off x="2342625" y="2399951"/>
                <a:ext cx="19407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1000">
                    <a:latin typeface="Roboto Medium"/>
                    <a:ea typeface="Roboto Medium"/>
                    <a:cs typeface="Roboto Medium"/>
                    <a:sym typeface="Roboto Medium"/>
                  </a:rPr>
                  <a:t>PRODUCTO FUNCIONAL</a:t>
                </a:r>
                <a:endParaRPr sz="1000">
                  <a:latin typeface="Roboto"/>
                  <a:ea typeface="Roboto"/>
                  <a:cs typeface="Roboto"/>
                  <a:sym typeface="Roboto"/>
                </a:endParaRPr>
              </a:p>
            </p:txBody>
          </p:sp>
          <p:sp>
            <p:nvSpPr>
              <p:cNvPr id="554" name="Google Shape;554;p43"/>
              <p:cNvSpPr/>
              <p:nvPr/>
            </p:nvSpPr>
            <p:spPr>
              <a:xfrm>
                <a:off x="1593000" y="2322568"/>
                <a:ext cx="690000" cy="642300"/>
              </a:xfrm>
              <a:prstGeom prst="rect">
                <a:avLst/>
              </a:prstGeom>
              <a:solidFill>
                <a:srgbClr val="B02B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43"/>
              <p:cNvSpPr/>
              <p:nvPr/>
            </p:nvSpPr>
            <p:spPr>
              <a:xfrm>
                <a:off x="1270254" y="2322572"/>
                <a:ext cx="1012800" cy="642600"/>
              </a:xfrm>
              <a:prstGeom prst="rect">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600">
                    <a:latin typeface="Roboto Thin"/>
                    <a:ea typeface="Roboto Thin"/>
                    <a:cs typeface="Roboto Thin"/>
                    <a:sym typeface="Roboto Thin"/>
                  </a:rPr>
                  <a:t>06</a:t>
                </a:r>
                <a:endParaRPr sz="2600">
                  <a:latin typeface="Roboto Thin"/>
                  <a:ea typeface="Roboto Thin"/>
                  <a:cs typeface="Roboto Thin"/>
                  <a:sym typeface="Roboto Thin"/>
                </a:endParaRPr>
              </a:p>
            </p:txBody>
          </p:sp>
          <p:sp>
            <p:nvSpPr>
              <p:cNvPr id="556" name="Google Shape;556;p43"/>
              <p:cNvSpPr/>
              <p:nvPr/>
            </p:nvSpPr>
            <p:spPr>
              <a:xfrm>
                <a:off x="4387850" y="2323750"/>
                <a:ext cx="2971200" cy="642300"/>
              </a:xfrm>
              <a:prstGeom prst="rect">
                <a:avLst/>
              </a:prstGeom>
              <a:noFill/>
              <a:ln>
                <a:noFill/>
              </a:ln>
            </p:spPr>
            <p:txBody>
              <a:bodyPr anchorCtr="0" anchor="ctr" bIns="91425" lIns="91425" spcFirstLastPara="1" rIns="91425" wrap="square" tIns="91425">
                <a:noAutofit/>
              </a:bodyPr>
              <a:lstStyle/>
              <a:p>
                <a:pPr indent="-279400" lvl="0" marL="457200" rtl="0" algn="l">
                  <a:lnSpc>
                    <a:spcPct val="115000"/>
                  </a:lnSpc>
                  <a:spcBef>
                    <a:spcPts val="0"/>
                  </a:spcBef>
                  <a:spcAft>
                    <a:spcPts val="0"/>
                  </a:spcAft>
                  <a:buSzPts val="800"/>
                  <a:buFont typeface="Roboto"/>
                  <a:buChar char="●"/>
                </a:pPr>
                <a:r>
                  <a:rPr lang="en-US" sz="800">
                    <a:latin typeface="Roboto"/>
                    <a:ea typeface="Roboto"/>
                    <a:cs typeface="Roboto"/>
                    <a:sym typeface="Roboto"/>
                  </a:rPr>
                  <a:t>Incremento de Software (MVP)</a:t>
                </a:r>
                <a:endParaRPr sz="800">
                  <a:latin typeface="Roboto"/>
                  <a:ea typeface="Roboto"/>
                  <a:cs typeface="Roboto"/>
                  <a:sym typeface="Roboto"/>
                </a:endParaRPr>
              </a:p>
            </p:txBody>
          </p:sp>
        </p:grpSp>
        <p:grpSp>
          <p:nvGrpSpPr>
            <p:cNvPr id="557" name="Google Shape;557;p43"/>
            <p:cNvGrpSpPr/>
            <p:nvPr/>
          </p:nvGrpSpPr>
          <p:grpSpPr>
            <a:xfrm>
              <a:off x="1270266" y="2250012"/>
              <a:ext cx="6280721" cy="643500"/>
              <a:chOff x="1270254" y="2322568"/>
              <a:chExt cx="6280721" cy="643500"/>
            </a:xfrm>
          </p:grpSpPr>
          <p:sp>
            <p:nvSpPr>
              <p:cNvPr id="558" name="Google Shape;558;p43"/>
              <p:cNvSpPr/>
              <p:nvPr/>
            </p:nvSpPr>
            <p:spPr>
              <a:xfrm>
                <a:off x="3728375" y="2322568"/>
                <a:ext cx="3822600" cy="643500"/>
              </a:xfrm>
              <a:prstGeom prst="rect">
                <a:avLst/>
              </a:prstGeom>
              <a:solidFill>
                <a:srgbClr val="F8F8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43"/>
              <p:cNvSpPr/>
              <p:nvPr/>
            </p:nvSpPr>
            <p:spPr>
              <a:xfrm flipH="1">
                <a:off x="2283025" y="2322575"/>
                <a:ext cx="1844400" cy="64260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43"/>
              <p:cNvSpPr/>
              <p:nvPr/>
            </p:nvSpPr>
            <p:spPr>
              <a:xfrm rot="-5400000">
                <a:off x="3501574" y="1934671"/>
                <a:ext cx="643356" cy="1419149"/>
              </a:xfrm>
              <a:prstGeom prst="flowChartOffpageConnector">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43"/>
              <p:cNvSpPr/>
              <p:nvPr/>
            </p:nvSpPr>
            <p:spPr>
              <a:xfrm>
                <a:off x="2283018" y="2399955"/>
                <a:ext cx="2000400" cy="49590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900">
                    <a:latin typeface="Roboto Medium"/>
                    <a:ea typeface="Roboto Medium"/>
                    <a:cs typeface="Roboto Medium"/>
                    <a:sym typeface="Roboto Medium"/>
                  </a:rPr>
                  <a:t>DOCUMENTACIÓN FINAL</a:t>
                </a:r>
                <a:endParaRPr sz="900">
                  <a:latin typeface="Roboto"/>
                  <a:ea typeface="Roboto"/>
                  <a:cs typeface="Roboto"/>
                  <a:sym typeface="Roboto"/>
                </a:endParaRPr>
              </a:p>
            </p:txBody>
          </p:sp>
          <p:sp>
            <p:nvSpPr>
              <p:cNvPr id="562" name="Google Shape;562;p43"/>
              <p:cNvSpPr/>
              <p:nvPr/>
            </p:nvSpPr>
            <p:spPr>
              <a:xfrm>
                <a:off x="1593000" y="2322568"/>
                <a:ext cx="690000" cy="642300"/>
              </a:xfrm>
              <a:prstGeom prst="rect">
                <a:avLst/>
              </a:prstGeom>
              <a:solidFill>
                <a:srgbClr val="B02B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43"/>
              <p:cNvSpPr/>
              <p:nvPr/>
            </p:nvSpPr>
            <p:spPr>
              <a:xfrm>
                <a:off x="1270254" y="2322574"/>
                <a:ext cx="1012800" cy="642600"/>
              </a:xfrm>
              <a:prstGeom prst="rect">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600">
                    <a:latin typeface="Roboto Thin"/>
                    <a:ea typeface="Roboto Thin"/>
                    <a:cs typeface="Roboto Thin"/>
                    <a:sym typeface="Roboto Thin"/>
                  </a:rPr>
                  <a:t>07</a:t>
                </a:r>
                <a:endParaRPr sz="2600">
                  <a:latin typeface="Roboto Thin"/>
                  <a:ea typeface="Roboto Thin"/>
                  <a:cs typeface="Roboto Thin"/>
                  <a:sym typeface="Roboto Thin"/>
                </a:endParaRPr>
              </a:p>
            </p:txBody>
          </p:sp>
          <p:sp>
            <p:nvSpPr>
              <p:cNvPr id="564" name="Google Shape;564;p43"/>
              <p:cNvSpPr/>
              <p:nvPr/>
            </p:nvSpPr>
            <p:spPr>
              <a:xfrm>
                <a:off x="4387850" y="2323750"/>
                <a:ext cx="2971200" cy="642300"/>
              </a:xfrm>
              <a:prstGeom prst="rect">
                <a:avLst/>
              </a:prstGeom>
              <a:noFill/>
              <a:ln>
                <a:noFill/>
              </a:ln>
            </p:spPr>
            <p:txBody>
              <a:bodyPr anchorCtr="0" anchor="ctr" bIns="91425" lIns="91425" spcFirstLastPara="1" rIns="91425" wrap="square" tIns="91425">
                <a:noAutofit/>
              </a:bodyPr>
              <a:lstStyle/>
              <a:p>
                <a:pPr indent="-279400" lvl="0" marL="457200" rtl="0" algn="l">
                  <a:lnSpc>
                    <a:spcPct val="115000"/>
                  </a:lnSpc>
                  <a:spcBef>
                    <a:spcPts val="0"/>
                  </a:spcBef>
                  <a:spcAft>
                    <a:spcPts val="0"/>
                  </a:spcAft>
                  <a:buSzPts val="800"/>
                  <a:buFont typeface="Roboto"/>
                  <a:buChar char="●"/>
                </a:pPr>
                <a:r>
                  <a:rPr lang="en-US" sz="800">
                    <a:latin typeface="Roboto"/>
                    <a:ea typeface="Roboto"/>
                    <a:cs typeface="Roboto"/>
                    <a:sym typeface="Roboto"/>
                  </a:rPr>
                  <a:t>Manuales Técnicos y de Usuario</a:t>
                </a:r>
                <a:endParaRPr sz="800">
                  <a:latin typeface="Roboto"/>
                  <a:ea typeface="Roboto"/>
                  <a:cs typeface="Roboto"/>
                  <a:sym typeface="Roboto"/>
                </a:endParaRPr>
              </a:p>
            </p:txBody>
          </p:sp>
        </p:grpSp>
        <p:grpSp>
          <p:nvGrpSpPr>
            <p:cNvPr id="565" name="Google Shape;565;p43"/>
            <p:cNvGrpSpPr/>
            <p:nvPr/>
          </p:nvGrpSpPr>
          <p:grpSpPr>
            <a:xfrm>
              <a:off x="1270266" y="940260"/>
              <a:ext cx="6280721" cy="643500"/>
              <a:chOff x="1270254" y="2322568"/>
              <a:chExt cx="6280721" cy="643500"/>
            </a:xfrm>
          </p:grpSpPr>
          <p:sp>
            <p:nvSpPr>
              <p:cNvPr id="566" name="Google Shape;566;p43"/>
              <p:cNvSpPr/>
              <p:nvPr/>
            </p:nvSpPr>
            <p:spPr>
              <a:xfrm>
                <a:off x="3728375" y="2322568"/>
                <a:ext cx="3822600" cy="643500"/>
              </a:xfrm>
              <a:prstGeom prst="rect">
                <a:avLst/>
              </a:prstGeom>
              <a:solidFill>
                <a:srgbClr val="F8F8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43"/>
              <p:cNvSpPr/>
              <p:nvPr/>
            </p:nvSpPr>
            <p:spPr>
              <a:xfrm flipH="1">
                <a:off x="2283025" y="2322575"/>
                <a:ext cx="1844400" cy="64260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43"/>
              <p:cNvSpPr/>
              <p:nvPr/>
            </p:nvSpPr>
            <p:spPr>
              <a:xfrm rot="-5400000">
                <a:off x="3501574" y="1934671"/>
                <a:ext cx="643356" cy="1419149"/>
              </a:xfrm>
              <a:prstGeom prst="flowChartOffpageConnector">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43"/>
              <p:cNvSpPr/>
              <p:nvPr/>
            </p:nvSpPr>
            <p:spPr>
              <a:xfrm>
                <a:off x="2342625" y="2399951"/>
                <a:ext cx="1940700" cy="49590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1000">
                    <a:latin typeface="Roboto Medium"/>
                    <a:ea typeface="Roboto Medium"/>
                    <a:cs typeface="Roboto Medium"/>
                    <a:sym typeface="Roboto Medium"/>
                  </a:rPr>
                  <a:t>CÓDIGO FUENTE</a:t>
                </a:r>
                <a:endParaRPr sz="1000">
                  <a:latin typeface="Roboto"/>
                  <a:ea typeface="Roboto"/>
                  <a:cs typeface="Roboto"/>
                  <a:sym typeface="Roboto"/>
                </a:endParaRPr>
              </a:p>
            </p:txBody>
          </p:sp>
          <p:sp>
            <p:nvSpPr>
              <p:cNvPr id="570" name="Google Shape;570;p43"/>
              <p:cNvSpPr/>
              <p:nvPr/>
            </p:nvSpPr>
            <p:spPr>
              <a:xfrm>
                <a:off x="1593000" y="2322568"/>
                <a:ext cx="690000" cy="642300"/>
              </a:xfrm>
              <a:prstGeom prst="rect">
                <a:avLst/>
              </a:prstGeom>
              <a:solidFill>
                <a:srgbClr val="B02B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43"/>
              <p:cNvSpPr/>
              <p:nvPr/>
            </p:nvSpPr>
            <p:spPr>
              <a:xfrm>
                <a:off x="1270254" y="2322570"/>
                <a:ext cx="1012800" cy="642600"/>
              </a:xfrm>
              <a:prstGeom prst="rect">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600">
                    <a:latin typeface="Roboto Thin"/>
                    <a:ea typeface="Roboto Thin"/>
                    <a:cs typeface="Roboto Thin"/>
                    <a:sym typeface="Roboto Thin"/>
                  </a:rPr>
                  <a:t>05</a:t>
                </a:r>
                <a:endParaRPr sz="2600">
                  <a:latin typeface="Roboto Thin"/>
                  <a:ea typeface="Roboto Thin"/>
                  <a:cs typeface="Roboto Thin"/>
                  <a:sym typeface="Roboto Thin"/>
                </a:endParaRPr>
              </a:p>
            </p:txBody>
          </p:sp>
          <p:sp>
            <p:nvSpPr>
              <p:cNvPr id="572" name="Google Shape;572;p43"/>
              <p:cNvSpPr/>
              <p:nvPr/>
            </p:nvSpPr>
            <p:spPr>
              <a:xfrm>
                <a:off x="4387850" y="2323750"/>
                <a:ext cx="2971200" cy="642300"/>
              </a:xfrm>
              <a:prstGeom prst="rect">
                <a:avLst/>
              </a:prstGeom>
              <a:noFill/>
              <a:ln>
                <a:noFill/>
              </a:ln>
            </p:spPr>
            <p:txBody>
              <a:bodyPr anchorCtr="0" anchor="ctr" bIns="91425" lIns="91425" spcFirstLastPara="1" rIns="91425" wrap="square" tIns="91425">
                <a:noAutofit/>
              </a:bodyPr>
              <a:lstStyle/>
              <a:p>
                <a:pPr indent="-279400" lvl="0" marL="457200" rtl="0" algn="l">
                  <a:lnSpc>
                    <a:spcPct val="115000"/>
                  </a:lnSpc>
                  <a:spcBef>
                    <a:spcPts val="0"/>
                  </a:spcBef>
                  <a:spcAft>
                    <a:spcPts val="0"/>
                  </a:spcAft>
                  <a:buSzPts val="800"/>
                  <a:buFont typeface="Roboto"/>
                  <a:buChar char="●"/>
                </a:pPr>
                <a:r>
                  <a:rPr lang="en-US" sz="800">
                    <a:latin typeface="Roboto"/>
                    <a:ea typeface="Roboto"/>
                    <a:cs typeface="Roboto"/>
                    <a:sym typeface="Roboto"/>
                  </a:rPr>
                  <a:t>Repositorios en GitHub</a:t>
                </a:r>
                <a:endParaRPr sz="800">
                  <a:latin typeface="Roboto"/>
                  <a:ea typeface="Roboto"/>
                  <a:cs typeface="Roboto"/>
                  <a:sym typeface="Roboto"/>
                </a:endParaRPr>
              </a:p>
            </p:txBody>
          </p:sp>
        </p:grpSp>
        <p:grpSp>
          <p:nvGrpSpPr>
            <p:cNvPr id="573" name="Google Shape;573;p43"/>
            <p:cNvGrpSpPr/>
            <p:nvPr/>
          </p:nvGrpSpPr>
          <p:grpSpPr>
            <a:xfrm>
              <a:off x="1270266" y="2904879"/>
              <a:ext cx="6280721" cy="643500"/>
              <a:chOff x="1270254" y="2322568"/>
              <a:chExt cx="6280721" cy="643500"/>
            </a:xfrm>
          </p:grpSpPr>
          <p:sp>
            <p:nvSpPr>
              <p:cNvPr id="574" name="Google Shape;574;p43"/>
              <p:cNvSpPr/>
              <p:nvPr/>
            </p:nvSpPr>
            <p:spPr>
              <a:xfrm>
                <a:off x="3728375" y="2322568"/>
                <a:ext cx="3822600" cy="643500"/>
              </a:xfrm>
              <a:prstGeom prst="rect">
                <a:avLst/>
              </a:prstGeom>
              <a:solidFill>
                <a:srgbClr val="F8F8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43"/>
              <p:cNvSpPr/>
              <p:nvPr/>
            </p:nvSpPr>
            <p:spPr>
              <a:xfrm flipH="1">
                <a:off x="2283025" y="2322575"/>
                <a:ext cx="1844400" cy="64260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43"/>
              <p:cNvSpPr/>
              <p:nvPr/>
            </p:nvSpPr>
            <p:spPr>
              <a:xfrm rot="-5400000">
                <a:off x="3501574" y="1934671"/>
                <a:ext cx="643356" cy="1419149"/>
              </a:xfrm>
              <a:prstGeom prst="flowChartOffpageConnector">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43"/>
              <p:cNvSpPr/>
              <p:nvPr/>
            </p:nvSpPr>
            <p:spPr>
              <a:xfrm>
                <a:off x="2342625" y="2399951"/>
                <a:ext cx="1940700" cy="49590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1000">
                    <a:latin typeface="Roboto Medium"/>
                    <a:ea typeface="Roboto Medium"/>
                    <a:cs typeface="Roboto Medium"/>
                    <a:sym typeface="Roboto Medium"/>
                  </a:rPr>
                  <a:t>ACEPTACIÓN FORMAL</a:t>
                </a:r>
                <a:endParaRPr sz="1000">
                  <a:latin typeface="Roboto"/>
                  <a:ea typeface="Roboto"/>
                  <a:cs typeface="Roboto"/>
                  <a:sym typeface="Roboto"/>
                </a:endParaRPr>
              </a:p>
            </p:txBody>
          </p:sp>
          <p:sp>
            <p:nvSpPr>
              <p:cNvPr id="578" name="Google Shape;578;p43"/>
              <p:cNvSpPr/>
              <p:nvPr/>
            </p:nvSpPr>
            <p:spPr>
              <a:xfrm>
                <a:off x="1593000" y="2322568"/>
                <a:ext cx="690000" cy="642300"/>
              </a:xfrm>
              <a:prstGeom prst="rect">
                <a:avLst/>
              </a:prstGeom>
              <a:solidFill>
                <a:srgbClr val="B02B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43"/>
              <p:cNvSpPr/>
              <p:nvPr/>
            </p:nvSpPr>
            <p:spPr>
              <a:xfrm>
                <a:off x="1270254" y="2322575"/>
                <a:ext cx="1012800" cy="642600"/>
              </a:xfrm>
              <a:prstGeom prst="rect">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600">
                    <a:latin typeface="Roboto Thin"/>
                    <a:ea typeface="Roboto Thin"/>
                    <a:cs typeface="Roboto Thin"/>
                    <a:sym typeface="Roboto Thin"/>
                  </a:rPr>
                  <a:t>08</a:t>
                </a:r>
                <a:endParaRPr sz="2600">
                  <a:latin typeface="Roboto Thin"/>
                  <a:ea typeface="Roboto Thin"/>
                  <a:cs typeface="Roboto Thin"/>
                  <a:sym typeface="Roboto Thin"/>
                </a:endParaRPr>
              </a:p>
            </p:txBody>
          </p:sp>
          <p:sp>
            <p:nvSpPr>
              <p:cNvPr id="580" name="Google Shape;580;p43"/>
              <p:cNvSpPr/>
              <p:nvPr/>
            </p:nvSpPr>
            <p:spPr>
              <a:xfrm>
                <a:off x="4387850" y="2323750"/>
                <a:ext cx="2971200" cy="642300"/>
              </a:xfrm>
              <a:prstGeom prst="rect">
                <a:avLst/>
              </a:prstGeom>
              <a:noFill/>
              <a:ln>
                <a:noFill/>
              </a:ln>
            </p:spPr>
            <p:txBody>
              <a:bodyPr anchorCtr="0" anchor="ctr" bIns="91425" lIns="91425" spcFirstLastPara="1" rIns="91425" wrap="square" tIns="91425">
                <a:noAutofit/>
              </a:bodyPr>
              <a:lstStyle/>
              <a:p>
                <a:pPr indent="-279400" lvl="0" marL="457200" rtl="0" algn="l">
                  <a:lnSpc>
                    <a:spcPct val="115000"/>
                  </a:lnSpc>
                  <a:spcBef>
                    <a:spcPts val="0"/>
                  </a:spcBef>
                  <a:spcAft>
                    <a:spcPts val="0"/>
                  </a:spcAft>
                  <a:buSzPts val="800"/>
                  <a:buFont typeface="Roboto"/>
                  <a:buChar char="●"/>
                </a:pPr>
                <a:r>
                  <a:rPr lang="en-US" sz="800">
                    <a:latin typeface="Roboto"/>
                    <a:ea typeface="Roboto"/>
                    <a:cs typeface="Roboto"/>
                    <a:sym typeface="Roboto"/>
                  </a:rPr>
                  <a:t>Acta de Aceptación del P.O.</a:t>
                </a:r>
                <a:endParaRPr sz="800">
                  <a:latin typeface="Roboto"/>
                  <a:ea typeface="Roboto"/>
                  <a:cs typeface="Roboto"/>
                  <a:sym typeface="Roboto"/>
                </a:endParaRPr>
              </a:p>
            </p:txBody>
          </p:sp>
        </p:gr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44"/>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586" name="Google Shape;586;p44"/>
          <p:cNvSpPr txBox="1"/>
          <p:nvPr>
            <p:ph type="title"/>
          </p:nvPr>
        </p:nvSpPr>
        <p:spPr>
          <a:xfrm>
            <a:off x="2851800" y="126625"/>
            <a:ext cx="3440400" cy="551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Evidencias Extras</a:t>
            </a:r>
            <a:endParaRPr b="1" sz="3200" u="none" strike="noStrike">
              <a:solidFill>
                <a:schemeClr val="dk1"/>
              </a:solidFill>
              <a:latin typeface="Roboto"/>
              <a:ea typeface="Roboto"/>
              <a:cs typeface="Roboto"/>
              <a:sym typeface="Roboto"/>
            </a:endParaRPr>
          </a:p>
        </p:txBody>
      </p:sp>
      <p:grpSp>
        <p:nvGrpSpPr>
          <p:cNvPr id="587" name="Google Shape;587;p44"/>
          <p:cNvGrpSpPr/>
          <p:nvPr/>
        </p:nvGrpSpPr>
        <p:grpSpPr>
          <a:xfrm>
            <a:off x="2727352" y="1483160"/>
            <a:ext cx="3689296" cy="1953252"/>
            <a:chOff x="1270266" y="940260"/>
            <a:chExt cx="6280721" cy="1953252"/>
          </a:xfrm>
        </p:grpSpPr>
        <p:grpSp>
          <p:nvGrpSpPr>
            <p:cNvPr id="588" name="Google Shape;588;p44"/>
            <p:cNvGrpSpPr/>
            <p:nvPr/>
          </p:nvGrpSpPr>
          <p:grpSpPr>
            <a:xfrm>
              <a:off x="1270266" y="1595119"/>
              <a:ext cx="6280721" cy="643500"/>
              <a:chOff x="1270254" y="2322568"/>
              <a:chExt cx="6280721" cy="643500"/>
            </a:xfrm>
          </p:grpSpPr>
          <p:sp>
            <p:nvSpPr>
              <p:cNvPr id="589" name="Google Shape;589;p44"/>
              <p:cNvSpPr/>
              <p:nvPr/>
            </p:nvSpPr>
            <p:spPr>
              <a:xfrm>
                <a:off x="3728375" y="2322568"/>
                <a:ext cx="3822600" cy="643500"/>
              </a:xfrm>
              <a:prstGeom prst="rect">
                <a:avLst/>
              </a:prstGeom>
              <a:solidFill>
                <a:srgbClr val="F8F8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44"/>
              <p:cNvSpPr/>
              <p:nvPr/>
            </p:nvSpPr>
            <p:spPr>
              <a:xfrm flipH="1">
                <a:off x="2283025" y="2322575"/>
                <a:ext cx="1844400" cy="64260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44"/>
              <p:cNvSpPr/>
              <p:nvPr/>
            </p:nvSpPr>
            <p:spPr>
              <a:xfrm rot="-5400000">
                <a:off x="3501574" y="1934671"/>
                <a:ext cx="643356" cy="1419149"/>
              </a:xfrm>
              <a:prstGeom prst="flowChartOffpageConnector">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44"/>
              <p:cNvSpPr/>
              <p:nvPr/>
            </p:nvSpPr>
            <p:spPr>
              <a:xfrm>
                <a:off x="2342625" y="2399951"/>
                <a:ext cx="19407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1000">
                    <a:latin typeface="Roboto Medium"/>
                    <a:ea typeface="Roboto Medium"/>
                    <a:cs typeface="Roboto Medium"/>
                    <a:sym typeface="Roboto Medium"/>
                  </a:rPr>
                  <a:t>Tests</a:t>
                </a:r>
                <a:endParaRPr sz="1000">
                  <a:latin typeface="Roboto"/>
                  <a:ea typeface="Roboto"/>
                  <a:cs typeface="Roboto"/>
                  <a:sym typeface="Roboto"/>
                </a:endParaRPr>
              </a:p>
            </p:txBody>
          </p:sp>
          <p:sp>
            <p:nvSpPr>
              <p:cNvPr id="593" name="Google Shape;593;p44"/>
              <p:cNvSpPr/>
              <p:nvPr/>
            </p:nvSpPr>
            <p:spPr>
              <a:xfrm>
                <a:off x="1593000" y="2322568"/>
                <a:ext cx="690000" cy="642300"/>
              </a:xfrm>
              <a:prstGeom prst="rect">
                <a:avLst/>
              </a:prstGeom>
              <a:solidFill>
                <a:srgbClr val="B02B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44"/>
              <p:cNvSpPr/>
              <p:nvPr/>
            </p:nvSpPr>
            <p:spPr>
              <a:xfrm>
                <a:off x="1270254" y="2322572"/>
                <a:ext cx="1012800" cy="642600"/>
              </a:xfrm>
              <a:prstGeom prst="rect">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600">
                    <a:latin typeface="Roboto Thin"/>
                    <a:ea typeface="Roboto Thin"/>
                    <a:cs typeface="Roboto Thin"/>
                    <a:sym typeface="Roboto Thin"/>
                  </a:rPr>
                  <a:t>02</a:t>
                </a:r>
                <a:endParaRPr sz="2600">
                  <a:latin typeface="Roboto Thin"/>
                  <a:ea typeface="Roboto Thin"/>
                  <a:cs typeface="Roboto Thin"/>
                  <a:sym typeface="Roboto Thin"/>
                </a:endParaRPr>
              </a:p>
            </p:txBody>
          </p:sp>
          <p:sp>
            <p:nvSpPr>
              <p:cNvPr id="595" name="Google Shape;595;p44"/>
              <p:cNvSpPr/>
              <p:nvPr/>
            </p:nvSpPr>
            <p:spPr>
              <a:xfrm>
                <a:off x="4387844" y="2323748"/>
                <a:ext cx="3026700" cy="642300"/>
              </a:xfrm>
              <a:prstGeom prst="rect">
                <a:avLst/>
              </a:prstGeom>
              <a:solidFill>
                <a:srgbClr val="F8F8F8"/>
              </a:solidFill>
              <a:ln>
                <a:noFill/>
              </a:ln>
            </p:spPr>
            <p:txBody>
              <a:bodyPr anchorCtr="0" anchor="ctr" bIns="91425" lIns="91425" spcFirstLastPara="1" rIns="91425" wrap="square" tIns="91425">
                <a:noAutofit/>
              </a:bodyPr>
              <a:lstStyle/>
              <a:p>
                <a:pPr indent="-292100" lvl="0" marL="457200" rtl="0" algn="l">
                  <a:lnSpc>
                    <a:spcPct val="115000"/>
                  </a:lnSpc>
                  <a:spcBef>
                    <a:spcPts val="0"/>
                  </a:spcBef>
                  <a:spcAft>
                    <a:spcPts val="0"/>
                  </a:spcAft>
                  <a:buSzPts val="1000"/>
                  <a:buFont typeface="Roboto"/>
                  <a:buChar char="●"/>
                </a:pPr>
                <a:r>
                  <a:rPr lang="en-US" sz="1000" u="sng">
                    <a:solidFill>
                      <a:schemeClr val="hlink"/>
                    </a:solidFill>
                    <a:latin typeface="Roboto"/>
                    <a:ea typeface="Roboto"/>
                    <a:cs typeface="Roboto"/>
                    <a:sym typeface="Roboto"/>
                    <a:hlinkClick r:id="rId3"/>
                  </a:rPr>
                  <a:t>Reportes Automatizados</a:t>
                </a:r>
                <a:endParaRPr sz="1000">
                  <a:latin typeface="Roboto"/>
                  <a:ea typeface="Roboto"/>
                  <a:cs typeface="Roboto"/>
                  <a:sym typeface="Roboto"/>
                </a:endParaRPr>
              </a:p>
              <a:p>
                <a:pPr indent="0" lvl="0" marL="457200" rtl="0" algn="l">
                  <a:lnSpc>
                    <a:spcPct val="115000"/>
                  </a:lnSpc>
                  <a:spcBef>
                    <a:spcPts val="0"/>
                  </a:spcBef>
                  <a:spcAft>
                    <a:spcPts val="0"/>
                  </a:spcAft>
                  <a:buNone/>
                </a:pPr>
                <a:r>
                  <a:t/>
                </a:r>
                <a:endParaRPr sz="800">
                  <a:latin typeface="Roboto"/>
                  <a:ea typeface="Roboto"/>
                  <a:cs typeface="Roboto"/>
                  <a:sym typeface="Roboto"/>
                </a:endParaRPr>
              </a:p>
            </p:txBody>
          </p:sp>
        </p:grpSp>
        <p:grpSp>
          <p:nvGrpSpPr>
            <p:cNvPr id="596" name="Google Shape;596;p44"/>
            <p:cNvGrpSpPr/>
            <p:nvPr/>
          </p:nvGrpSpPr>
          <p:grpSpPr>
            <a:xfrm>
              <a:off x="1270266" y="2250012"/>
              <a:ext cx="6280721" cy="643500"/>
              <a:chOff x="1270254" y="2322568"/>
              <a:chExt cx="6280721" cy="643500"/>
            </a:xfrm>
          </p:grpSpPr>
          <p:sp>
            <p:nvSpPr>
              <p:cNvPr id="597" name="Google Shape;597;p44"/>
              <p:cNvSpPr/>
              <p:nvPr/>
            </p:nvSpPr>
            <p:spPr>
              <a:xfrm>
                <a:off x="3728375" y="2322568"/>
                <a:ext cx="3822600" cy="643500"/>
              </a:xfrm>
              <a:prstGeom prst="rect">
                <a:avLst/>
              </a:prstGeom>
              <a:solidFill>
                <a:srgbClr val="F8F8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44"/>
              <p:cNvSpPr/>
              <p:nvPr/>
            </p:nvSpPr>
            <p:spPr>
              <a:xfrm flipH="1">
                <a:off x="2283025" y="2322575"/>
                <a:ext cx="1844400" cy="64260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44"/>
              <p:cNvSpPr/>
              <p:nvPr/>
            </p:nvSpPr>
            <p:spPr>
              <a:xfrm rot="-5400000">
                <a:off x="3501574" y="1934671"/>
                <a:ext cx="643356" cy="1419149"/>
              </a:xfrm>
              <a:prstGeom prst="flowChartOffpageConnector">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44"/>
              <p:cNvSpPr/>
              <p:nvPr/>
            </p:nvSpPr>
            <p:spPr>
              <a:xfrm>
                <a:off x="2342625" y="2399951"/>
                <a:ext cx="1940700" cy="49590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1000">
                    <a:latin typeface="Roboto Medium"/>
                    <a:ea typeface="Roboto Medium"/>
                    <a:cs typeface="Roboto Medium"/>
                    <a:sym typeface="Roboto Medium"/>
                  </a:rPr>
                  <a:t>Modelos BD</a:t>
                </a:r>
                <a:endParaRPr sz="1000">
                  <a:latin typeface="Roboto"/>
                  <a:ea typeface="Roboto"/>
                  <a:cs typeface="Roboto"/>
                  <a:sym typeface="Roboto"/>
                </a:endParaRPr>
              </a:p>
            </p:txBody>
          </p:sp>
          <p:sp>
            <p:nvSpPr>
              <p:cNvPr id="601" name="Google Shape;601;p44"/>
              <p:cNvSpPr/>
              <p:nvPr/>
            </p:nvSpPr>
            <p:spPr>
              <a:xfrm>
                <a:off x="1593000" y="2322568"/>
                <a:ext cx="690000" cy="642300"/>
              </a:xfrm>
              <a:prstGeom prst="rect">
                <a:avLst/>
              </a:prstGeom>
              <a:solidFill>
                <a:srgbClr val="B02B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44"/>
              <p:cNvSpPr/>
              <p:nvPr/>
            </p:nvSpPr>
            <p:spPr>
              <a:xfrm>
                <a:off x="1270254" y="2322574"/>
                <a:ext cx="1012800" cy="642600"/>
              </a:xfrm>
              <a:prstGeom prst="rect">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600">
                    <a:latin typeface="Roboto Thin"/>
                    <a:ea typeface="Roboto Thin"/>
                    <a:cs typeface="Roboto Thin"/>
                    <a:sym typeface="Roboto Thin"/>
                  </a:rPr>
                  <a:t>03</a:t>
                </a:r>
                <a:endParaRPr sz="2600">
                  <a:latin typeface="Roboto Thin"/>
                  <a:ea typeface="Roboto Thin"/>
                  <a:cs typeface="Roboto Thin"/>
                  <a:sym typeface="Roboto Thin"/>
                </a:endParaRPr>
              </a:p>
            </p:txBody>
          </p:sp>
          <p:sp>
            <p:nvSpPr>
              <p:cNvPr id="603" name="Google Shape;603;p44"/>
              <p:cNvSpPr/>
              <p:nvPr/>
            </p:nvSpPr>
            <p:spPr>
              <a:xfrm>
                <a:off x="4387850" y="2323750"/>
                <a:ext cx="2971200" cy="642300"/>
              </a:xfrm>
              <a:prstGeom prst="rect">
                <a:avLst/>
              </a:prstGeom>
              <a:solidFill>
                <a:srgbClr val="F8F8F8"/>
              </a:solidFill>
              <a:ln>
                <a:noFill/>
              </a:ln>
            </p:spPr>
            <p:txBody>
              <a:bodyPr anchorCtr="0" anchor="ctr" bIns="91425" lIns="91425" spcFirstLastPara="1" rIns="91425" wrap="square" tIns="91425">
                <a:noAutofit/>
              </a:bodyPr>
              <a:lstStyle/>
              <a:p>
                <a:pPr indent="-279400" lvl="0" marL="457200" rtl="0" algn="l">
                  <a:lnSpc>
                    <a:spcPct val="115000"/>
                  </a:lnSpc>
                  <a:spcBef>
                    <a:spcPts val="0"/>
                  </a:spcBef>
                  <a:spcAft>
                    <a:spcPts val="0"/>
                  </a:spcAft>
                  <a:buSzPts val="800"/>
                  <a:buFont typeface="Roboto"/>
                  <a:buChar char="●"/>
                </a:pPr>
                <a:r>
                  <a:rPr lang="en-US" sz="800">
                    <a:latin typeface="Roboto"/>
                    <a:ea typeface="Roboto"/>
                    <a:cs typeface="Roboto"/>
                    <a:sym typeface="Roboto"/>
                  </a:rPr>
                  <a:t>ERD</a:t>
                </a:r>
                <a:endParaRPr sz="800">
                  <a:latin typeface="Roboto"/>
                  <a:ea typeface="Roboto"/>
                  <a:cs typeface="Roboto"/>
                  <a:sym typeface="Roboto"/>
                </a:endParaRPr>
              </a:p>
              <a:p>
                <a:pPr indent="-279400" lvl="0" marL="457200" rtl="0" algn="l">
                  <a:lnSpc>
                    <a:spcPct val="115000"/>
                  </a:lnSpc>
                  <a:spcBef>
                    <a:spcPts val="0"/>
                  </a:spcBef>
                  <a:spcAft>
                    <a:spcPts val="0"/>
                  </a:spcAft>
                  <a:buSzPts val="800"/>
                  <a:buFont typeface="Roboto"/>
                  <a:buChar char="●"/>
                </a:pPr>
                <a:r>
                  <a:rPr lang="en-US" sz="800">
                    <a:latin typeface="Roboto"/>
                    <a:ea typeface="Roboto"/>
                    <a:cs typeface="Roboto"/>
                    <a:sym typeface="Roboto"/>
                  </a:rPr>
                  <a:t>Schema SQL</a:t>
                </a:r>
                <a:endParaRPr sz="800">
                  <a:latin typeface="Roboto"/>
                  <a:ea typeface="Roboto"/>
                  <a:cs typeface="Roboto"/>
                  <a:sym typeface="Roboto"/>
                </a:endParaRPr>
              </a:p>
            </p:txBody>
          </p:sp>
        </p:grpSp>
        <p:grpSp>
          <p:nvGrpSpPr>
            <p:cNvPr id="604" name="Google Shape;604;p44"/>
            <p:cNvGrpSpPr/>
            <p:nvPr/>
          </p:nvGrpSpPr>
          <p:grpSpPr>
            <a:xfrm>
              <a:off x="1270266" y="940260"/>
              <a:ext cx="6280721" cy="643500"/>
              <a:chOff x="1270254" y="2322568"/>
              <a:chExt cx="6280721" cy="643500"/>
            </a:xfrm>
          </p:grpSpPr>
          <p:sp>
            <p:nvSpPr>
              <p:cNvPr id="605" name="Google Shape;605;p44"/>
              <p:cNvSpPr/>
              <p:nvPr/>
            </p:nvSpPr>
            <p:spPr>
              <a:xfrm>
                <a:off x="3728375" y="2322568"/>
                <a:ext cx="3822600" cy="643500"/>
              </a:xfrm>
              <a:prstGeom prst="rect">
                <a:avLst/>
              </a:prstGeom>
              <a:solidFill>
                <a:srgbClr val="F8F8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44"/>
              <p:cNvSpPr/>
              <p:nvPr/>
            </p:nvSpPr>
            <p:spPr>
              <a:xfrm flipH="1">
                <a:off x="2283025" y="2322575"/>
                <a:ext cx="1844400" cy="64260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44"/>
              <p:cNvSpPr/>
              <p:nvPr/>
            </p:nvSpPr>
            <p:spPr>
              <a:xfrm rot="-5400000">
                <a:off x="3501574" y="1934671"/>
                <a:ext cx="643356" cy="1419149"/>
              </a:xfrm>
              <a:prstGeom prst="flowChartOffpageConnector">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44"/>
              <p:cNvSpPr/>
              <p:nvPr/>
            </p:nvSpPr>
            <p:spPr>
              <a:xfrm>
                <a:off x="2342625" y="2399951"/>
                <a:ext cx="1940700" cy="49590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1000">
                    <a:latin typeface="Roboto Medium"/>
                    <a:ea typeface="Roboto Medium"/>
                    <a:cs typeface="Roboto Medium"/>
                    <a:sym typeface="Roboto Medium"/>
                  </a:rPr>
                  <a:t>Costos del Proyecto</a:t>
                </a:r>
                <a:endParaRPr sz="1000">
                  <a:latin typeface="Roboto"/>
                  <a:ea typeface="Roboto"/>
                  <a:cs typeface="Roboto"/>
                  <a:sym typeface="Roboto"/>
                </a:endParaRPr>
              </a:p>
            </p:txBody>
          </p:sp>
          <p:sp>
            <p:nvSpPr>
              <p:cNvPr id="609" name="Google Shape;609;p44"/>
              <p:cNvSpPr/>
              <p:nvPr/>
            </p:nvSpPr>
            <p:spPr>
              <a:xfrm>
                <a:off x="1593000" y="2322568"/>
                <a:ext cx="690000" cy="642300"/>
              </a:xfrm>
              <a:prstGeom prst="rect">
                <a:avLst/>
              </a:prstGeom>
              <a:solidFill>
                <a:srgbClr val="B02B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44"/>
              <p:cNvSpPr/>
              <p:nvPr/>
            </p:nvSpPr>
            <p:spPr>
              <a:xfrm>
                <a:off x="1270254" y="2322570"/>
                <a:ext cx="1012800" cy="642600"/>
              </a:xfrm>
              <a:prstGeom prst="rect">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600">
                    <a:latin typeface="Roboto Thin"/>
                    <a:ea typeface="Roboto Thin"/>
                    <a:cs typeface="Roboto Thin"/>
                    <a:sym typeface="Roboto Thin"/>
                  </a:rPr>
                  <a:t>01</a:t>
                </a:r>
                <a:endParaRPr sz="2600">
                  <a:latin typeface="Roboto Thin"/>
                  <a:ea typeface="Roboto Thin"/>
                  <a:cs typeface="Roboto Thin"/>
                  <a:sym typeface="Roboto Thin"/>
                </a:endParaRPr>
              </a:p>
            </p:txBody>
          </p:sp>
          <p:sp>
            <p:nvSpPr>
              <p:cNvPr id="611" name="Google Shape;611;p44"/>
              <p:cNvSpPr/>
              <p:nvPr/>
            </p:nvSpPr>
            <p:spPr>
              <a:xfrm>
                <a:off x="4387850" y="2323750"/>
                <a:ext cx="2971200" cy="642300"/>
              </a:xfrm>
              <a:prstGeom prst="rect">
                <a:avLst/>
              </a:prstGeom>
              <a:solidFill>
                <a:srgbClr val="F8F8F8"/>
              </a:solidFill>
              <a:ln>
                <a:noFill/>
              </a:ln>
            </p:spPr>
            <p:txBody>
              <a:bodyPr anchorCtr="0" anchor="ctr" bIns="91425" lIns="91425" spcFirstLastPara="1" rIns="91425" wrap="square" tIns="91425">
                <a:noAutofit/>
              </a:bodyPr>
              <a:lstStyle/>
              <a:p>
                <a:pPr indent="-292100" lvl="0" marL="457200" rtl="0" algn="l">
                  <a:lnSpc>
                    <a:spcPct val="115000"/>
                  </a:lnSpc>
                  <a:spcBef>
                    <a:spcPts val="0"/>
                  </a:spcBef>
                  <a:spcAft>
                    <a:spcPts val="0"/>
                  </a:spcAft>
                  <a:buSzPts val="1000"/>
                  <a:buFont typeface="Roboto"/>
                  <a:buChar char="●"/>
                </a:pPr>
                <a:r>
                  <a:rPr lang="en-US" sz="1000" u="sng">
                    <a:solidFill>
                      <a:schemeClr val="hlink"/>
                    </a:solidFill>
                    <a:latin typeface="Roboto"/>
                    <a:ea typeface="Roboto"/>
                    <a:cs typeface="Roboto"/>
                    <a:sym typeface="Roboto"/>
                    <a:hlinkClick r:id="rId4"/>
                  </a:rPr>
                  <a:t>Matriz de Costos</a:t>
                </a:r>
                <a:endParaRPr sz="1000">
                  <a:latin typeface="Roboto"/>
                  <a:ea typeface="Roboto"/>
                  <a:cs typeface="Roboto"/>
                  <a:sym typeface="Roboto"/>
                </a:endParaRPr>
              </a:p>
            </p:txBody>
          </p:sp>
        </p:gr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45"/>
          <p:cNvSpPr txBox="1"/>
          <p:nvPr>
            <p:ph type="title"/>
          </p:nvPr>
        </p:nvSpPr>
        <p:spPr>
          <a:xfrm>
            <a:off x="167400" y="153650"/>
            <a:ext cx="2378700" cy="188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3200">
                <a:latin typeface="Roboto"/>
                <a:ea typeface="Roboto"/>
                <a:cs typeface="Roboto"/>
                <a:sym typeface="Roboto"/>
              </a:rPr>
              <a:t>Modelo Entidad </a:t>
            </a:r>
            <a:r>
              <a:rPr b="1" lang="en-US" sz="3200">
                <a:latin typeface="Roboto"/>
                <a:ea typeface="Roboto"/>
                <a:cs typeface="Roboto"/>
                <a:sym typeface="Roboto"/>
              </a:rPr>
              <a:t>Relación</a:t>
            </a:r>
            <a:endParaRPr b="1" sz="3200">
              <a:latin typeface="Roboto"/>
              <a:ea typeface="Roboto"/>
              <a:cs typeface="Roboto"/>
              <a:sym typeface="Roboto"/>
            </a:endParaRPr>
          </a:p>
        </p:txBody>
      </p:sp>
      <p:sp>
        <p:nvSpPr>
          <p:cNvPr id="617" name="Google Shape;617;p45"/>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618" name="Google Shape;618;p45">
            <a:hlinkClick r:id="rId3"/>
          </p:cNvPr>
          <p:cNvPicPr preferRelativeResize="0"/>
          <p:nvPr/>
        </p:nvPicPr>
        <p:blipFill>
          <a:blip r:embed="rId4">
            <a:alphaModFix/>
          </a:blip>
          <a:stretch>
            <a:fillRect/>
          </a:stretch>
        </p:blipFill>
        <p:spPr>
          <a:xfrm>
            <a:off x="1917850" y="313700"/>
            <a:ext cx="7187625" cy="459053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46"/>
          <p:cNvSpPr txBox="1"/>
          <p:nvPr>
            <p:ph type="title"/>
          </p:nvPr>
        </p:nvSpPr>
        <p:spPr>
          <a:xfrm>
            <a:off x="167407" y="153650"/>
            <a:ext cx="2378700" cy="124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3200">
                <a:latin typeface="Roboto"/>
                <a:ea typeface="Roboto"/>
                <a:cs typeface="Roboto"/>
                <a:sym typeface="Roboto"/>
              </a:rPr>
              <a:t>Modelo </a:t>
            </a:r>
            <a:r>
              <a:rPr b="1" lang="en-US" sz="3200">
                <a:latin typeface="Roboto"/>
                <a:ea typeface="Roboto"/>
                <a:cs typeface="Roboto"/>
                <a:sym typeface="Roboto"/>
              </a:rPr>
              <a:t>de Datos</a:t>
            </a:r>
            <a:endParaRPr b="1" sz="3200">
              <a:latin typeface="Roboto"/>
              <a:ea typeface="Roboto"/>
              <a:cs typeface="Roboto"/>
              <a:sym typeface="Roboto"/>
            </a:endParaRPr>
          </a:p>
        </p:txBody>
      </p:sp>
      <p:sp>
        <p:nvSpPr>
          <p:cNvPr id="624" name="Google Shape;624;p46"/>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625" name="Google Shape;625;p46"/>
          <p:cNvPicPr preferRelativeResize="0"/>
          <p:nvPr/>
        </p:nvPicPr>
        <p:blipFill>
          <a:blip r:embed="rId3">
            <a:alphaModFix/>
          </a:blip>
          <a:stretch>
            <a:fillRect/>
          </a:stretch>
        </p:blipFill>
        <p:spPr>
          <a:xfrm>
            <a:off x="2603775" y="82600"/>
            <a:ext cx="6367025" cy="497830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47"/>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631" name="Google Shape;631;p47"/>
          <p:cNvSpPr txBox="1"/>
          <p:nvPr>
            <p:ph type="title"/>
          </p:nvPr>
        </p:nvSpPr>
        <p:spPr>
          <a:xfrm>
            <a:off x="1981825" y="126625"/>
            <a:ext cx="3632100" cy="551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Burndown Chart</a:t>
            </a:r>
            <a:endParaRPr b="1" sz="3200" u="none" strike="noStrike">
              <a:solidFill>
                <a:schemeClr val="dk1"/>
              </a:solidFill>
              <a:latin typeface="Roboto"/>
              <a:ea typeface="Roboto"/>
              <a:cs typeface="Roboto"/>
              <a:sym typeface="Roboto"/>
            </a:endParaRPr>
          </a:p>
        </p:txBody>
      </p:sp>
      <p:pic>
        <p:nvPicPr>
          <p:cNvPr id="632" name="Google Shape;632;p47">
            <a:hlinkClick r:id="rId3"/>
          </p:cNvPr>
          <p:cNvPicPr preferRelativeResize="0"/>
          <p:nvPr/>
        </p:nvPicPr>
        <p:blipFill rotWithShape="1">
          <a:blip r:embed="rId4">
            <a:alphaModFix/>
          </a:blip>
          <a:srcRect b="1902" l="665" r="0" t="1544"/>
          <a:stretch/>
        </p:blipFill>
        <p:spPr>
          <a:xfrm>
            <a:off x="200500" y="894525"/>
            <a:ext cx="7149250" cy="40176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48"/>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638" name="Google Shape;638;p48"/>
          <p:cNvSpPr txBox="1"/>
          <p:nvPr>
            <p:ph type="title"/>
          </p:nvPr>
        </p:nvSpPr>
        <p:spPr>
          <a:xfrm>
            <a:off x="231350" y="126625"/>
            <a:ext cx="6678000" cy="551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Riesgos</a:t>
            </a:r>
            <a:endParaRPr b="1" sz="3200" u="none" strike="noStrike">
              <a:solidFill>
                <a:schemeClr val="dk1"/>
              </a:solidFill>
              <a:latin typeface="Roboto"/>
              <a:ea typeface="Roboto"/>
              <a:cs typeface="Roboto"/>
              <a:sym typeface="Roboto"/>
            </a:endParaRPr>
          </a:p>
        </p:txBody>
      </p:sp>
      <p:pic>
        <p:nvPicPr>
          <p:cNvPr id="639" name="Google Shape;639;p48"/>
          <p:cNvPicPr preferRelativeResize="0"/>
          <p:nvPr/>
        </p:nvPicPr>
        <p:blipFill>
          <a:blip r:embed="rId3">
            <a:alphaModFix/>
          </a:blip>
          <a:stretch>
            <a:fillRect/>
          </a:stretch>
        </p:blipFill>
        <p:spPr>
          <a:xfrm>
            <a:off x="152400" y="1310200"/>
            <a:ext cx="8839204" cy="2148087"/>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49"/>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645" name="Google Shape;645;p49"/>
          <p:cNvSpPr txBox="1"/>
          <p:nvPr>
            <p:ph type="title"/>
          </p:nvPr>
        </p:nvSpPr>
        <p:spPr>
          <a:xfrm>
            <a:off x="231350" y="126625"/>
            <a:ext cx="6678000" cy="551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Riesgos</a:t>
            </a:r>
            <a:endParaRPr b="1" sz="3200" u="none" strike="noStrike">
              <a:solidFill>
                <a:schemeClr val="dk1"/>
              </a:solidFill>
              <a:latin typeface="Roboto"/>
              <a:ea typeface="Roboto"/>
              <a:cs typeface="Roboto"/>
              <a:sym typeface="Roboto"/>
            </a:endParaRPr>
          </a:p>
        </p:txBody>
      </p:sp>
      <p:graphicFrame>
        <p:nvGraphicFramePr>
          <p:cNvPr id="646" name="Google Shape;646;p49"/>
          <p:cNvGraphicFramePr/>
          <p:nvPr/>
        </p:nvGraphicFramePr>
        <p:xfrm>
          <a:off x="304800" y="1492825"/>
          <a:ext cx="3000000" cy="3000000"/>
        </p:xfrm>
        <a:graphic>
          <a:graphicData uri="http://schemas.openxmlformats.org/drawingml/2006/table">
            <a:tbl>
              <a:tblPr>
                <a:noFill/>
                <a:tableStyleId>{7F5CF0F2-9E4E-4FC4-A41D-F67B8F62A3A8}</a:tableStyleId>
              </a:tblPr>
              <a:tblGrid>
                <a:gridCol w="1724025"/>
                <a:gridCol w="400050"/>
                <a:gridCol w="1152525"/>
                <a:gridCol w="3914775"/>
              </a:tblGrid>
              <a:tr h="266700">
                <a:tc>
                  <a:txBody>
                    <a:bodyPr/>
                    <a:lstStyle/>
                    <a:p>
                      <a:pPr indent="0" lvl="0" marL="0" rtl="0" algn="ctr">
                        <a:lnSpc>
                          <a:spcPct val="115000"/>
                        </a:lnSpc>
                        <a:spcBef>
                          <a:spcPts val="0"/>
                        </a:spcBef>
                        <a:spcAft>
                          <a:spcPts val="1200"/>
                        </a:spcAft>
                        <a:buNone/>
                      </a:pPr>
                      <a:r>
                        <a:rPr b="1" lang="en-US" sz="1000">
                          <a:solidFill>
                            <a:srgbClr val="333333"/>
                          </a:solidFill>
                        </a:rPr>
                        <a:t>Riesgo</a:t>
                      </a:r>
                      <a:endParaRPr b="1"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c>
                  <a:txBody>
                    <a:bodyPr/>
                    <a:lstStyle/>
                    <a:p>
                      <a:pPr indent="0" lvl="0" marL="0" rtl="0" algn="ctr">
                        <a:lnSpc>
                          <a:spcPct val="115000"/>
                        </a:lnSpc>
                        <a:spcBef>
                          <a:spcPts val="0"/>
                        </a:spcBef>
                        <a:spcAft>
                          <a:spcPts val="1200"/>
                        </a:spcAft>
                        <a:buNone/>
                      </a:pPr>
                      <a:r>
                        <a:rPr b="1" lang="en-US" sz="1000">
                          <a:solidFill>
                            <a:srgbClr val="333333"/>
                          </a:solidFill>
                        </a:rPr>
                        <a:t>E</a:t>
                      </a:r>
                      <a:endParaRPr b="1"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c>
                  <a:txBody>
                    <a:bodyPr/>
                    <a:lstStyle/>
                    <a:p>
                      <a:pPr indent="0" lvl="0" marL="0" rtl="0" algn="ctr">
                        <a:lnSpc>
                          <a:spcPct val="115000"/>
                        </a:lnSpc>
                        <a:spcBef>
                          <a:spcPts val="0"/>
                        </a:spcBef>
                        <a:spcAft>
                          <a:spcPts val="1200"/>
                        </a:spcAft>
                        <a:buNone/>
                      </a:pPr>
                      <a:r>
                        <a:rPr b="1" lang="en-US" sz="1000">
                          <a:solidFill>
                            <a:srgbClr val="333333"/>
                          </a:solidFill>
                        </a:rPr>
                        <a:t>Estado</a:t>
                      </a:r>
                      <a:endParaRPr b="1"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c>
                  <a:txBody>
                    <a:bodyPr/>
                    <a:lstStyle/>
                    <a:p>
                      <a:pPr indent="0" lvl="0" marL="0" rtl="0" algn="ctr">
                        <a:lnSpc>
                          <a:spcPct val="115000"/>
                        </a:lnSpc>
                        <a:spcBef>
                          <a:spcPts val="0"/>
                        </a:spcBef>
                        <a:spcAft>
                          <a:spcPts val="1200"/>
                        </a:spcAft>
                        <a:buNone/>
                      </a:pPr>
                      <a:r>
                        <a:rPr b="1" lang="en-US" sz="1000">
                          <a:solidFill>
                            <a:srgbClr val="333333"/>
                          </a:solidFill>
                        </a:rPr>
                        <a:t>Acción</a:t>
                      </a:r>
                      <a:endParaRPr b="1"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r>
              <a:tr h="266700">
                <a:tc>
                  <a:txBody>
                    <a:bodyPr/>
                    <a:lstStyle/>
                    <a:p>
                      <a:pPr indent="0" lvl="0" marL="0" rtl="0" algn="l">
                        <a:lnSpc>
                          <a:spcPct val="115000"/>
                        </a:lnSpc>
                        <a:spcBef>
                          <a:spcPts val="0"/>
                        </a:spcBef>
                        <a:spcAft>
                          <a:spcPts val="1200"/>
                        </a:spcAft>
                        <a:buNone/>
                      </a:pPr>
                      <a:r>
                        <a:rPr lang="en-US" sz="1000">
                          <a:solidFill>
                            <a:srgbClr val="333333"/>
                          </a:solidFill>
                        </a:rPr>
                        <a:t>R-007 (Testing)</a:t>
                      </a:r>
                      <a:endParaRPr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US" sz="1000">
                          <a:solidFill>
                            <a:srgbClr val="333333"/>
                          </a:solidFill>
                        </a:rPr>
                        <a:t>20</a:t>
                      </a:r>
                      <a:endParaRPr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US" sz="1000">
                          <a:solidFill>
                            <a:srgbClr val="333333"/>
                          </a:solidFill>
                        </a:rPr>
                        <a:t>Abierto</a:t>
                      </a:r>
                      <a:endParaRPr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US" sz="1000">
                          <a:solidFill>
                            <a:srgbClr val="333333"/>
                          </a:solidFill>
                        </a:rPr>
                        <a:t>Implementar tests unitarios con cobertura &gt; 85 %</a:t>
                      </a:r>
                      <a:endParaRPr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r>
              <a:tr h="266700">
                <a:tc>
                  <a:txBody>
                    <a:bodyPr/>
                    <a:lstStyle/>
                    <a:p>
                      <a:pPr indent="0" lvl="0" marL="0" rtl="0" algn="l">
                        <a:lnSpc>
                          <a:spcPct val="115000"/>
                        </a:lnSpc>
                        <a:spcBef>
                          <a:spcPts val="0"/>
                        </a:spcBef>
                        <a:spcAft>
                          <a:spcPts val="1200"/>
                        </a:spcAft>
                        <a:buNone/>
                      </a:pPr>
                      <a:r>
                        <a:rPr lang="en-US" sz="1000">
                          <a:solidFill>
                            <a:srgbClr val="333333"/>
                          </a:solidFill>
                        </a:rPr>
                        <a:t>R-018 (Adopción)</a:t>
                      </a:r>
                      <a:endParaRPr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US" sz="1000">
                          <a:solidFill>
                            <a:srgbClr val="333333"/>
                          </a:solidFill>
                        </a:rPr>
                        <a:t>20</a:t>
                      </a:r>
                      <a:endParaRPr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US" sz="1000">
                          <a:solidFill>
                            <a:srgbClr val="333333"/>
                          </a:solidFill>
                        </a:rPr>
                        <a:t>Monitoreado</a:t>
                      </a:r>
                      <a:endParaRPr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US" sz="1000">
                          <a:solidFill>
                            <a:srgbClr val="333333"/>
                          </a:solidFill>
                        </a:rPr>
                        <a:t>Ejecutar plan de onboarding </a:t>
                      </a:r>
                      <a:r>
                        <a:rPr lang="en-US" sz="1000">
                          <a:solidFill>
                            <a:srgbClr val="333333"/>
                          </a:solidFill>
                        </a:rPr>
                        <a:t>lan pre-lanzamiento: 1) Guía rápida 1 página (Boris, 2h), 2) Video demo 5min (Jaime, 3h), 3) Sesión presencial semana 1 (ambos, 1h).</a:t>
                      </a:r>
                      <a:endParaRPr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r>
              <a:tr h="266700">
                <a:tc>
                  <a:txBody>
                    <a:bodyPr/>
                    <a:lstStyle/>
                    <a:p>
                      <a:pPr indent="0" lvl="0" marL="0" rtl="0" algn="l">
                        <a:lnSpc>
                          <a:spcPct val="115000"/>
                        </a:lnSpc>
                        <a:spcBef>
                          <a:spcPts val="0"/>
                        </a:spcBef>
                        <a:spcAft>
                          <a:spcPts val="1200"/>
                        </a:spcAft>
                        <a:buNone/>
                      </a:pPr>
                      <a:r>
                        <a:rPr lang="en-US" sz="1000">
                          <a:solidFill>
                            <a:srgbClr val="333333"/>
                          </a:solidFill>
                        </a:rPr>
                        <a:t>R-006 (Calidad Datos)</a:t>
                      </a:r>
                      <a:endParaRPr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b="1" lang="en-US" sz="1000">
                          <a:solidFill>
                            <a:srgbClr val="333333"/>
                          </a:solidFill>
                        </a:rPr>
                        <a:t>16</a:t>
                      </a:r>
                      <a:endParaRPr b="1"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US" sz="1000">
                          <a:solidFill>
                            <a:srgbClr val="333333"/>
                          </a:solidFill>
                        </a:rPr>
                        <a:t>Monitoreado</a:t>
                      </a:r>
                      <a:endParaRPr b="1"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US" sz="1000">
                          <a:solidFill>
                            <a:srgbClr val="333333"/>
                          </a:solidFill>
                        </a:rPr>
                        <a:t>proceso de reconciliación de datos</a:t>
                      </a:r>
                      <a:r>
                        <a:rPr lang="en-US" sz="1000">
                          <a:solidFill>
                            <a:srgbClr val="333333"/>
                          </a:solidFill>
                        </a:rPr>
                        <a:t> y alertas (Mayormente Realizado)</a:t>
                      </a:r>
                      <a:endParaRPr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r>
              <a:tr h="266700">
                <a:tc>
                  <a:txBody>
                    <a:bodyPr/>
                    <a:lstStyle/>
                    <a:p>
                      <a:pPr indent="0" lvl="0" marL="0" rtl="0" algn="l">
                        <a:lnSpc>
                          <a:spcPct val="115000"/>
                        </a:lnSpc>
                        <a:spcBef>
                          <a:spcPts val="0"/>
                        </a:spcBef>
                        <a:spcAft>
                          <a:spcPts val="1200"/>
                        </a:spcAft>
                        <a:buNone/>
                      </a:pPr>
                      <a:r>
                        <a:rPr lang="en-US" sz="1000">
                          <a:solidFill>
                            <a:srgbClr val="333333"/>
                          </a:solidFill>
                        </a:rPr>
                        <a:t>R-012 (Capacidad Equipo)</a:t>
                      </a:r>
                      <a:endParaRPr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b="1" lang="en-US" sz="1000">
                          <a:solidFill>
                            <a:srgbClr val="333333"/>
                          </a:solidFill>
                        </a:rPr>
                        <a:t>16</a:t>
                      </a:r>
                      <a:endParaRPr b="1"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US" sz="1000">
                          <a:solidFill>
                            <a:srgbClr val="333333"/>
                          </a:solidFill>
                        </a:rPr>
                        <a:t>Monitoreado</a:t>
                      </a:r>
                      <a:endParaRPr b="1"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US" sz="1000">
                          <a:solidFill>
                            <a:srgbClr val="333333"/>
                          </a:solidFill>
                        </a:rPr>
                        <a:t>Promover pair programming y cross-training</a:t>
                      </a:r>
                      <a:endParaRPr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r>
              <a:tr h="193225">
                <a:tc>
                  <a:txBody>
                    <a:bodyPr/>
                    <a:lstStyle/>
                    <a:p>
                      <a:pPr indent="0" lvl="0" marL="0" rtl="0" algn="l">
                        <a:lnSpc>
                          <a:spcPct val="115000"/>
                        </a:lnSpc>
                        <a:spcBef>
                          <a:spcPts val="0"/>
                        </a:spcBef>
                        <a:spcAft>
                          <a:spcPts val="1200"/>
                        </a:spcAft>
                        <a:buNone/>
                      </a:pPr>
                      <a:r>
                        <a:rPr lang="en-US" sz="1000">
                          <a:solidFill>
                            <a:srgbClr val="333333"/>
                          </a:solidFill>
                        </a:rPr>
                        <a:t>R-016 (Errores TS)</a:t>
                      </a:r>
                      <a:endParaRPr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US" sz="1000">
                          <a:solidFill>
                            <a:srgbClr val="333333"/>
                          </a:solidFill>
                        </a:rPr>
                        <a:t>15</a:t>
                      </a:r>
                      <a:endParaRPr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US" sz="1000">
                          <a:solidFill>
                            <a:srgbClr val="333333"/>
                          </a:solidFill>
                        </a:rPr>
                        <a:t>Cerrado</a:t>
                      </a:r>
                      <a:endParaRPr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US" sz="1000">
                          <a:solidFill>
                            <a:srgbClr val="333333"/>
                          </a:solidFill>
                        </a:rPr>
                        <a:t>Corrección inmediata de tipos (Solucionado)</a:t>
                      </a:r>
                      <a:endParaRPr sz="1000">
                        <a:solidFill>
                          <a:srgbClr val="333333"/>
                        </a:solidFill>
                      </a:endParaRPr>
                    </a:p>
                  </a:txBody>
                  <a:tcPr marT="57150" marB="57150" marR="123825" marL="123825">
                    <a:lnL cap="flat" cmpd="sng" w="10575">
                      <a:solidFill>
                        <a:srgbClr val="DDDDDD"/>
                      </a:solidFill>
                      <a:prstDash val="solid"/>
                      <a:round/>
                      <a:headEnd len="sm" w="sm" type="none"/>
                      <a:tailEnd len="sm" w="sm" type="none"/>
                    </a:lnL>
                    <a:lnR cap="flat" cmpd="sng" w="10575">
                      <a:solidFill>
                        <a:srgbClr val="DDDDDD"/>
                      </a:solidFill>
                      <a:prstDash val="solid"/>
                      <a:round/>
                      <a:headEnd len="sm" w="sm" type="none"/>
                      <a:tailEnd len="sm" w="sm" type="none"/>
                    </a:lnR>
                    <a:lnT cap="flat" cmpd="sng" w="10575">
                      <a:solidFill>
                        <a:srgbClr val="DDDDDD"/>
                      </a:solidFill>
                      <a:prstDash val="solid"/>
                      <a:round/>
                      <a:headEnd len="sm" w="sm" type="none"/>
                      <a:tailEnd len="sm" w="sm" type="none"/>
                    </a:lnT>
                    <a:lnB cap="flat" cmpd="sng" w="10575">
                      <a:solidFill>
                        <a:srgbClr val="DDDDDD"/>
                      </a:solidFill>
                      <a:prstDash val="solid"/>
                      <a:round/>
                      <a:headEnd len="sm" w="sm" type="none"/>
                      <a:tailEnd len="sm" w="sm" type="none"/>
                    </a:lnB>
                  </a:tcPr>
                </a:tc>
              </a:tr>
            </a:tbl>
          </a:graphicData>
        </a:graphic>
      </p:graphicFrame>
      <p:sp>
        <p:nvSpPr>
          <p:cNvPr id="647" name="Google Shape;647;p49"/>
          <p:cNvSpPr txBox="1"/>
          <p:nvPr/>
        </p:nvSpPr>
        <p:spPr>
          <a:xfrm>
            <a:off x="304800" y="677725"/>
            <a:ext cx="7638000" cy="815100"/>
          </a:xfrm>
          <a:prstGeom prst="rect">
            <a:avLst/>
          </a:prstGeom>
          <a:noFill/>
          <a:ln>
            <a:noFill/>
          </a:ln>
        </p:spPr>
        <p:txBody>
          <a:bodyPr anchorCtr="0" anchor="ctr" bIns="91425" lIns="91425" spcFirstLastPara="1" rIns="91425" wrap="square" tIns="91425">
            <a:noAutofit/>
          </a:bodyPr>
          <a:lstStyle/>
          <a:p>
            <a:pPr indent="0" lvl="0" marL="0" rtl="0" algn="l">
              <a:lnSpc>
                <a:spcPct val="143000"/>
              </a:lnSpc>
              <a:spcBef>
                <a:spcPts val="1300"/>
              </a:spcBef>
              <a:spcAft>
                <a:spcPts val="1200"/>
              </a:spcAft>
              <a:buNone/>
            </a:pPr>
            <a:r>
              <a:rPr b="1" lang="en-US" sz="1950">
                <a:solidFill>
                  <a:srgbClr val="333333"/>
                </a:solidFill>
                <a:latin typeface="Microsoft Yahei"/>
                <a:ea typeface="Microsoft Yahei"/>
                <a:cs typeface="Microsoft Yahei"/>
                <a:sym typeface="Microsoft Yahei"/>
              </a:rPr>
              <a:t>Top 5 Riesgos Críticos para MVP (ordenados por </a:t>
            </a:r>
            <a:r>
              <a:rPr b="1" lang="en-US" sz="1950">
                <a:solidFill>
                  <a:srgbClr val="333333"/>
                </a:solidFill>
                <a:latin typeface="Microsoft Yahei"/>
                <a:ea typeface="Microsoft Yahei"/>
                <a:cs typeface="Microsoft Yahei"/>
                <a:sym typeface="Microsoft Yahei"/>
              </a:rPr>
              <a:t>Exposición</a:t>
            </a:r>
            <a:r>
              <a:rPr b="1" lang="en-US" sz="1950">
                <a:solidFill>
                  <a:srgbClr val="333333"/>
                </a:solidFill>
                <a:latin typeface="Microsoft Yahei"/>
                <a:ea typeface="Microsoft Yahei"/>
                <a:cs typeface="Microsoft Yahei"/>
                <a:sym typeface="Microsoft Yahei"/>
              </a:rPr>
              <a:t>)</a:t>
            </a:r>
            <a:endParaRPr b="1" sz="1950">
              <a:solidFill>
                <a:srgbClr val="333333"/>
              </a:solidFill>
              <a:latin typeface="Microsoft Yahei"/>
              <a:ea typeface="Microsoft Yahei"/>
              <a:cs typeface="Microsoft Yahei"/>
              <a:sym typeface="Microsoft Yahe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50"/>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653" name="Google Shape;653;p50"/>
          <p:cNvSpPr txBox="1"/>
          <p:nvPr>
            <p:ph type="title"/>
          </p:nvPr>
        </p:nvSpPr>
        <p:spPr>
          <a:xfrm>
            <a:off x="231350" y="126625"/>
            <a:ext cx="6678000" cy="551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Impediment Log</a:t>
            </a:r>
            <a:endParaRPr b="1" sz="3200" u="none" strike="noStrike">
              <a:solidFill>
                <a:schemeClr val="dk1"/>
              </a:solidFill>
              <a:latin typeface="Roboto"/>
              <a:ea typeface="Roboto"/>
              <a:cs typeface="Roboto"/>
              <a:sym typeface="Roboto"/>
            </a:endParaRPr>
          </a:p>
        </p:txBody>
      </p:sp>
      <p:pic>
        <p:nvPicPr>
          <p:cNvPr id="654" name="Google Shape;654;p50">
            <a:hlinkClick r:id="rId3"/>
          </p:cNvPr>
          <p:cNvPicPr preferRelativeResize="0"/>
          <p:nvPr/>
        </p:nvPicPr>
        <p:blipFill>
          <a:blip r:embed="rId4">
            <a:alphaModFix/>
          </a:blip>
          <a:stretch>
            <a:fillRect/>
          </a:stretch>
        </p:blipFill>
        <p:spPr>
          <a:xfrm>
            <a:off x="152400" y="830125"/>
            <a:ext cx="8839198" cy="302379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grpSp>
        <p:nvGrpSpPr>
          <p:cNvPr id="659" name="Google Shape;659;p51"/>
          <p:cNvGrpSpPr/>
          <p:nvPr/>
        </p:nvGrpSpPr>
        <p:grpSpPr>
          <a:xfrm>
            <a:off x="3978720" y="6840"/>
            <a:ext cx="5164200" cy="5143200"/>
            <a:chOff x="3978720" y="6840"/>
            <a:chExt cx="5164200" cy="5143200"/>
          </a:xfrm>
        </p:grpSpPr>
        <p:sp>
          <p:nvSpPr>
            <p:cNvPr id="660" name="Google Shape;660;p51"/>
            <p:cNvSpPr/>
            <p:nvPr/>
          </p:nvSpPr>
          <p:spPr>
            <a:xfrm flipH="1">
              <a:off x="3978720" y="6840"/>
              <a:ext cx="5164200" cy="51432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61" name="Google Shape;661;p51"/>
            <p:cNvSpPr/>
            <p:nvPr/>
          </p:nvSpPr>
          <p:spPr>
            <a:xfrm rot="-2699590">
              <a:off x="4520886" y="36474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62" name="Google Shape;662;p51"/>
            <p:cNvSpPr/>
            <p:nvPr/>
          </p:nvSpPr>
          <p:spPr>
            <a:xfrm rot="-2699590">
              <a:off x="7184166" y="22452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63" name="Google Shape;663;p51"/>
            <p:cNvSpPr/>
            <p:nvPr/>
          </p:nvSpPr>
          <p:spPr>
            <a:xfrm rot="-2699590">
              <a:off x="6716478" y="11666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64" name="Google Shape;664;p51"/>
            <p:cNvSpPr/>
            <p:nvPr/>
          </p:nvSpPr>
          <p:spPr>
            <a:xfrm rot="-2699590">
              <a:off x="5940318" y="35714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65" name="Google Shape;665;p51"/>
            <p:cNvSpPr/>
            <p:nvPr/>
          </p:nvSpPr>
          <p:spPr>
            <a:xfrm>
              <a:off x="6778080" y="2891160"/>
              <a:ext cx="1596300" cy="1596300"/>
            </a:xfrm>
            <a:prstGeom prst="ellipse">
              <a:avLst/>
            </a:prstGeom>
            <a:noFill/>
            <a:ln cap="flat" cmpd="sng" w="9525">
              <a:solidFill>
                <a:srgbClr val="F8F8F8"/>
              </a:solidFill>
              <a:prstDash val="lg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666" name="Google Shape;666;p51"/>
          <p:cNvSpPr/>
          <p:nvPr/>
        </p:nvSpPr>
        <p:spPr>
          <a:xfrm>
            <a:off x="5397480" y="1055160"/>
            <a:ext cx="3033000" cy="3033000"/>
          </a:xfrm>
          <a:prstGeom prst="ellipse">
            <a:avLst/>
          </a:prstGeom>
          <a:blipFill rotWithShape="1">
            <a:blip r:embed="rId3">
              <a:alphaModFix/>
            </a:blip>
            <a:stretch>
              <a:fillRect b="0" l="0" r="0" t="0"/>
            </a:stretch>
          </a:blipFill>
          <a:ln cap="flat" cmpd="sng" w="38100">
            <a:solidFill>
              <a:srgbClr val="F8F8F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667" name="Google Shape;667;p51"/>
          <p:cNvGrpSpPr/>
          <p:nvPr/>
        </p:nvGrpSpPr>
        <p:grpSpPr>
          <a:xfrm>
            <a:off x="5405271" y="1044240"/>
            <a:ext cx="3160020" cy="3290700"/>
            <a:chOff x="5405271" y="1044240"/>
            <a:chExt cx="3160020" cy="3290700"/>
          </a:xfrm>
        </p:grpSpPr>
        <p:sp>
          <p:nvSpPr>
            <p:cNvPr id="668" name="Google Shape;668;p51"/>
            <p:cNvSpPr/>
            <p:nvPr/>
          </p:nvSpPr>
          <p:spPr>
            <a:xfrm rot="-2700000">
              <a:off x="7674867" y="13795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69" name="Google Shape;669;p51"/>
            <p:cNvSpPr/>
            <p:nvPr/>
          </p:nvSpPr>
          <p:spPr>
            <a:xfrm rot="-2700000">
              <a:off x="5299947" y="38851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670" name="Google Shape;670;p51"/>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671" name="Google Shape;671;p51"/>
          <p:cNvSpPr txBox="1"/>
          <p:nvPr>
            <p:ph type="title"/>
          </p:nvPr>
        </p:nvSpPr>
        <p:spPr>
          <a:xfrm>
            <a:off x="346028" y="1948375"/>
            <a:ext cx="6990900" cy="818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Sprints</a:t>
            </a:r>
            <a:endParaRPr b="1" sz="3200" u="none" strike="noStrike">
              <a:solidFill>
                <a:schemeClr val="dk1"/>
              </a:solidFill>
              <a:latin typeface="Roboto"/>
              <a:ea typeface="Roboto"/>
              <a:cs typeface="Roboto"/>
              <a:sym typeface="Roboto"/>
            </a:endParaRPr>
          </a:p>
        </p:txBody>
      </p:sp>
      <p:pic>
        <p:nvPicPr>
          <p:cNvPr id="672" name="Google Shape;672;p51"/>
          <p:cNvPicPr preferRelativeResize="0"/>
          <p:nvPr/>
        </p:nvPicPr>
        <p:blipFill>
          <a:blip r:embed="rId4">
            <a:alphaModFix/>
          </a:blip>
          <a:stretch>
            <a:fillRect/>
          </a:stretch>
        </p:blipFill>
        <p:spPr>
          <a:xfrm>
            <a:off x="2336400" y="1321913"/>
            <a:ext cx="2106229" cy="20716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52"/>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678" name="Google Shape;678;p52"/>
          <p:cNvSpPr txBox="1"/>
          <p:nvPr>
            <p:ph type="title"/>
          </p:nvPr>
        </p:nvSpPr>
        <p:spPr>
          <a:xfrm>
            <a:off x="160953" y="120775"/>
            <a:ext cx="6990900" cy="818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Sprint´s</a:t>
            </a:r>
            <a:endParaRPr b="1" sz="3200" u="none" strike="noStrike">
              <a:solidFill>
                <a:schemeClr val="dk1"/>
              </a:solidFill>
              <a:latin typeface="Roboto"/>
              <a:ea typeface="Roboto"/>
              <a:cs typeface="Roboto"/>
              <a:sym typeface="Roboto"/>
            </a:endParaRPr>
          </a:p>
        </p:txBody>
      </p:sp>
      <p:pic>
        <p:nvPicPr>
          <p:cNvPr id="679" name="Google Shape;679;p52">
            <a:hlinkClick r:id="rId3"/>
          </p:cNvPr>
          <p:cNvPicPr preferRelativeResize="0"/>
          <p:nvPr/>
        </p:nvPicPr>
        <p:blipFill>
          <a:blip r:embed="rId4">
            <a:alphaModFix/>
          </a:blip>
          <a:stretch>
            <a:fillRect/>
          </a:stretch>
        </p:blipFill>
        <p:spPr>
          <a:xfrm>
            <a:off x="83000" y="714000"/>
            <a:ext cx="7399574" cy="438322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53"/>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685" name="Google Shape;685;p53"/>
          <p:cNvSpPr txBox="1"/>
          <p:nvPr>
            <p:ph type="title"/>
          </p:nvPr>
        </p:nvSpPr>
        <p:spPr>
          <a:xfrm>
            <a:off x="160953" y="120775"/>
            <a:ext cx="6990900" cy="818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Sprint´s</a:t>
            </a:r>
            <a:endParaRPr b="1" sz="3200" u="none" strike="noStrike">
              <a:solidFill>
                <a:schemeClr val="dk1"/>
              </a:solidFill>
              <a:latin typeface="Roboto"/>
              <a:ea typeface="Roboto"/>
              <a:cs typeface="Roboto"/>
              <a:sym typeface="Roboto"/>
            </a:endParaRPr>
          </a:p>
        </p:txBody>
      </p:sp>
      <p:pic>
        <p:nvPicPr>
          <p:cNvPr id="686" name="Google Shape;686;p53">
            <a:hlinkClick r:id="rId3"/>
          </p:cNvPr>
          <p:cNvPicPr preferRelativeResize="0"/>
          <p:nvPr/>
        </p:nvPicPr>
        <p:blipFill>
          <a:blip r:embed="rId4">
            <a:alphaModFix/>
          </a:blip>
          <a:stretch>
            <a:fillRect/>
          </a:stretch>
        </p:blipFill>
        <p:spPr>
          <a:xfrm>
            <a:off x="75300" y="737150"/>
            <a:ext cx="7794501" cy="43215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54"/>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692" name="Google Shape;692;p54"/>
          <p:cNvSpPr txBox="1"/>
          <p:nvPr>
            <p:ph type="title"/>
          </p:nvPr>
        </p:nvSpPr>
        <p:spPr>
          <a:xfrm>
            <a:off x="160953" y="120775"/>
            <a:ext cx="6990900" cy="818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Sprint´s</a:t>
            </a:r>
            <a:endParaRPr b="1" sz="3200" u="none" strike="noStrike">
              <a:solidFill>
                <a:schemeClr val="dk1"/>
              </a:solidFill>
              <a:latin typeface="Roboto"/>
              <a:ea typeface="Roboto"/>
              <a:cs typeface="Roboto"/>
              <a:sym typeface="Roboto"/>
            </a:endParaRPr>
          </a:p>
        </p:txBody>
      </p:sp>
      <p:pic>
        <p:nvPicPr>
          <p:cNvPr id="693" name="Google Shape;693;p54">
            <a:hlinkClick r:id="rId3"/>
          </p:cNvPr>
          <p:cNvPicPr preferRelativeResize="0"/>
          <p:nvPr/>
        </p:nvPicPr>
        <p:blipFill>
          <a:blip r:embed="rId4">
            <a:alphaModFix/>
          </a:blip>
          <a:stretch>
            <a:fillRect/>
          </a:stretch>
        </p:blipFill>
        <p:spPr>
          <a:xfrm>
            <a:off x="152400" y="1091875"/>
            <a:ext cx="8839200" cy="273086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grpSp>
        <p:nvGrpSpPr>
          <p:cNvPr id="698" name="Google Shape;698;p55"/>
          <p:cNvGrpSpPr/>
          <p:nvPr/>
        </p:nvGrpSpPr>
        <p:grpSpPr>
          <a:xfrm>
            <a:off x="3978720" y="6840"/>
            <a:ext cx="5164200" cy="5143200"/>
            <a:chOff x="3978720" y="6840"/>
            <a:chExt cx="5164200" cy="5143200"/>
          </a:xfrm>
        </p:grpSpPr>
        <p:sp>
          <p:nvSpPr>
            <p:cNvPr id="699" name="Google Shape;699;p55"/>
            <p:cNvSpPr/>
            <p:nvPr/>
          </p:nvSpPr>
          <p:spPr>
            <a:xfrm flipH="1">
              <a:off x="3978720" y="6840"/>
              <a:ext cx="5164200" cy="51432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00" name="Google Shape;700;p55"/>
            <p:cNvSpPr/>
            <p:nvPr/>
          </p:nvSpPr>
          <p:spPr>
            <a:xfrm rot="-2699590">
              <a:off x="4520886" y="36474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01" name="Google Shape;701;p55"/>
            <p:cNvSpPr/>
            <p:nvPr/>
          </p:nvSpPr>
          <p:spPr>
            <a:xfrm rot="-2699590">
              <a:off x="7184166" y="22452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02" name="Google Shape;702;p55"/>
            <p:cNvSpPr/>
            <p:nvPr/>
          </p:nvSpPr>
          <p:spPr>
            <a:xfrm rot="-2699590">
              <a:off x="6716478" y="11666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03" name="Google Shape;703;p55"/>
            <p:cNvSpPr/>
            <p:nvPr/>
          </p:nvSpPr>
          <p:spPr>
            <a:xfrm rot="-2699590">
              <a:off x="5940318" y="35714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04" name="Google Shape;704;p55"/>
            <p:cNvSpPr/>
            <p:nvPr/>
          </p:nvSpPr>
          <p:spPr>
            <a:xfrm>
              <a:off x="6778080" y="2891160"/>
              <a:ext cx="1596300" cy="1596300"/>
            </a:xfrm>
            <a:prstGeom prst="ellipse">
              <a:avLst/>
            </a:prstGeom>
            <a:noFill/>
            <a:ln cap="flat" cmpd="sng" w="9525">
              <a:solidFill>
                <a:srgbClr val="F8F8F8"/>
              </a:solidFill>
              <a:prstDash val="lg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705" name="Google Shape;705;p55"/>
          <p:cNvGrpSpPr/>
          <p:nvPr/>
        </p:nvGrpSpPr>
        <p:grpSpPr>
          <a:xfrm>
            <a:off x="5405271" y="1044240"/>
            <a:ext cx="3160020" cy="3290700"/>
            <a:chOff x="5405271" y="1044240"/>
            <a:chExt cx="3160020" cy="3290700"/>
          </a:xfrm>
        </p:grpSpPr>
        <p:sp>
          <p:nvSpPr>
            <p:cNvPr id="706" name="Google Shape;706;p55"/>
            <p:cNvSpPr/>
            <p:nvPr/>
          </p:nvSpPr>
          <p:spPr>
            <a:xfrm rot="-2700000">
              <a:off x="7674867" y="13795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07" name="Google Shape;707;p55"/>
            <p:cNvSpPr/>
            <p:nvPr/>
          </p:nvSpPr>
          <p:spPr>
            <a:xfrm rot="-2700000">
              <a:off x="5299947" y="38851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708" name="Google Shape;708;p55"/>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709" name="Google Shape;709;p55"/>
          <p:cNvSpPr txBox="1"/>
          <p:nvPr>
            <p:ph type="title"/>
          </p:nvPr>
        </p:nvSpPr>
        <p:spPr>
          <a:xfrm>
            <a:off x="160953" y="120775"/>
            <a:ext cx="6990900" cy="818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Product Backlog</a:t>
            </a:r>
            <a:endParaRPr b="1" sz="3200" u="none" strike="noStrike">
              <a:solidFill>
                <a:schemeClr val="dk1"/>
              </a:solidFill>
              <a:latin typeface="Roboto"/>
              <a:ea typeface="Roboto"/>
              <a:cs typeface="Roboto"/>
              <a:sym typeface="Roboto"/>
            </a:endParaRPr>
          </a:p>
        </p:txBody>
      </p:sp>
      <p:pic>
        <p:nvPicPr>
          <p:cNvPr id="710" name="Google Shape;710;p55"/>
          <p:cNvPicPr preferRelativeResize="0"/>
          <p:nvPr/>
        </p:nvPicPr>
        <p:blipFill>
          <a:blip r:embed="rId3">
            <a:alphaModFix/>
          </a:blip>
          <a:stretch>
            <a:fillRect/>
          </a:stretch>
        </p:blipFill>
        <p:spPr>
          <a:xfrm>
            <a:off x="152400" y="867593"/>
            <a:ext cx="9143998" cy="3713113"/>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grpSp>
        <p:nvGrpSpPr>
          <p:cNvPr id="715" name="Google Shape;715;p56"/>
          <p:cNvGrpSpPr/>
          <p:nvPr/>
        </p:nvGrpSpPr>
        <p:grpSpPr>
          <a:xfrm>
            <a:off x="3978720" y="6840"/>
            <a:ext cx="5164200" cy="5143200"/>
            <a:chOff x="3978720" y="6840"/>
            <a:chExt cx="5164200" cy="5143200"/>
          </a:xfrm>
        </p:grpSpPr>
        <p:sp>
          <p:nvSpPr>
            <p:cNvPr id="716" name="Google Shape;716;p56"/>
            <p:cNvSpPr/>
            <p:nvPr/>
          </p:nvSpPr>
          <p:spPr>
            <a:xfrm flipH="1">
              <a:off x="3978720" y="6840"/>
              <a:ext cx="5164200" cy="51432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17" name="Google Shape;717;p56"/>
            <p:cNvSpPr/>
            <p:nvPr/>
          </p:nvSpPr>
          <p:spPr>
            <a:xfrm rot="-2699590">
              <a:off x="4520886" y="36474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18" name="Google Shape;718;p56"/>
            <p:cNvSpPr/>
            <p:nvPr/>
          </p:nvSpPr>
          <p:spPr>
            <a:xfrm rot="-2699590">
              <a:off x="7184166" y="22452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19" name="Google Shape;719;p56"/>
            <p:cNvSpPr/>
            <p:nvPr/>
          </p:nvSpPr>
          <p:spPr>
            <a:xfrm rot="-2699590">
              <a:off x="6716478" y="11666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20" name="Google Shape;720;p56"/>
            <p:cNvSpPr/>
            <p:nvPr/>
          </p:nvSpPr>
          <p:spPr>
            <a:xfrm rot="-2699590">
              <a:off x="5940318" y="35714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21" name="Google Shape;721;p56"/>
            <p:cNvSpPr/>
            <p:nvPr/>
          </p:nvSpPr>
          <p:spPr>
            <a:xfrm>
              <a:off x="6778080" y="2891160"/>
              <a:ext cx="1596300" cy="1596300"/>
            </a:xfrm>
            <a:prstGeom prst="ellipse">
              <a:avLst/>
            </a:prstGeom>
            <a:noFill/>
            <a:ln cap="flat" cmpd="sng" w="9525">
              <a:solidFill>
                <a:srgbClr val="F8F8F8"/>
              </a:solidFill>
              <a:prstDash val="lg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722" name="Google Shape;722;p56"/>
          <p:cNvGrpSpPr/>
          <p:nvPr/>
        </p:nvGrpSpPr>
        <p:grpSpPr>
          <a:xfrm>
            <a:off x="5405271" y="1044240"/>
            <a:ext cx="3160020" cy="3290700"/>
            <a:chOff x="5405271" y="1044240"/>
            <a:chExt cx="3160020" cy="3290700"/>
          </a:xfrm>
        </p:grpSpPr>
        <p:sp>
          <p:nvSpPr>
            <p:cNvPr id="723" name="Google Shape;723;p56"/>
            <p:cNvSpPr/>
            <p:nvPr/>
          </p:nvSpPr>
          <p:spPr>
            <a:xfrm rot="-2700000">
              <a:off x="7674867" y="13795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24" name="Google Shape;724;p56"/>
            <p:cNvSpPr/>
            <p:nvPr/>
          </p:nvSpPr>
          <p:spPr>
            <a:xfrm rot="-2700000">
              <a:off x="5299947" y="38851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725" name="Google Shape;725;p56"/>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726" name="Google Shape;726;p56"/>
          <p:cNvSpPr txBox="1"/>
          <p:nvPr>
            <p:ph type="title"/>
          </p:nvPr>
        </p:nvSpPr>
        <p:spPr>
          <a:xfrm>
            <a:off x="160953" y="120775"/>
            <a:ext cx="6990900" cy="818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Product Backlog</a:t>
            </a:r>
            <a:endParaRPr b="1" sz="3200" u="none" strike="noStrike">
              <a:solidFill>
                <a:schemeClr val="dk1"/>
              </a:solidFill>
              <a:latin typeface="Roboto"/>
              <a:ea typeface="Roboto"/>
              <a:cs typeface="Roboto"/>
              <a:sym typeface="Roboto"/>
            </a:endParaRPr>
          </a:p>
        </p:txBody>
      </p:sp>
      <p:pic>
        <p:nvPicPr>
          <p:cNvPr id="727" name="Google Shape;727;p56"/>
          <p:cNvPicPr preferRelativeResize="0"/>
          <p:nvPr/>
        </p:nvPicPr>
        <p:blipFill>
          <a:blip r:embed="rId3">
            <a:alphaModFix/>
          </a:blip>
          <a:stretch>
            <a:fillRect/>
          </a:stretch>
        </p:blipFill>
        <p:spPr>
          <a:xfrm>
            <a:off x="0" y="709861"/>
            <a:ext cx="9144002" cy="3723778"/>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grpSp>
        <p:nvGrpSpPr>
          <p:cNvPr id="732" name="Google Shape;732;p57"/>
          <p:cNvGrpSpPr/>
          <p:nvPr/>
        </p:nvGrpSpPr>
        <p:grpSpPr>
          <a:xfrm>
            <a:off x="3978720" y="6840"/>
            <a:ext cx="5164200" cy="5143200"/>
            <a:chOff x="3978720" y="6840"/>
            <a:chExt cx="5164200" cy="5143200"/>
          </a:xfrm>
        </p:grpSpPr>
        <p:sp>
          <p:nvSpPr>
            <p:cNvPr id="733" name="Google Shape;733;p57"/>
            <p:cNvSpPr/>
            <p:nvPr/>
          </p:nvSpPr>
          <p:spPr>
            <a:xfrm flipH="1">
              <a:off x="3978720" y="6840"/>
              <a:ext cx="5164200" cy="51432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34" name="Google Shape;734;p57"/>
            <p:cNvSpPr/>
            <p:nvPr/>
          </p:nvSpPr>
          <p:spPr>
            <a:xfrm rot="-2699590">
              <a:off x="4520886" y="36474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35" name="Google Shape;735;p57"/>
            <p:cNvSpPr/>
            <p:nvPr/>
          </p:nvSpPr>
          <p:spPr>
            <a:xfrm rot="-2699590">
              <a:off x="7184166" y="22452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36" name="Google Shape;736;p57"/>
            <p:cNvSpPr/>
            <p:nvPr/>
          </p:nvSpPr>
          <p:spPr>
            <a:xfrm rot="-2699590">
              <a:off x="6716478" y="11666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37" name="Google Shape;737;p57"/>
            <p:cNvSpPr/>
            <p:nvPr/>
          </p:nvSpPr>
          <p:spPr>
            <a:xfrm rot="-2699590">
              <a:off x="5940318" y="35714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38" name="Google Shape;738;p57"/>
            <p:cNvSpPr/>
            <p:nvPr/>
          </p:nvSpPr>
          <p:spPr>
            <a:xfrm>
              <a:off x="6778080" y="2891160"/>
              <a:ext cx="1596300" cy="1596300"/>
            </a:xfrm>
            <a:prstGeom prst="ellipse">
              <a:avLst/>
            </a:prstGeom>
            <a:noFill/>
            <a:ln cap="flat" cmpd="sng" w="9525">
              <a:solidFill>
                <a:srgbClr val="F8F8F8"/>
              </a:solidFill>
              <a:prstDash val="lg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739" name="Google Shape;739;p57"/>
          <p:cNvSpPr/>
          <p:nvPr/>
        </p:nvSpPr>
        <p:spPr>
          <a:xfrm>
            <a:off x="5397480" y="1055160"/>
            <a:ext cx="3033000" cy="3033000"/>
          </a:xfrm>
          <a:prstGeom prst="ellipse">
            <a:avLst/>
          </a:prstGeom>
          <a:blipFill rotWithShape="1">
            <a:blip r:embed="rId3">
              <a:alphaModFix/>
            </a:blip>
            <a:stretch>
              <a:fillRect b="0" l="0" r="0" t="0"/>
            </a:stretch>
          </a:blipFill>
          <a:ln cap="flat" cmpd="sng" w="38100">
            <a:solidFill>
              <a:srgbClr val="F8F8F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740" name="Google Shape;740;p57"/>
          <p:cNvGrpSpPr/>
          <p:nvPr/>
        </p:nvGrpSpPr>
        <p:grpSpPr>
          <a:xfrm>
            <a:off x="5405271" y="1044240"/>
            <a:ext cx="3160020" cy="3290700"/>
            <a:chOff x="5405271" y="1044240"/>
            <a:chExt cx="3160020" cy="3290700"/>
          </a:xfrm>
        </p:grpSpPr>
        <p:sp>
          <p:nvSpPr>
            <p:cNvPr id="741" name="Google Shape;741;p57"/>
            <p:cNvSpPr/>
            <p:nvPr/>
          </p:nvSpPr>
          <p:spPr>
            <a:xfrm rot="-2700000">
              <a:off x="7674867" y="13795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42" name="Google Shape;742;p57"/>
            <p:cNvSpPr/>
            <p:nvPr/>
          </p:nvSpPr>
          <p:spPr>
            <a:xfrm rot="-2700000">
              <a:off x="5299947" y="38851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743" name="Google Shape;743;p57"/>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744" name="Google Shape;744;p57"/>
          <p:cNvSpPr txBox="1"/>
          <p:nvPr>
            <p:ph type="title"/>
          </p:nvPr>
        </p:nvSpPr>
        <p:spPr>
          <a:xfrm>
            <a:off x="346028" y="1948375"/>
            <a:ext cx="6990900" cy="818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Cronograma</a:t>
            </a:r>
            <a:endParaRPr b="1" sz="3200" u="none" strike="noStrike">
              <a:solidFill>
                <a:schemeClr val="dk1"/>
              </a:solidFill>
              <a:latin typeface="Roboto"/>
              <a:ea typeface="Roboto"/>
              <a:cs typeface="Roboto"/>
              <a:sym typeface="Roboto"/>
            </a:endParaRPr>
          </a:p>
        </p:txBody>
      </p:sp>
      <p:pic>
        <p:nvPicPr>
          <p:cNvPr id="745" name="Google Shape;745;p57"/>
          <p:cNvPicPr preferRelativeResize="0"/>
          <p:nvPr/>
        </p:nvPicPr>
        <p:blipFill>
          <a:blip r:embed="rId4">
            <a:alphaModFix/>
          </a:blip>
          <a:stretch>
            <a:fillRect/>
          </a:stretch>
        </p:blipFill>
        <p:spPr>
          <a:xfrm>
            <a:off x="3058550" y="1454450"/>
            <a:ext cx="1872638" cy="15594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58"/>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751" name="Google Shape;751;p58"/>
          <p:cNvSpPr txBox="1"/>
          <p:nvPr>
            <p:ph type="title"/>
          </p:nvPr>
        </p:nvSpPr>
        <p:spPr>
          <a:xfrm>
            <a:off x="3340500" y="126625"/>
            <a:ext cx="2463000" cy="551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Cronograma</a:t>
            </a:r>
            <a:endParaRPr b="1" sz="3200" u="none" strike="noStrike">
              <a:solidFill>
                <a:schemeClr val="dk1"/>
              </a:solidFill>
              <a:latin typeface="Roboto"/>
              <a:ea typeface="Roboto"/>
              <a:cs typeface="Roboto"/>
              <a:sym typeface="Roboto"/>
            </a:endParaRPr>
          </a:p>
        </p:txBody>
      </p:sp>
      <p:pic>
        <p:nvPicPr>
          <p:cNvPr id="752" name="Google Shape;752;p58" title="03.-cronograma.png"/>
          <p:cNvPicPr preferRelativeResize="0"/>
          <p:nvPr/>
        </p:nvPicPr>
        <p:blipFill>
          <a:blip r:embed="rId3">
            <a:alphaModFix/>
          </a:blip>
          <a:stretch>
            <a:fillRect/>
          </a:stretch>
        </p:blipFill>
        <p:spPr>
          <a:xfrm>
            <a:off x="506313" y="634200"/>
            <a:ext cx="8131374" cy="4160977"/>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59"/>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758" name="Google Shape;758;p59"/>
          <p:cNvSpPr txBox="1"/>
          <p:nvPr>
            <p:ph type="title"/>
          </p:nvPr>
        </p:nvSpPr>
        <p:spPr>
          <a:xfrm>
            <a:off x="3340500" y="126625"/>
            <a:ext cx="2463000" cy="551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Costos</a:t>
            </a:r>
            <a:endParaRPr b="1" sz="3200">
              <a:solidFill>
                <a:schemeClr val="dk1"/>
              </a:solidFill>
              <a:latin typeface="Roboto"/>
              <a:ea typeface="Roboto"/>
              <a:cs typeface="Roboto"/>
              <a:sym typeface="Roboto"/>
            </a:endParaRPr>
          </a:p>
        </p:txBody>
      </p:sp>
      <p:pic>
        <p:nvPicPr>
          <p:cNvPr id="759" name="Google Shape;759;p59">
            <a:hlinkClick r:id="rId3"/>
          </p:cNvPr>
          <p:cNvPicPr preferRelativeResize="0"/>
          <p:nvPr/>
        </p:nvPicPr>
        <p:blipFill>
          <a:blip r:embed="rId4">
            <a:alphaModFix/>
          </a:blip>
          <a:stretch>
            <a:fillRect/>
          </a:stretch>
        </p:blipFill>
        <p:spPr>
          <a:xfrm>
            <a:off x="1963375" y="555300"/>
            <a:ext cx="5217251" cy="453025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60"/>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765" name="Google Shape;765;p60"/>
          <p:cNvSpPr txBox="1"/>
          <p:nvPr>
            <p:ph type="title"/>
          </p:nvPr>
        </p:nvSpPr>
        <p:spPr>
          <a:xfrm>
            <a:off x="5583050" y="1773625"/>
            <a:ext cx="3177300" cy="14643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Tablero Kanban de tareas</a:t>
            </a:r>
            <a:endParaRPr b="1" sz="3200">
              <a:solidFill>
                <a:schemeClr val="dk1"/>
              </a:solidFill>
              <a:latin typeface="Roboto"/>
              <a:ea typeface="Roboto"/>
              <a:cs typeface="Roboto"/>
              <a:sym typeface="Roboto"/>
            </a:endParaRPr>
          </a:p>
        </p:txBody>
      </p:sp>
      <p:pic>
        <p:nvPicPr>
          <p:cNvPr id="766" name="Google Shape;766;p60">
            <a:hlinkClick r:id="rId3"/>
          </p:cNvPr>
          <p:cNvPicPr preferRelativeResize="0"/>
          <p:nvPr/>
        </p:nvPicPr>
        <p:blipFill>
          <a:blip r:embed="rId4">
            <a:alphaModFix/>
          </a:blip>
          <a:stretch>
            <a:fillRect/>
          </a:stretch>
        </p:blipFill>
        <p:spPr>
          <a:xfrm>
            <a:off x="69400" y="56375"/>
            <a:ext cx="5315975" cy="4971449"/>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grpSp>
        <p:nvGrpSpPr>
          <p:cNvPr id="771" name="Google Shape;771;p61"/>
          <p:cNvGrpSpPr/>
          <p:nvPr/>
        </p:nvGrpSpPr>
        <p:grpSpPr>
          <a:xfrm>
            <a:off x="3978720" y="6840"/>
            <a:ext cx="5164200" cy="5143200"/>
            <a:chOff x="3978720" y="6840"/>
            <a:chExt cx="5164200" cy="5143200"/>
          </a:xfrm>
        </p:grpSpPr>
        <p:sp>
          <p:nvSpPr>
            <p:cNvPr id="772" name="Google Shape;772;p61"/>
            <p:cNvSpPr/>
            <p:nvPr/>
          </p:nvSpPr>
          <p:spPr>
            <a:xfrm flipH="1">
              <a:off x="3978720" y="6840"/>
              <a:ext cx="5164200" cy="51432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73" name="Google Shape;773;p61"/>
            <p:cNvSpPr/>
            <p:nvPr/>
          </p:nvSpPr>
          <p:spPr>
            <a:xfrm rot="-2699590">
              <a:off x="4520886" y="36474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74" name="Google Shape;774;p61"/>
            <p:cNvSpPr/>
            <p:nvPr/>
          </p:nvSpPr>
          <p:spPr>
            <a:xfrm rot="-2699590">
              <a:off x="7184166" y="22452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75" name="Google Shape;775;p61"/>
            <p:cNvSpPr/>
            <p:nvPr/>
          </p:nvSpPr>
          <p:spPr>
            <a:xfrm rot="-2699590">
              <a:off x="6716478" y="11666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76" name="Google Shape;776;p61"/>
            <p:cNvSpPr/>
            <p:nvPr/>
          </p:nvSpPr>
          <p:spPr>
            <a:xfrm rot="-2699590">
              <a:off x="5940318" y="35714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77" name="Google Shape;777;p61"/>
            <p:cNvSpPr/>
            <p:nvPr/>
          </p:nvSpPr>
          <p:spPr>
            <a:xfrm>
              <a:off x="6778080" y="2891160"/>
              <a:ext cx="1596300" cy="1596300"/>
            </a:xfrm>
            <a:prstGeom prst="ellipse">
              <a:avLst/>
            </a:prstGeom>
            <a:noFill/>
            <a:ln cap="flat" cmpd="sng" w="9525">
              <a:solidFill>
                <a:srgbClr val="F8F8F8"/>
              </a:solidFill>
              <a:prstDash val="lg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778" name="Google Shape;778;p61"/>
          <p:cNvSpPr/>
          <p:nvPr/>
        </p:nvSpPr>
        <p:spPr>
          <a:xfrm>
            <a:off x="5397480" y="1055160"/>
            <a:ext cx="3033000" cy="3033000"/>
          </a:xfrm>
          <a:prstGeom prst="ellipse">
            <a:avLst/>
          </a:prstGeom>
          <a:blipFill rotWithShape="1">
            <a:blip r:embed="rId3">
              <a:alphaModFix/>
            </a:blip>
            <a:stretch>
              <a:fillRect b="0" l="0" r="0" t="0"/>
            </a:stretch>
          </a:blipFill>
          <a:ln cap="flat" cmpd="sng" w="38100">
            <a:solidFill>
              <a:srgbClr val="F8F8F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779" name="Google Shape;779;p61"/>
          <p:cNvGrpSpPr/>
          <p:nvPr/>
        </p:nvGrpSpPr>
        <p:grpSpPr>
          <a:xfrm>
            <a:off x="5405271" y="1044240"/>
            <a:ext cx="3160020" cy="3290700"/>
            <a:chOff x="5405271" y="1044240"/>
            <a:chExt cx="3160020" cy="3290700"/>
          </a:xfrm>
        </p:grpSpPr>
        <p:sp>
          <p:nvSpPr>
            <p:cNvPr id="780" name="Google Shape;780;p61"/>
            <p:cNvSpPr/>
            <p:nvPr/>
          </p:nvSpPr>
          <p:spPr>
            <a:xfrm rot="-2700000">
              <a:off x="7674867" y="13795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81" name="Google Shape;781;p61"/>
            <p:cNvSpPr/>
            <p:nvPr/>
          </p:nvSpPr>
          <p:spPr>
            <a:xfrm rot="-2700000">
              <a:off x="5299947" y="38851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782" name="Google Shape;782;p61"/>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783" name="Google Shape;783;p61"/>
          <p:cNvSpPr txBox="1"/>
          <p:nvPr>
            <p:ph type="title"/>
          </p:nvPr>
        </p:nvSpPr>
        <p:spPr>
          <a:xfrm>
            <a:off x="346028" y="1948375"/>
            <a:ext cx="6990900" cy="818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Demostración</a:t>
            </a:r>
            <a:endParaRPr b="1" sz="3200">
              <a:solidFill>
                <a:schemeClr val="dk1"/>
              </a:solidFill>
              <a:latin typeface="Roboto"/>
              <a:ea typeface="Roboto"/>
              <a:cs typeface="Roboto"/>
              <a:sym typeface="Roboto"/>
            </a:endParaRPr>
          </a:p>
        </p:txBody>
      </p:sp>
      <p:pic>
        <p:nvPicPr>
          <p:cNvPr id="784" name="Google Shape;784;p61"/>
          <p:cNvPicPr preferRelativeResize="0"/>
          <p:nvPr/>
        </p:nvPicPr>
        <p:blipFill>
          <a:blip r:embed="rId4">
            <a:alphaModFix/>
          </a:blip>
          <a:stretch>
            <a:fillRect/>
          </a:stretch>
        </p:blipFill>
        <p:spPr>
          <a:xfrm>
            <a:off x="3249650" y="1279300"/>
            <a:ext cx="1655581" cy="167115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62"/>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790" name="Google Shape;790;p62"/>
          <p:cNvSpPr txBox="1"/>
          <p:nvPr>
            <p:ph type="title"/>
          </p:nvPr>
        </p:nvSpPr>
        <p:spPr>
          <a:xfrm>
            <a:off x="2878050" y="126625"/>
            <a:ext cx="3387900" cy="551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Demostración</a:t>
            </a:r>
            <a:endParaRPr b="1" sz="3200">
              <a:solidFill>
                <a:schemeClr val="dk1"/>
              </a:solidFill>
              <a:latin typeface="Roboto"/>
              <a:ea typeface="Roboto"/>
              <a:cs typeface="Roboto"/>
              <a:sym typeface="Roboto"/>
            </a:endParaRPr>
          </a:p>
        </p:txBody>
      </p:sp>
      <p:sp>
        <p:nvSpPr>
          <p:cNvPr id="791" name="Google Shape;791;p62"/>
          <p:cNvSpPr txBox="1"/>
          <p:nvPr/>
        </p:nvSpPr>
        <p:spPr>
          <a:xfrm>
            <a:off x="3325850" y="1505375"/>
            <a:ext cx="15780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300" u="sng">
                <a:solidFill>
                  <a:schemeClr val="hlink"/>
                </a:solidFill>
                <a:latin typeface="Roboto"/>
                <a:ea typeface="Roboto"/>
                <a:cs typeface="Roboto"/>
                <a:sym typeface="Roboto"/>
                <a:hlinkClick r:id="rId3"/>
              </a:rPr>
              <a:t>URL Demo</a:t>
            </a:r>
            <a:endParaRPr b="1" sz="2300">
              <a:latin typeface="Roboto"/>
              <a:ea typeface="Roboto"/>
              <a:cs typeface="Roboto"/>
              <a:sym typeface="Roboto"/>
            </a:endParaRPr>
          </a:p>
        </p:txBody>
      </p:sp>
      <p:sp>
        <p:nvSpPr>
          <p:cNvPr id="792" name="Google Shape;792;p62"/>
          <p:cNvSpPr txBox="1"/>
          <p:nvPr/>
        </p:nvSpPr>
        <p:spPr>
          <a:xfrm>
            <a:off x="1277650" y="2999500"/>
            <a:ext cx="62559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300" u="sng">
                <a:solidFill>
                  <a:srgbClr val="009384"/>
                </a:solidFill>
                <a:latin typeface="Roboto"/>
                <a:ea typeface="Roboto"/>
                <a:cs typeface="Roboto"/>
                <a:sym typeface="Roboto"/>
                <a:hlinkClick r:id="rId4">
                  <a:extLst>
                    <a:ext uri="{A12FA001-AC4F-418D-AE19-62706E023703}">
                      <ahyp:hlinkClr val="tx"/>
                    </a:ext>
                  </a:extLst>
                </a:hlinkClick>
              </a:rPr>
              <a:t>URL Crear gráficos en Metabase Dashboard</a:t>
            </a:r>
            <a:endParaRPr b="1" sz="2300">
              <a:latin typeface="Roboto"/>
              <a:ea typeface="Roboto"/>
              <a:cs typeface="Roboto"/>
              <a:sym typeface="Roboto"/>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grpSp>
        <p:nvGrpSpPr>
          <p:cNvPr id="797" name="Google Shape;797;p63"/>
          <p:cNvGrpSpPr/>
          <p:nvPr/>
        </p:nvGrpSpPr>
        <p:grpSpPr>
          <a:xfrm>
            <a:off x="3978720" y="6840"/>
            <a:ext cx="5164200" cy="5143200"/>
            <a:chOff x="3978720" y="6840"/>
            <a:chExt cx="5164200" cy="5143200"/>
          </a:xfrm>
        </p:grpSpPr>
        <p:sp>
          <p:nvSpPr>
            <p:cNvPr id="798" name="Google Shape;798;p63"/>
            <p:cNvSpPr/>
            <p:nvPr/>
          </p:nvSpPr>
          <p:spPr>
            <a:xfrm flipH="1">
              <a:off x="3978720" y="6840"/>
              <a:ext cx="5164200" cy="51432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99" name="Google Shape;799;p63"/>
            <p:cNvSpPr/>
            <p:nvPr/>
          </p:nvSpPr>
          <p:spPr>
            <a:xfrm rot="-2699590">
              <a:off x="4520886" y="36474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00" name="Google Shape;800;p63"/>
            <p:cNvSpPr/>
            <p:nvPr/>
          </p:nvSpPr>
          <p:spPr>
            <a:xfrm rot="-2699590">
              <a:off x="7184166" y="2245217"/>
              <a:ext cx="1779576" cy="326259"/>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01" name="Google Shape;801;p63"/>
            <p:cNvSpPr/>
            <p:nvPr/>
          </p:nvSpPr>
          <p:spPr>
            <a:xfrm rot="-2699590">
              <a:off x="6716478" y="11666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02" name="Google Shape;802;p63"/>
            <p:cNvSpPr/>
            <p:nvPr/>
          </p:nvSpPr>
          <p:spPr>
            <a:xfrm rot="-2699590">
              <a:off x="5940318" y="3571471"/>
              <a:ext cx="1779576" cy="47729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03" name="Google Shape;803;p63"/>
            <p:cNvSpPr/>
            <p:nvPr/>
          </p:nvSpPr>
          <p:spPr>
            <a:xfrm>
              <a:off x="6778080" y="2891160"/>
              <a:ext cx="1596300" cy="1596300"/>
            </a:xfrm>
            <a:prstGeom prst="ellipse">
              <a:avLst/>
            </a:prstGeom>
            <a:noFill/>
            <a:ln cap="flat" cmpd="sng" w="9525">
              <a:solidFill>
                <a:srgbClr val="F8F8F8"/>
              </a:solidFill>
              <a:prstDash val="lg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804" name="Google Shape;804;p63"/>
          <p:cNvSpPr/>
          <p:nvPr/>
        </p:nvSpPr>
        <p:spPr>
          <a:xfrm>
            <a:off x="5397480" y="1055160"/>
            <a:ext cx="3033000" cy="3033000"/>
          </a:xfrm>
          <a:prstGeom prst="ellipse">
            <a:avLst/>
          </a:prstGeom>
          <a:blipFill rotWithShape="1">
            <a:blip r:embed="rId3">
              <a:alphaModFix/>
            </a:blip>
            <a:stretch>
              <a:fillRect b="0" l="0" r="0" t="0"/>
            </a:stretch>
          </a:blipFill>
          <a:ln cap="flat" cmpd="sng" w="38100">
            <a:solidFill>
              <a:srgbClr val="F8F8F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805" name="Google Shape;805;p63"/>
          <p:cNvGrpSpPr/>
          <p:nvPr/>
        </p:nvGrpSpPr>
        <p:grpSpPr>
          <a:xfrm>
            <a:off x="5405271" y="1044240"/>
            <a:ext cx="3160020" cy="3290700"/>
            <a:chOff x="5405271" y="1044240"/>
            <a:chExt cx="3160020" cy="3290700"/>
          </a:xfrm>
        </p:grpSpPr>
        <p:sp>
          <p:nvSpPr>
            <p:cNvPr id="806" name="Google Shape;806;p63"/>
            <p:cNvSpPr/>
            <p:nvPr/>
          </p:nvSpPr>
          <p:spPr>
            <a:xfrm rot="-2700000">
              <a:off x="7674867" y="13795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07" name="Google Shape;807;p63"/>
            <p:cNvSpPr/>
            <p:nvPr/>
          </p:nvSpPr>
          <p:spPr>
            <a:xfrm rot="-2700000">
              <a:off x="5299947" y="3885114"/>
              <a:ext cx="995748" cy="114551"/>
            </a:xfrm>
            <a:prstGeom prst="roundRect">
              <a:avLst>
                <a:gd fmla="val 50000" name="adj"/>
              </a:avLst>
            </a:prstGeom>
            <a:solidFill>
              <a:schemeClr val="lt1"/>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808" name="Google Shape;808;p63"/>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809" name="Google Shape;809;p63"/>
          <p:cNvSpPr txBox="1"/>
          <p:nvPr>
            <p:ph type="title"/>
          </p:nvPr>
        </p:nvSpPr>
        <p:spPr>
          <a:xfrm>
            <a:off x="346028" y="1948375"/>
            <a:ext cx="6990900" cy="818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3200"/>
              <a:buFont typeface="Archivo Black"/>
              <a:buNone/>
            </a:pPr>
            <a:r>
              <a:rPr b="1" lang="en-US" sz="3200">
                <a:solidFill>
                  <a:schemeClr val="dk1"/>
                </a:solidFill>
                <a:latin typeface="Roboto"/>
                <a:ea typeface="Roboto"/>
                <a:cs typeface="Roboto"/>
                <a:sym typeface="Roboto"/>
              </a:rPr>
              <a:t>Conclusiones</a:t>
            </a:r>
            <a:endParaRPr b="1" sz="3200" u="none" strike="noStrike">
              <a:solidFill>
                <a:schemeClr val="dk1"/>
              </a:solidFill>
              <a:latin typeface="Roboto"/>
              <a:ea typeface="Roboto"/>
              <a:cs typeface="Roboto"/>
              <a:sym typeface="Roboto"/>
            </a:endParaRPr>
          </a:p>
        </p:txBody>
      </p:sp>
      <p:pic>
        <p:nvPicPr>
          <p:cNvPr id="810" name="Google Shape;810;p63"/>
          <p:cNvPicPr preferRelativeResize="0"/>
          <p:nvPr/>
        </p:nvPicPr>
        <p:blipFill>
          <a:blip r:embed="rId4">
            <a:alphaModFix/>
          </a:blip>
          <a:stretch>
            <a:fillRect/>
          </a:stretch>
        </p:blipFill>
        <p:spPr>
          <a:xfrm>
            <a:off x="3249650" y="1279300"/>
            <a:ext cx="1655581" cy="167115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pic>
        <p:nvPicPr>
          <p:cNvPr id="815" name="Google Shape;815;p64"/>
          <p:cNvPicPr preferRelativeResize="0"/>
          <p:nvPr/>
        </p:nvPicPr>
        <p:blipFill>
          <a:blip r:embed="rId3">
            <a:alphaModFix/>
          </a:blip>
          <a:stretch>
            <a:fillRect/>
          </a:stretch>
        </p:blipFill>
        <p:spPr>
          <a:xfrm>
            <a:off x="4443950" y="778850"/>
            <a:ext cx="4260424" cy="3425126"/>
          </a:xfrm>
          <a:prstGeom prst="rect">
            <a:avLst/>
          </a:prstGeom>
          <a:noFill/>
          <a:ln>
            <a:noFill/>
          </a:ln>
        </p:spPr>
      </p:pic>
      <p:sp>
        <p:nvSpPr>
          <p:cNvPr id="816" name="Google Shape;816;p64"/>
          <p:cNvSpPr txBox="1"/>
          <p:nvPr>
            <p:ph idx="4294967295" type="title"/>
          </p:nvPr>
        </p:nvSpPr>
        <p:spPr>
          <a:xfrm>
            <a:off x="3251250" y="124250"/>
            <a:ext cx="2641500" cy="818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100000"/>
              <a:buFont typeface="Archivo Black"/>
              <a:buNone/>
            </a:pPr>
            <a:r>
              <a:rPr b="1" lang="en-US" sz="3200" u="none" strike="noStrike">
                <a:solidFill>
                  <a:schemeClr val="dk1"/>
                </a:solidFill>
                <a:latin typeface="Roboto"/>
                <a:ea typeface="Roboto"/>
                <a:cs typeface="Roboto"/>
                <a:sym typeface="Roboto"/>
              </a:rPr>
              <a:t>Conclusiones</a:t>
            </a:r>
            <a:endParaRPr b="1" sz="3200" u="none" strike="noStrike">
              <a:solidFill>
                <a:schemeClr val="dk1"/>
              </a:solidFill>
              <a:latin typeface="Roboto"/>
              <a:ea typeface="Roboto"/>
              <a:cs typeface="Roboto"/>
              <a:sym typeface="Roboto"/>
            </a:endParaRPr>
          </a:p>
        </p:txBody>
      </p:sp>
      <p:sp>
        <p:nvSpPr>
          <p:cNvPr id="817" name="Google Shape;817;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pic>
        <p:nvPicPr>
          <p:cNvPr id="818" name="Google Shape;818;p64"/>
          <p:cNvPicPr preferRelativeResize="0"/>
          <p:nvPr/>
        </p:nvPicPr>
        <p:blipFill>
          <a:blip r:embed="rId4">
            <a:alphaModFix/>
          </a:blip>
          <a:stretch>
            <a:fillRect/>
          </a:stretch>
        </p:blipFill>
        <p:spPr>
          <a:xfrm>
            <a:off x="41625" y="778850"/>
            <a:ext cx="4402325" cy="3425126"/>
          </a:xfrm>
          <a:prstGeom prst="rect">
            <a:avLst/>
          </a:prstGeom>
          <a:noFill/>
          <a:ln>
            <a:noFill/>
          </a:ln>
        </p:spPr>
      </p:pic>
      <p:sp>
        <p:nvSpPr>
          <p:cNvPr id="819" name="Google Shape;819;p64"/>
          <p:cNvSpPr txBox="1"/>
          <p:nvPr/>
        </p:nvSpPr>
        <p:spPr>
          <a:xfrm>
            <a:off x="295650" y="1794800"/>
            <a:ext cx="4029000" cy="2047200"/>
          </a:xfrm>
          <a:prstGeom prst="rect">
            <a:avLst/>
          </a:prstGeom>
          <a:solidFill>
            <a:schemeClr val="lt1"/>
          </a:solid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1200">
                <a:solidFill>
                  <a:srgbClr val="073763"/>
                </a:solidFill>
                <a:latin typeface="Roboto"/>
                <a:ea typeface="Roboto"/>
                <a:cs typeface="Roboto"/>
                <a:sym typeface="Roboto"/>
              </a:rPr>
              <a:t>Pude avanzar en la implementación de filtros para el dashboard, logrando entregar una funcionalidad importante. trabajé y ajusté la planificación para priorizar lo que realmente aporta valor. Esta experiencia me enseñó la importancia de ser flexible y de </a:t>
            </a:r>
            <a:r>
              <a:rPr lang="en-US" sz="1200">
                <a:solidFill>
                  <a:srgbClr val="073763"/>
                </a:solidFill>
                <a:latin typeface="Roboto"/>
                <a:ea typeface="Roboto"/>
                <a:cs typeface="Roboto"/>
                <a:sym typeface="Roboto"/>
              </a:rPr>
              <a:t>comunicarse</a:t>
            </a:r>
            <a:r>
              <a:rPr lang="en-US" sz="1200">
                <a:solidFill>
                  <a:srgbClr val="073763"/>
                </a:solidFill>
                <a:latin typeface="Roboto"/>
                <a:ea typeface="Roboto"/>
                <a:cs typeface="Roboto"/>
                <a:sym typeface="Roboto"/>
              </a:rPr>
              <a:t> constantemente con mi equipo para adaptarnos a los cambios.</a:t>
            </a:r>
            <a:endParaRPr sz="1200">
              <a:solidFill>
                <a:srgbClr val="073763"/>
              </a:solidFill>
              <a:latin typeface="Roboto"/>
              <a:ea typeface="Roboto"/>
              <a:cs typeface="Roboto"/>
              <a:sym typeface="Roboto"/>
            </a:endParaRPr>
          </a:p>
        </p:txBody>
      </p:sp>
      <p:sp>
        <p:nvSpPr>
          <p:cNvPr id="820" name="Google Shape;820;p64"/>
          <p:cNvSpPr txBox="1"/>
          <p:nvPr/>
        </p:nvSpPr>
        <p:spPr>
          <a:xfrm>
            <a:off x="962800" y="1198775"/>
            <a:ext cx="2477100" cy="3402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300">
                <a:solidFill>
                  <a:schemeClr val="dk2"/>
                </a:solidFill>
                <a:latin typeface="Roboto"/>
                <a:ea typeface="Roboto"/>
                <a:cs typeface="Roboto"/>
                <a:sym typeface="Roboto"/>
              </a:rPr>
              <a:t>Boris Arriagada Rojas</a:t>
            </a:r>
            <a:endParaRPr b="1" sz="1300">
              <a:solidFill>
                <a:schemeClr val="dk2"/>
              </a:solidFill>
              <a:latin typeface="Roboto"/>
              <a:ea typeface="Roboto"/>
              <a:cs typeface="Roboto"/>
              <a:sym typeface="Roboto"/>
            </a:endParaRPr>
          </a:p>
        </p:txBody>
      </p:sp>
      <p:sp>
        <p:nvSpPr>
          <p:cNvPr id="821" name="Google Shape;821;p64"/>
          <p:cNvSpPr txBox="1"/>
          <p:nvPr/>
        </p:nvSpPr>
        <p:spPr>
          <a:xfrm>
            <a:off x="5335613" y="1198775"/>
            <a:ext cx="2477100" cy="3402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300">
                <a:solidFill>
                  <a:schemeClr val="dk2"/>
                </a:solidFill>
                <a:latin typeface="Roboto"/>
                <a:ea typeface="Roboto"/>
                <a:cs typeface="Roboto"/>
                <a:sym typeface="Roboto"/>
              </a:rPr>
              <a:t>Jaime Vicencio Rubilar</a:t>
            </a:r>
            <a:endParaRPr b="1" sz="1300">
              <a:solidFill>
                <a:schemeClr val="dk2"/>
              </a:solidFill>
              <a:latin typeface="Roboto"/>
              <a:ea typeface="Roboto"/>
              <a:cs typeface="Roboto"/>
              <a:sym typeface="Roboto"/>
            </a:endParaRPr>
          </a:p>
        </p:txBody>
      </p:sp>
      <p:sp>
        <p:nvSpPr>
          <p:cNvPr id="822" name="Google Shape;822;p64"/>
          <p:cNvSpPr txBox="1"/>
          <p:nvPr/>
        </p:nvSpPr>
        <p:spPr>
          <a:xfrm>
            <a:off x="4559663" y="1779488"/>
            <a:ext cx="4029000" cy="2047200"/>
          </a:xfrm>
          <a:prstGeom prst="rect">
            <a:avLst/>
          </a:prstGeom>
          <a:solidFill>
            <a:schemeClr val="lt1"/>
          </a:solid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1200">
                <a:solidFill>
                  <a:srgbClr val="073763"/>
                </a:solidFill>
                <a:latin typeface="Roboto"/>
                <a:ea typeface="Roboto"/>
                <a:cs typeface="Roboto"/>
                <a:sym typeface="Roboto"/>
              </a:rPr>
              <a:t>Mis lecciones aprendidas de esta segunda fase son: planificar con mayor anticipación y fortalecer la práctica de Scrum para reducir incertidumbre.</a:t>
            </a:r>
            <a:endParaRPr sz="1200">
              <a:solidFill>
                <a:srgbClr val="073763"/>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