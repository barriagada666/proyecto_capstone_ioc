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Lst>
  <p:sldSz cy="5143500" cx="9144000"/>
  <p:notesSz cx="6858000" cy="9144000"/>
  <p:embeddedFontLst>
    <p:embeddedFont>
      <p:font typeface="Roboto Thin"/>
      <p:regular r:id="rId71"/>
      <p:bold r:id="rId72"/>
      <p:italic r:id="rId73"/>
      <p:boldItalic r:id="rId74"/>
    </p:embeddedFont>
    <p:embeddedFont>
      <p:font typeface="Roboto"/>
      <p:regular r:id="rId75"/>
      <p:bold r:id="rId76"/>
      <p:italic r:id="rId77"/>
      <p:boldItalic r:id="rId78"/>
    </p:embeddedFont>
    <p:embeddedFont>
      <p:font typeface="Roboto Medium"/>
      <p:regular r:id="rId79"/>
      <p:bold r:id="rId80"/>
      <p:italic r:id="rId81"/>
      <p:boldItalic r:id="rId82"/>
    </p:embeddedFont>
    <p:embeddedFont>
      <p:font typeface="Manrope"/>
      <p:regular r:id="rId83"/>
      <p:bold r:id="rId84"/>
    </p:embeddedFont>
    <p:embeddedFont>
      <p:font typeface="Noto Sans Symbols"/>
      <p:regular r:id="rId85"/>
      <p:bold r:id="rId86"/>
    </p:embeddedFont>
    <p:embeddedFont>
      <p:font typeface="Merriweather"/>
      <p:regular r:id="rId87"/>
      <p:bold r:id="rId88"/>
      <p:italic r:id="rId89"/>
      <p:boldItalic r:id="rId9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1152">
          <p15:clr>
            <a:srgbClr val="747775"/>
          </p15:clr>
        </p15:guide>
        <p15:guide id="2" orient="horz" pos="1813">
          <p15:clr>
            <a:srgbClr val="747775"/>
          </p15:clr>
        </p15:guide>
        <p15:guide id="3" orient="horz" pos="510">
          <p15:clr>
            <a:srgbClr val="747775"/>
          </p15:clr>
        </p15:guide>
        <p15:guide id="4" pos="2880">
          <p15:clr>
            <a:srgbClr val="747775"/>
          </p15:clr>
        </p15:guide>
        <p15:guide id="5" pos="297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0D3E382-2F28-4D19-8913-08566A70E152}">
  <a:tblStyle styleId="{40D3E382-2F28-4D19-8913-08566A70E152}"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A2C410A7-45D1-4032-8EF4-01FF531B4DC7}"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CA5587CF-FB61-4D6A-943F-77393A6D735C}" styleName="Table_2">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152"/>
        <p:guide pos="1813" orient="horz"/>
        <p:guide pos="510" orient="horz"/>
        <p:guide pos="2880"/>
        <p:guide pos="2976"/>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Manrope-bold.fntdata"/><Relationship Id="rId83" Type="http://schemas.openxmlformats.org/officeDocument/2006/relationships/font" Target="fonts/Manrope-regular.fntdata"/><Relationship Id="rId42" Type="http://schemas.openxmlformats.org/officeDocument/2006/relationships/slide" Target="slides/slide36.xml"/><Relationship Id="rId86" Type="http://schemas.openxmlformats.org/officeDocument/2006/relationships/font" Target="fonts/NotoSansSymbols-bold.fntdata"/><Relationship Id="rId41" Type="http://schemas.openxmlformats.org/officeDocument/2006/relationships/slide" Target="slides/slide35.xml"/><Relationship Id="rId85" Type="http://schemas.openxmlformats.org/officeDocument/2006/relationships/font" Target="fonts/NotoSansSymbols-regular.fntdata"/><Relationship Id="rId44" Type="http://schemas.openxmlformats.org/officeDocument/2006/relationships/slide" Target="slides/slide38.xml"/><Relationship Id="rId88" Type="http://schemas.openxmlformats.org/officeDocument/2006/relationships/font" Target="fonts/Merriweather-bold.fntdata"/><Relationship Id="rId43" Type="http://schemas.openxmlformats.org/officeDocument/2006/relationships/slide" Target="slides/slide37.xml"/><Relationship Id="rId87" Type="http://schemas.openxmlformats.org/officeDocument/2006/relationships/font" Target="fonts/Merriweather-regular.fntdata"/><Relationship Id="rId46" Type="http://schemas.openxmlformats.org/officeDocument/2006/relationships/slide" Target="slides/slide40.xml"/><Relationship Id="rId45" Type="http://schemas.openxmlformats.org/officeDocument/2006/relationships/slide" Target="slides/slide39.xml"/><Relationship Id="rId89" Type="http://schemas.openxmlformats.org/officeDocument/2006/relationships/font" Target="fonts/Merriweather-italic.fntdata"/><Relationship Id="rId80" Type="http://schemas.openxmlformats.org/officeDocument/2006/relationships/font" Target="fonts/RobotoMedium-bold.fntdata"/><Relationship Id="rId82" Type="http://schemas.openxmlformats.org/officeDocument/2006/relationships/font" Target="fonts/RobotoMedium-boldItalic.fntdata"/><Relationship Id="rId81" Type="http://schemas.openxmlformats.org/officeDocument/2006/relationships/font" Target="fonts/RobotoMedium-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RobotoThin-italic.fntdata"/><Relationship Id="rId72" Type="http://schemas.openxmlformats.org/officeDocument/2006/relationships/font" Target="fonts/RobotoThin-bold.fntdata"/><Relationship Id="rId31" Type="http://schemas.openxmlformats.org/officeDocument/2006/relationships/slide" Target="slides/slide25.xml"/><Relationship Id="rId75" Type="http://schemas.openxmlformats.org/officeDocument/2006/relationships/font" Target="fonts/Roboto-regular.fntdata"/><Relationship Id="rId30" Type="http://schemas.openxmlformats.org/officeDocument/2006/relationships/slide" Target="slides/slide24.xml"/><Relationship Id="rId74" Type="http://schemas.openxmlformats.org/officeDocument/2006/relationships/font" Target="fonts/RobotoThin-boldItalic.fntdata"/><Relationship Id="rId33" Type="http://schemas.openxmlformats.org/officeDocument/2006/relationships/slide" Target="slides/slide27.xml"/><Relationship Id="rId77" Type="http://schemas.openxmlformats.org/officeDocument/2006/relationships/font" Target="fonts/Roboto-italic.fntdata"/><Relationship Id="rId32" Type="http://schemas.openxmlformats.org/officeDocument/2006/relationships/slide" Target="slides/slide26.xml"/><Relationship Id="rId76" Type="http://schemas.openxmlformats.org/officeDocument/2006/relationships/font" Target="fonts/Roboto-bold.fntdata"/><Relationship Id="rId35" Type="http://schemas.openxmlformats.org/officeDocument/2006/relationships/slide" Target="slides/slide29.xml"/><Relationship Id="rId79" Type="http://schemas.openxmlformats.org/officeDocument/2006/relationships/font" Target="fonts/RobotoMedium-regular.fntdata"/><Relationship Id="rId34" Type="http://schemas.openxmlformats.org/officeDocument/2006/relationships/slide" Target="slides/slide28.xml"/><Relationship Id="rId78" Type="http://schemas.openxmlformats.org/officeDocument/2006/relationships/font" Target="fonts/Roboto-boldItalic.fntdata"/><Relationship Id="rId71" Type="http://schemas.openxmlformats.org/officeDocument/2006/relationships/font" Target="fonts/RobotoThin-regular.fntdata"/><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90" Type="http://schemas.openxmlformats.org/officeDocument/2006/relationships/font" Target="fonts/Merriweather-boldItalic.fntdata"/><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ioc-backend.onrender.com/swagger-ui/index.html" TargetMode="External"/><Relationship Id="rId3" Type="http://schemas.openxmlformats.org/officeDocument/2006/relationships/hyperlink" Target="https://ioc-frontend.vercel.app/" TargetMode="External"/><Relationship Id="rId4" Type="http://schemas.openxmlformats.org/officeDocument/2006/relationships/hyperlink" Target="http://54.232.229.228:3000/" TargetMode="External"/><Relationship Id="rId5" Type="http://schemas.openxmlformats.org/officeDocument/2006/relationships/hyperlink" Target="https://treated-paste-eos-memo.trycloudflare.com" TargetMode="External"/><Relationship Id="rId6" Type="http://schemas.openxmlformats.org/officeDocument/2006/relationships/hyperlink" Target="https://github.com/qb4745/ioc-frontend" TargetMode="External"/><Relationship Id="rId7" Type="http://schemas.openxmlformats.org/officeDocument/2006/relationships/hyperlink" Target="https://github.com/qb4745/ioc-backend" TargetMode="Externa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ad706f33d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ad706f33d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a57a79d9e5_6_0: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Para comenzar, es fundamental entender el escenario en el que nace nuestro proyecto. Cambiaso es una empresa líder en Chile, con marcas tan reconocidas como 'Té Supremo' y 'Superior'. Con casi 150 años de historia, su modelo de negocio se basa en un equilibrio entre la tradición y la innovación constante.</a:t>
            </a:r>
            <a:endParaRPr/>
          </a:p>
          <a:p>
            <a:pPr indent="0" lvl="0" marL="0" rtl="0" algn="l">
              <a:spcBef>
                <a:spcPts val="0"/>
              </a:spcBef>
              <a:spcAft>
                <a:spcPts val="0"/>
              </a:spcAft>
              <a:buNone/>
            </a:pPr>
            <a:r>
              <a:rPr lang="en-US"/>
              <a:t>Nuestro proyecto se sitúa precisamente en ese punto: en cómo la innovación tecnológica puede potenciar una empresa tradicional para mantener y fortalecer su liderazgo en un mercado competitivo.</a:t>
            </a:r>
            <a:endParaRPr/>
          </a:p>
        </p:txBody>
      </p:sp>
      <p:sp>
        <p:nvSpPr>
          <p:cNvPr id="161" name="Google Shape;16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85626dc141_1_1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g385626dc141_1_11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85626dc141_1_1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g385626dc141_1_12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85626dc141_1_1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g385626dc141_1_12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a5456f812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g3a5456f8127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8c501e865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decir: se crearon 23 historias de usuario, cada una con sus criterios de aceptacion y los re quisitos no funcionales incorporados en ellos.</a:t>
            </a:r>
            <a:endParaRPr/>
          </a:p>
        </p:txBody>
      </p:sp>
      <p:sp>
        <p:nvSpPr>
          <p:cNvPr id="233" name="Google Shape;233;g38c501e865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949560f29e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g3949560f29e_1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949560f29e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g3949560f29e_1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85626dc141_1_1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g385626dc141_1_12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82e0e0c553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g382e0e0c553_0_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85626dc141_1_16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g385626dc141_1_16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85626dc141_1_16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g385626dc141_1_16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85626dc141_1_16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g385626dc141_1_16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85626dc141_1_17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Entonces, ¿cuál es nuestra solución de alto nivel? La hemos llamado Inteligencia Operacional Cambiaso (IOC).</a:t>
            </a:r>
            <a:endParaRPr/>
          </a:p>
          <a:p>
            <a:pPr indent="0" lvl="0" marL="0" rtl="0" algn="l">
              <a:spcBef>
                <a:spcPts val="0"/>
              </a:spcBef>
              <a:spcAft>
                <a:spcPts val="0"/>
              </a:spcAft>
              <a:buNone/>
            </a:pPr>
            <a:r>
              <a:rPr lang="en-US"/>
              <a:t>Nuestra solución se basa en tres pilares:</a:t>
            </a:r>
            <a:endParaRPr/>
          </a:p>
          <a:p>
            <a:pPr indent="0" lvl="0" marL="0" rtl="0" algn="l">
              <a:spcBef>
                <a:spcPts val="0"/>
              </a:spcBef>
              <a:spcAft>
                <a:spcPts val="0"/>
              </a:spcAft>
              <a:buNone/>
            </a:pPr>
            <a:r>
              <a:rPr lang="en-US"/>
              <a:t>Primero, CENTRALIZACIÓN, donde implementaremos un proceso ETL para unificar los datos en una única fuente de verdad.</a:t>
            </a:r>
            <a:endParaRPr/>
          </a:p>
          <a:p>
            <a:pPr indent="0" lvl="0" marL="0" rtl="0" algn="l">
              <a:spcBef>
                <a:spcPts val="0"/>
              </a:spcBef>
              <a:spcAft>
                <a:spcPts val="0"/>
              </a:spcAft>
              <a:buNone/>
            </a:pPr>
            <a:r>
              <a:rPr lang="en-US"/>
              <a:t>Segundo, VISUALIZACIÓN, donde entregaremos dashboards interactivos para transformar esos datos en conocimiento.</a:t>
            </a:r>
            <a:endParaRPr/>
          </a:p>
          <a:p>
            <a:pPr indent="0" lvl="0" marL="0" rtl="0" algn="l">
              <a:spcBef>
                <a:spcPts val="0"/>
              </a:spcBef>
              <a:spcAft>
                <a:spcPts val="0"/>
              </a:spcAft>
              <a:buNone/>
            </a:pPr>
            <a:r>
              <a:rPr lang="en-US"/>
              <a:t>Y tercero, DECISIÓN, que es el resultado final: empoderar a la gerencia con una herramienta para la toma de decisiones ágil y basada en evidencia."</a:t>
            </a:r>
            <a:endParaRPr/>
          </a:p>
        </p:txBody>
      </p:sp>
      <p:sp>
        <p:nvSpPr>
          <p:cNvPr id="343" name="Google Shape;343;g385626dc141_1_17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85626dc141_1_20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g385626dc141_1_20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949560f29e_1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949560f29e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1050">
                <a:solidFill>
                  <a:srgbClr val="E2E2E5"/>
                </a:solidFill>
                <a:highlight>
                  <a:srgbClr val="191919"/>
                </a:highlight>
              </a:rPr>
              <a:t>"Para construir esta solución, diseñamos una arquitectura moderna y desacoplada.</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El usuario interactúa con un frontend en **React** *(señala React)*, que se comunica vía API REST con nuestro backend en **Spring Boot** *(señala Spring Boot)*. El backend orquesta toda la lógica de negocio.</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Para la base de datos y la autenticación, elegimos **Supabase con PostgreSQL** *(señala Supabase)* por su robustez y rapidez de implementación.</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Y aquí viene la parte clave para la visualización: en lugar de reinventar la rueda, integramos **Metabase**, una potente herramienta de analítica *(señala Metabase)*. Nuestro backend genera un token seguro (JWT) que permite 'embeber' los dashboards de Metabase directamente en nuestra interfaz de React.</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En resumen, es una arquitectura pragmática que combina desarrollo a medida con herramientas líderes para entregar valor de forma rápida y segura."</a:t>
            </a:r>
            <a:endParaRPr sz="1050">
              <a:solidFill>
                <a:srgbClr val="E2E2E5"/>
              </a:solidFill>
              <a:highlight>
                <a:srgbClr val="191919"/>
              </a:highlight>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ad76f21940_0_9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3ad76f21940_0_9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1050">
                <a:solidFill>
                  <a:srgbClr val="E2E2E5"/>
                </a:solidFill>
                <a:highlight>
                  <a:srgbClr val="191919"/>
                </a:highlight>
              </a:rPr>
              <a:t>Para construir esta solución, diseñamos una arquitectura moderna y desacoplada.</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El usuario interactúa con un frontend en **React** *(señala React)*, que se comunica vía API REST con nuestro backend en **Spring Boot**. El backend es el cerebro que orquesta toda la lógica.</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Para la persistencia, elegimos **Supabase con PostgreSQL** *(señala la BD)*, aprovechando su robustez y su sistema de autenticación nativo.</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En la capa de visualización, integramos **Metabase** *(señala Metabase)* mediante un sistema de 'Embedding firmado' con JWT, lo que nos permite incrustar gráficos complejos de forma segura.</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**Y aquí está nuestro mayor diferenciador técnico:** Incorporamos un módulo de **Inteligencia Artificial Generativa** *(señala el nodo de IA/Gemini)*.</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Utilizando **Spring AI**, conectamos nuestro backend con **Google Gemini**. El sistema extrae los datos del dashboard, los contextualiza y genera una **explicación narrativa en tiempo real (Streaming)**.</a:t>
            </a:r>
            <a:endParaRPr sz="1050">
              <a:solidFill>
                <a:srgbClr val="E2E2E5"/>
              </a:solidFill>
              <a:highlight>
                <a:srgbClr val="191919"/>
              </a:highlight>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aa12fb803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aa12fb803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1050">
                <a:solidFill>
                  <a:srgbClr val="E2E2E5"/>
                </a:solidFill>
                <a:highlight>
                  <a:srgbClr val="191919"/>
                </a:highlight>
              </a:rPr>
              <a:t>"Nuestro modelo de datos en PostgreSQL fue diseñado con un enfoque híbrido: transaccional para la seguridad y dimensional para la analítica. Lo hemos estructurado en tres grandes módulos lógicos:"</a:t>
            </a:r>
            <a:endParaRPr sz="1050">
              <a:solidFill>
                <a:srgbClr val="E2E2E5"/>
              </a:solidFill>
              <a:highlight>
                <a:srgbClr val="191919"/>
              </a:highlight>
            </a:endParaRPr>
          </a:p>
          <a:p>
            <a:pPr indent="0" lvl="0" marL="0" rtl="0" algn="l">
              <a:spcBef>
                <a:spcPts val="0"/>
              </a:spcBef>
              <a:spcAft>
                <a:spcPts val="0"/>
              </a:spcAft>
              <a:buClr>
                <a:schemeClr val="dk1"/>
              </a:buClr>
              <a:buSzPts val="1100"/>
              <a:buFont typeface="Arial"/>
              <a:buNone/>
            </a:pPr>
            <a:r>
              <a:t/>
            </a:r>
            <a:endParaRPr sz="1050">
              <a:solidFill>
                <a:srgbClr val="E2E2E5"/>
              </a:solidFill>
              <a:highlight>
                <a:srgbClr val="191919"/>
              </a:highlight>
            </a:endParaRPr>
          </a:p>
          <a:p>
            <a:pPr indent="0" lvl="0" marL="0" rtl="0" algn="l">
              <a:spcBef>
                <a:spcPts val="0"/>
              </a:spcBef>
              <a:spcAft>
                <a:spcPts val="0"/>
              </a:spcAft>
              <a:buClr>
                <a:schemeClr val="dk1"/>
              </a:buClr>
              <a:buSzPts val="1100"/>
              <a:buFont typeface="Arial"/>
              <a:buNone/>
            </a:pPr>
            <a:r>
              <a:rPr lang="en-US" sz="1050">
                <a:solidFill>
                  <a:srgbClr val="E2E2E5"/>
                </a:solidFill>
                <a:highlight>
                  <a:srgbClr val="191919"/>
                </a:highlight>
              </a:rPr>
              <a:t>**(Señala el bloque de PRODUCCIÓN - Izquierda/Centro)**</a:t>
            </a:r>
            <a:endParaRPr sz="1050">
              <a:solidFill>
                <a:srgbClr val="E2E2E5"/>
              </a:solidFill>
              <a:highlight>
                <a:srgbClr val="191919"/>
              </a:highlight>
            </a:endParaRPr>
          </a:p>
          <a:p>
            <a:pPr indent="0" lvl="0" marL="0" rtl="0" algn="l">
              <a:spcBef>
                <a:spcPts val="0"/>
              </a:spcBef>
              <a:spcAft>
                <a:spcPts val="0"/>
              </a:spcAft>
              <a:buClr>
                <a:schemeClr val="dk1"/>
              </a:buClr>
              <a:buSzPts val="1100"/>
              <a:buFont typeface="Arial"/>
              <a:buNone/>
            </a:pPr>
            <a:r>
              <a:t/>
            </a:r>
            <a:endParaRPr sz="1050">
              <a:solidFill>
                <a:srgbClr val="E2E2E5"/>
              </a:solidFill>
              <a:highlight>
                <a:srgbClr val="191919"/>
              </a:highlight>
            </a:endParaRPr>
          </a:p>
          <a:p>
            <a:pPr indent="0" lvl="0" marL="0" rtl="0" algn="l">
              <a:spcBef>
                <a:spcPts val="0"/>
              </a:spcBef>
              <a:spcAft>
                <a:spcPts val="0"/>
              </a:spcAft>
              <a:buClr>
                <a:schemeClr val="dk1"/>
              </a:buClr>
              <a:buSzPts val="1100"/>
              <a:buFont typeface="Arial"/>
              <a:buNone/>
            </a:pPr>
            <a:r>
              <a:rPr lang="en-US" sz="1050">
                <a:solidFill>
                  <a:srgbClr val="E2E2E5"/>
                </a:solidFill>
                <a:highlight>
                  <a:srgbClr val="191919"/>
                </a:highlight>
              </a:rPr>
              <a:t>"Primero, el corazón del sistema: el **Módulo de Producción**.</a:t>
            </a:r>
            <a:endParaRPr sz="1050">
              <a:solidFill>
                <a:srgbClr val="E2E2E5"/>
              </a:solidFill>
              <a:highlight>
                <a:srgbClr val="191919"/>
              </a:highlight>
            </a:endParaRPr>
          </a:p>
          <a:p>
            <a:pPr indent="0" lvl="0" marL="0" rtl="0" algn="l">
              <a:spcBef>
                <a:spcPts val="0"/>
              </a:spcBef>
              <a:spcAft>
                <a:spcPts val="0"/>
              </a:spcAft>
              <a:buClr>
                <a:schemeClr val="dk1"/>
              </a:buClr>
              <a:buSzPts val="1100"/>
              <a:buFont typeface="Arial"/>
              <a:buNone/>
            </a:pPr>
            <a:r>
              <a:rPr lang="en-US" sz="1050">
                <a:solidFill>
                  <a:srgbClr val="E2E2E5"/>
                </a:solidFill>
                <a:highlight>
                  <a:srgbClr val="191919"/>
                </a:highlight>
              </a:rPr>
              <a:t>Diseñamos un **Esquema Estrella** centrado en la tabla de hechos `fact_production`. Esta tabla almacena cada evento productivo y se conecta a sus dimensiones clave:</a:t>
            </a:r>
            <a:endParaRPr sz="1050">
              <a:solidFill>
                <a:srgbClr val="E2E2E5"/>
              </a:solidFill>
              <a:highlight>
                <a:srgbClr val="191919"/>
              </a:highlight>
            </a:endParaRPr>
          </a:p>
          <a:p>
            <a:pPr indent="0" lvl="0" marL="0" rtl="0" algn="l">
              <a:spcBef>
                <a:spcPts val="0"/>
              </a:spcBef>
              <a:spcAft>
                <a:spcPts val="0"/>
              </a:spcAft>
              <a:buClr>
                <a:schemeClr val="dk1"/>
              </a:buClr>
              <a:buSzPts val="1100"/>
              <a:buFont typeface="Arial"/>
              <a:buNone/>
            </a:pPr>
            <a:r>
              <a:rPr lang="en-US" sz="1050">
                <a:solidFill>
                  <a:srgbClr val="E2E2E5"/>
                </a:solidFill>
                <a:highlight>
                  <a:srgbClr val="191919"/>
                </a:highlight>
              </a:rPr>
              <a:t>*   `dim_maquina` para saber el activo.</a:t>
            </a:r>
            <a:endParaRPr sz="1050">
              <a:solidFill>
                <a:srgbClr val="E2E2E5"/>
              </a:solidFill>
              <a:highlight>
                <a:srgbClr val="191919"/>
              </a:highlight>
            </a:endParaRPr>
          </a:p>
          <a:p>
            <a:pPr indent="0" lvl="0" marL="0" rtl="0" algn="l">
              <a:spcBef>
                <a:spcPts val="0"/>
              </a:spcBef>
              <a:spcAft>
                <a:spcPts val="0"/>
              </a:spcAft>
              <a:buClr>
                <a:schemeClr val="dk1"/>
              </a:buClr>
              <a:buSzPts val="1100"/>
              <a:buFont typeface="Arial"/>
              <a:buNone/>
            </a:pPr>
            <a:r>
              <a:rPr lang="en-US" sz="1050">
                <a:solidFill>
                  <a:srgbClr val="E2E2E5"/>
                </a:solidFill>
                <a:highlight>
                  <a:srgbClr val="191919"/>
                </a:highlight>
              </a:rPr>
              <a:t>*   `dim_maquinista` para el operador.</a:t>
            </a:r>
            <a:endParaRPr sz="1050">
              <a:solidFill>
                <a:srgbClr val="E2E2E5"/>
              </a:solidFill>
              <a:highlight>
                <a:srgbClr val="191919"/>
              </a:highlight>
            </a:endParaRPr>
          </a:p>
          <a:p>
            <a:pPr indent="0" lvl="0" marL="0" rtl="0" algn="l">
              <a:spcBef>
                <a:spcPts val="0"/>
              </a:spcBef>
              <a:spcAft>
                <a:spcPts val="0"/>
              </a:spcAft>
              <a:buClr>
                <a:schemeClr val="dk1"/>
              </a:buClr>
              <a:buSzPts val="1100"/>
              <a:buFont typeface="Arial"/>
              <a:buNone/>
            </a:pPr>
            <a:r>
              <a:rPr lang="en-US" sz="1050">
                <a:solidFill>
                  <a:srgbClr val="E2E2E5"/>
                </a:solidFill>
                <a:highlight>
                  <a:srgbClr val="191919"/>
                </a:highlight>
              </a:rPr>
              <a:t>*   Y crucialmente, `dim_date`, nuestra dimensión de tiempo que nos permite realizar análisis históricos por trimestres, meses o turnos de fin de semana."</a:t>
            </a:r>
            <a:endParaRPr sz="1050">
              <a:solidFill>
                <a:srgbClr val="E2E2E5"/>
              </a:solidFill>
              <a:highlight>
                <a:srgbClr val="191919"/>
              </a:highlight>
            </a:endParaRPr>
          </a:p>
          <a:p>
            <a:pPr indent="0" lvl="0" marL="0" rtl="0" algn="l">
              <a:spcBef>
                <a:spcPts val="0"/>
              </a:spcBef>
              <a:spcAft>
                <a:spcPts val="0"/>
              </a:spcAft>
              <a:buClr>
                <a:schemeClr val="dk1"/>
              </a:buClr>
              <a:buSzPts val="1100"/>
              <a:buFont typeface="Arial"/>
              <a:buNone/>
            </a:pPr>
            <a:r>
              <a:t/>
            </a:r>
            <a:endParaRPr sz="1050">
              <a:solidFill>
                <a:srgbClr val="E2E2E5"/>
              </a:solidFill>
              <a:highlight>
                <a:srgbClr val="191919"/>
              </a:highlight>
            </a:endParaRPr>
          </a:p>
          <a:p>
            <a:pPr indent="0" lvl="0" marL="0" rtl="0" algn="l">
              <a:spcBef>
                <a:spcPts val="0"/>
              </a:spcBef>
              <a:spcAft>
                <a:spcPts val="0"/>
              </a:spcAft>
              <a:buClr>
                <a:schemeClr val="dk1"/>
              </a:buClr>
              <a:buSzPts val="1100"/>
              <a:buFont typeface="Arial"/>
              <a:buNone/>
            </a:pPr>
            <a:r>
              <a:rPr lang="en-US" sz="1050">
                <a:solidFill>
                  <a:srgbClr val="E2E2E5"/>
                </a:solidFill>
                <a:highlight>
                  <a:srgbClr val="191919"/>
                </a:highlight>
              </a:rPr>
              <a:t>**(Señala el bloque de ETL / CALIDAD - Centro/Abajo)**</a:t>
            </a:r>
            <a:endParaRPr sz="1050">
              <a:solidFill>
                <a:srgbClr val="E2E2E5"/>
              </a:solidFill>
              <a:highlight>
                <a:srgbClr val="191919"/>
              </a:highlight>
            </a:endParaRPr>
          </a:p>
          <a:p>
            <a:pPr indent="0" lvl="0" marL="0" rtl="0" algn="l">
              <a:spcBef>
                <a:spcPts val="0"/>
              </a:spcBef>
              <a:spcAft>
                <a:spcPts val="0"/>
              </a:spcAft>
              <a:buClr>
                <a:schemeClr val="dk1"/>
              </a:buClr>
              <a:buSzPts val="1100"/>
              <a:buFont typeface="Arial"/>
              <a:buNone/>
            </a:pPr>
            <a:r>
              <a:t/>
            </a:r>
            <a:endParaRPr sz="1050">
              <a:solidFill>
                <a:srgbClr val="E2E2E5"/>
              </a:solidFill>
              <a:highlight>
                <a:srgbClr val="191919"/>
              </a:highlight>
            </a:endParaRPr>
          </a:p>
          <a:p>
            <a:pPr indent="0" lvl="0" marL="0" rtl="0" algn="l">
              <a:spcBef>
                <a:spcPts val="0"/>
              </a:spcBef>
              <a:spcAft>
                <a:spcPts val="0"/>
              </a:spcAft>
              <a:buClr>
                <a:schemeClr val="dk1"/>
              </a:buClr>
              <a:buSzPts val="1100"/>
              <a:buFont typeface="Arial"/>
              <a:buNone/>
            </a:pPr>
            <a:r>
              <a:rPr lang="en-US" sz="1050">
                <a:solidFill>
                  <a:srgbClr val="E2E2E5"/>
                </a:solidFill>
                <a:highlight>
                  <a:srgbClr val="191919"/>
                </a:highlight>
              </a:rPr>
              <a:t>"Segundo, el **Módulo de Calidad de Datos**.</a:t>
            </a:r>
            <a:endParaRPr sz="1050">
              <a:solidFill>
                <a:srgbClr val="E2E2E5"/>
              </a:solidFill>
              <a:highlight>
                <a:srgbClr val="191919"/>
              </a:highlight>
            </a:endParaRPr>
          </a:p>
          <a:p>
            <a:pPr indent="0" lvl="0" marL="0" rtl="0" algn="l">
              <a:spcBef>
                <a:spcPts val="0"/>
              </a:spcBef>
              <a:spcAft>
                <a:spcPts val="0"/>
              </a:spcAft>
              <a:buClr>
                <a:schemeClr val="dk1"/>
              </a:buClr>
              <a:buSzPts val="1100"/>
              <a:buFont typeface="Arial"/>
              <a:buNone/>
            </a:pPr>
            <a:r>
              <a:rPr lang="en-US" sz="1050">
                <a:solidFill>
                  <a:srgbClr val="E2E2E5"/>
                </a:solidFill>
                <a:highlight>
                  <a:srgbClr val="191919"/>
                </a:highlight>
              </a:rPr>
              <a:t>Sabemos que la carga de archivos masivos es propensa a errores. Por eso implementamos la tabla `quarantined_records`.</a:t>
            </a:r>
            <a:endParaRPr sz="1050">
              <a:solidFill>
                <a:srgbClr val="E2E2E5"/>
              </a:solidFill>
              <a:highlight>
                <a:srgbClr val="191919"/>
              </a:highlight>
            </a:endParaRPr>
          </a:p>
          <a:p>
            <a:pPr indent="0" lvl="0" marL="0" rtl="0" algn="l">
              <a:spcBef>
                <a:spcPts val="0"/>
              </a:spcBef>
              <a:spcAft>
                <a:spcPts val="0"/>
              </a:spcAft>
              <a:buClr>
                <a:schemeClr val="dk1"/>
              </a:buClr>
              <a:buSzPts val="1100"/>
              <a:buFont typeface="Arial"/>
              <a:buNone/>
            </a:pPr>
            <a:r>
              <a:rPr lang="en-US" sz="1050">
                <a:solidFill>
                  <a:srgbClr val="E2E2E5"/>
                </a:solidFill>
                <a:highlight>
                  <a:srgbClr val="191919"/>
                </a:highlight>
              </a:rPr>
              <a:t>Si un registro viene corrupto, no rompe la carga ni ensucia la base de datos real; se aísla automáticamente en esta tabla de 'Cuarentena' para su posterior corrección. Esto garantiza que nuestros KPIs siempre sean 100% fiables."</a:t>
            </a:r>
            <a:endParaRPr sz="1050">
              <a:solidFill>
                <a:srgbClr val="E2E2E5"/>
              </a:solidFill>
              <a:highlight>
                <a:srgbClr val="191919"/>
              </a:highlight>
            </a:endParaRPr>
          </a:p>
          <a:p>
            <a:pPr indent="0" lvl="0" marL="0" rtl="0" algn="l">
              <a:spcBef>
                <a:spcPts val="0"/>
              </a:spcBef>
              <a:spcAft>
                <a:spcPts val="0"/>
              </a:spcAft>
              <a:buClr>
                <a:schemeClr val="dk1"/>
              </a:buClr>
              <a:buSzPts val="1100"/>
              <a:buFont typeface="Arial"/>
              <a:buNone/>
            </a:pPr>
            <a:r>
              <a:t/>
            </a:r>
            <a:endParaRPr sz="1050">
              <a:solidFill>
                <a:srgbClr val="E2E2E5"/>
              </a:solidFill>
              <a:highlight>
                <a:srgbClr val="191919"/>
              </a:highlight>
            </a:endParaRPr>
          </a:p>
          <a:p>
            <a:pPr indent="0" lvl="0" marL="0" rtl="0" algn="l">
              <a:spcBef>
                <a:spcPts val="0"/>
              </a:spcBef>
              <a:spcAft>
                <a:spcPts val="0"/>
              </a:spcAft>
              <a:buClr>
                <a:schemeClr val="dk1"/>
              </a:buClr>
              <a:buSzPts val="1100"/>
              <a:buFont typeface="Arial"/>
              <a:buNone/>
            </a:pPr>
            <a:r>
              <a:rPr lang="en-US" sz="1050">
                <a:solidFill>
                  <a:srgbClr val="E2E2E5"/>
                </a:solidFill>
                <a:highlight>
                  <a:srgbClr val="191919"/>
                </a:highlight>
              </a:rPr>
              <a:t>**(Señala el bloque de SEGURIDAD - Derecha)**</a:t>
            </a:r>
            <a:endParaRPr sz="1050">
              <a:solidFill>
                <a:srgbClr val="E2E2E5"/>
              </a:solidFill>
              <a:highlight>
                <a:srgbClr val="191919"/>
              </a:highlight>
            </a:endParaRPr>
          </a:p>
          <a:p>
            <a:pPr indent="0" lvl="0" marL="0" rtl="0" algn="l">
              <a:spcBef>
                <a:spcPts val="0"/>
              </a:spcBef>
              <a:spcAft>
                <a:spcPts val="0"/>
              </a:spcAft>
              <a:buClr>
                <a:schemeClr val="dk1"/>
              </a:buClr>
              <a:buSzPts val="1100"/>
              <a:buFont typeface="Arial"/>
              <a:buNone/>
            </a:pPr>
            <a:r>
              <a:t/>
            </a:r>
            <a:endParaRPr sz="1050">
              <a:solidFill>
                <a:srgbClr val="E2E2E5"/>
              </a:solidFill>
              <a:highlight>
                <a:srgbClr val="191919"/>
              </a:highlight>
            </a:endParaRPr>
          </a:p>
          <a:p>
            <a:pPr indent="0" lvl="0" marL="0" rtl="0" algn="l">
              <a:spcBef>
                <a:spcPts val="0"/>
              </a:spcBef>
              <a:spcAft>
                <a:spcPts val="0"/>
              </a:spcAft>
              <a:buClr>
                <a:schemeClr val="dk1"/>
              </a:buClr>
              <a:buSzPts val="1100"/>
              <a:buFont typeface="Arial"/>
              <a:buNone/>
            </a:pPr>
            <a:r>
              <a:rPr lang="en-US" sz="1050">
                <a:solidFill>
                  <a:srgbClr val="E2E2E5"/>
                </a:solidFill>
                <a:highlight>
                  <a:srgbClr val="191919"/>
                </a:highlight>
              </a:rPr>
              <a:t>"Y finalmente, el **Módulo de Seguridad**.</a:t>
            </a:r>
            <a:endParaRPr sz="1050">
              <a:solidFill>
                <a:srgbClr val="E2E2E5"/>
              </a:solidFill>
              <a:highlight>
                <a:srgbClr val="191919"/>
              </a:highlight>
            </a:endParaRPr>
          </a:p>
          <a:p>
            <a:pPr indent="0" lvl="0" marL="0" rtl="0" algn="l">
              <a:spcBef>
                <a:spcPts val="0"/>
              </a:spcBef>
              <a:spcAft>
                <a:spcPts val="0"/>
              </a:spcAft>
              <a:buClr>
                <a:schemeClr val="dk1"/>
              </a:buClr>
              <a:buSzPts val="1100"/>
              <a:buFont typeface="Arial"/>
              <a:buNone/>
            </a:pPr>
            <a:r>
              <a:rPr lang="en-US" sz="1050">
                <a:solidFill>
                  <a:srgbClr val="E2E2E5"/>
                </a:solidFill>
                <a:highlight>
                  <a:srgbClr val="191919"/>
                </a:highlight>
              </a:rPr>
              <a:t>Implementamos un modelo **RBAC** (Control de Acceso Basado en Roles).</a:t>
            </a:r>
            <a:endParaRPr sz="1050">
              <a:solidFill>
                <a:srgbClr val="E2E2E5"/>
              </a:solidFill>
              <a:highlight>
                <a:srgbClr val="191919"/>
              </a:highlight>
            </a:endParaRPr>
          </a:p>
          <a:p>
            <a:pPr indent="0" lvl="0" marL="0" rtl="0" algn="l">
              <a:spcBef>
                <a:spcPts val="0"/>
              </a:spcBef>
              <a:spcAft>
                <a:spcPts val="0"/>
              </a:spcAft>
              <a:buClr>
                <a:schemeClr val="dk1"/>
              </a:buClr>
              <a:buSzPts val="1100"/>
              <a:buFont typeface="Arial"/>
              <a:buNone/>
            </a:pPr>
            <a:r>
              <a:rPr lang="en-US" sz="1050">
                <a:solidFill>
                  <a:srgbClr val="E2E2E5"/>
                </a:solidFill>
                <a:highlight>
                  <a:srgbClr val="191919"/>
                </a:highlight>
              </a:rPr>
              <a:t>La tabla `app_users` no solo guarda credenciales, sino que vincula al usuario con una `planta` específica y un `rol`. Esto asegura la segregación de datos: un gerente de la Planta A nunca verá por error datos de la Planta B."</a:t>
            </a:r>
            <a:endParaRPr sz="1050">
              <a:solidFill>
                <a:srgbClr val="E2E2E5"/>
              </a:solidFill>
              <a:highlight>
                <a:srgbClr val="191919"/>
              </a:highlight>
            </a:endParaRPr>
          </a:p>
          <a:p>
            <a:pPr indent="0" lvl="0" marL="0" rtl="0" algn="l">
              <a:spcBef>
                <a:spcPts val="0"/>
              </a:spcBef>
              <a:spcAft>
                <a:spcPts val="0"/>
              </a:spcAft>
              <a:buClr>
                <a:schemeClr val="dk1"/>
              </a:buClr>
              <a:buSzPts val="1100"/>
              <a:buFont typeface="Arial"/>
              <a:buNone/>
            </a:pPr>
            <a:r>
              <a:t/>
            </a:r>
            <a:endParaRPr sz="1050">
              <a:solidFill>
                <a:srgbClr val="E2E2E5"/>
              </a:solidFill>
              <a:highlight>
                <a:srgbClr val="191919"/>
              </a:highlight>
            </a:endParaRPr>
          </a:p>
          <a:p>
            <a:pPr indent="0" lvl="0" marL="0" rtl="0" algn="l">
              <a:spcBef>
                <a:spcPts val="0"/>
              </a:spcBef>
              <a:spcAft>
                <a:spcPts val="0"/>
              </a:spcAft>
              <a:buClr>
                <a:schemeClr val="dk1"/>
              </a:buClr>
              <a:buSzPts val="1100"/>
              <a:buFont typeface="Arial"/>
              <a:buNone/>
            </a:pPr>
            <a:r>
              <a:rPr lang="en-US" sz="1050">
                <a:solidFill>
                  <a:srgbClr val="E2E2E5"/>
                </a:solidFill>
                <a:highlight>
                  <a:srgbClr val="191919"/>
                </a:highlight>
              </a:rPr>
              <a:t>**(Cierre)**</a:t>
            </a:r>
            <a:endParaRPr sz="1050">
              <a:solidFill>
                <a:srgbClr val="E2E2E5"/>
              </a:solidFill>
              <a:highlight>
                <a:srgbClr val="191919"/>
              </a:highlight>
            </a:endParaRPr>
          </a:p>
          <a:p>
            <a:pPr indent="0" lvl="0" marL="0" rtl="0" algn="l">
              <a:spcBef>
                <a:spcPts val="0"/>
              </a:spcBef>
              <a:spcAft>
                <a:spcPts val="0"/>
              </a:spcAft>
              <a:buClr>
                <a:schemeClr val="dk1"/>
              </a:buClr>
              <a:buSzPts val="1100"/>
              <a:buFont typeface="Arial"/>
              <a:buNone/>
            </a:pPr>
            <a:r>
              <a:t/>
            </a:r>
            <a:endParaRPr sz="1050">
              <a:solidFill>
                <a:srgbClr val="E2E2E5"/>
              </a:solidFill>
              <a:highlight>
                <a:srgbClr val="191919"/>
              </a:highlight>
            </a:endParaRPr>
          </a:p>
          <a:p>
            <a:pPr indent="0" lvl="0" marL="0" rtl="0" algn="l">
              <a:spcBef>
                <a:spcPts val="0"/>
              </a:spcBef>
              <a:spcAft>
                <a:spcPts val="0"/>
              </a:spcAft>
              <a:buClr>
                <a:schemeClr val="dk1"/>
              </a:buClr>
              <a:buSzPts val="1100"/>
              <a:buFont typeface="Arial"/>
              <a:buNone/>
            </a:pPr>
            <a:r>
              <a:rPr lang="en-US" sz="1050">
                <a:solidFill>
                  <a:srgbClr val="E2E2E5"/>
                </a:solidFill>
                <a:highlight>
                  <a:srgbClr val="191919"/>
                </a:highlight>
              </a:rPr>
              <a:t>"En resumen, es un modelo diseñado para proteger la integridad del dato desde que entra hasta que se visualiza."</a:t>
            </a:r>
            <a:endParaRPr sz="1050">
              <a:solidFill>
                <a:srgbClr val="E2E2E5"/>
              </a:solidFill>
              <a:highlight>
                <a:srgbClr val="191919"/>
              </a:highlight>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sz="1050">
              <a:solidFill>
                <a:srgbClr val="E2E2E5"/>
              </a:solidFill>
              <a:highlight>
                <a:srgbClr val="191919"/>
              </a:highlight>
            </a:endParaRPr>
          </a:p>
          <a:p>
            <a:pPr indent="0" lvl="0" marL="0" rtl="0" algn="l">
              <a:spcBef>
                <a:spcPts val="0"/>
              </a:spcBef>
              <a:spcAft>
                <a:spcPts val="0"/>
              </a:spcAft>
              <a:buClr>
                <a:schemeClr val="dk1"/>
              </a:buClr>
              <a:buSzPts val="1100"/>
              <a:buFont typeface="Arial"/>
              <a:buNone/>
            </a:pPr>
            <a:r>
              <a:t/>
            </a:r>
            <a:endParaRPr sz="1050">
              <a:solidFill>
                <a:schemeClr val="dk1"/>
              </a:solidFill>
              <a:highlight>
                <a:schemeClr val="lt1"/>
              </a:highlight>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ad76f21940_2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ad76f21940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1050">
                <a:solidFill>
                  <a:schemeClr val="dk1"/>
                </a:solidFill>
                <a:highlight>
                  <a:schemeClr val="lt1"/>
                </a:highlight>
              </a:rPr>
              <a:t>Nuestro modelo de datos se organiza en tres áreas clave para garantizar la integridad, seguridad y eficiencia.</a:t>
            </a:r>
            <a:endParaRPr sz="1050">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t/>
            </a:r>
            <a:endParaRPr sz="1050">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rPr lang="en-US" sz="1050">
                <a:solidFill>
                  <a:schemeClr val="dk1"/>
                </a:solidFill>
                <a:highlight>
                  <a:schemeClr val="lt1"/>
                </a:highlight>
              </a:rPr>
              <a:t>Primero, el corazón del sistema: la **Producción**. La tabla `fact_production` *(señala la tabla)* registra cada evento, y se conecta a sus dimensiones como la máquina y el maquinista.</a:t>
            </a:r>
            <a:endParaRPr sz="1050">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t/>
            </a:r>
            <a:endParaRPr sz="1050">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rPr lang="en-US" sz="1050">
                <a:solidFill>
                  <a:schemeClr val="dk1"/>
                </a:solidFill>
                <a:highlight>
                  <a:schemeClr val="lt1"/>
                </a:highlight>
              </a:rPr>
              <a:t>Segundo, la **Gestión de Seguridad**. Implementamos un modelo de roles y permisos *(gesticula hacia el grupo de tablas de la izquierda)*. Esto nos da un control granular, asegurando que cada usuario vea únicamente lo que le corresponde.</a:t>
            </a:r>
            <a:endParaRPr sz="1050">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t/>
            </a:r>
            <a:endParaRPr sz="1050">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rPr lang="en-US" sz="1050">
                <a:solidFill>
                  <a:schemeClr val="dk1"/>
                </a:solidFill>
                <a:highlight>
                  <a:schemeClr val="lt1"/>
                </a:highlight>
              </a:rPr>
              <a:t>Y tercero, la **Robustez del Proceso de Carga**. No solo registramos cada trabajo de carga, sino que, si un dato viene con errores, lo aislamos en la tabla `quarantined_records` para su análisis, sin contaminar los datos productivos.</a:t>
            </a:r>
            <a:endParaRPr sz="1050">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t/>
            </a:r>
            <a:endParaRPr sz="1050">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rPr lang="en-US" sz="1050">
                <a:solidFill>
                  <a:schemeClr val="dk1"/>
                </a:solidFill>
                <a:highlight>
                  <a:schemeClr val="lt1"/>
                </a:highlight>
              </a:rPr>
              <a:t>En resumen, es un diseño que no solo almacena los datos, sino que los protege y garantiza su calidad desde que ingresan al sistema.</a:t>
            </a:r>
            <a:endParaRPr sz="1050">
              <a:solidFill>
                <a:schemeClr val="dk1"/>
              </a:solidFill>
              <a:highlight>
                <a:schemeClr val="lt1"/>
              </a:highlight>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ad76f21940_2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ad76f21940_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1050">
                <a:solidFill>
                  <a:schemeClr val="dk1"/>
                </a:solidFill>
                <a:highlight>
                  <a:schemeClr val="lt1"/>
                </a:highlight>
              </a:rPr>
              <a:t>Nuestro modelo de datos se organiza en tres áreas clave para garantizar la integridad, seguridad y eficiencia.</a:t>
            </a:r>
            <a:endParaRPr sz="1050">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t/>
            </a:r>
            <a:endParaRPr sz="1050">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rPr lang="en-US" sz="1050">
                <a:solidFill>
                  <a:schemeClr val="dk1"/>
                </a:solidFill>
                <a:highlight>
                  <a:schemeClr val="lt1"/>
                </a:highlight>
              </a:rPr>
              <a:t>Primero, el corazón del sistema: la **Producción**. La tabla `fact_production` *(señala la tabla)* registra cada evento, y se conecta a sus dimensiones como la máquina y el maquinista.</a:t>
            </a:r>
            <a:endParaRPr sz="1050">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t/>
            </a:r>
            <a:endParaRPr sz="1050">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rPr lang="en-US" sz="1050">
                <a:solidFill>
                  <a:schemeClr val="dk1"/>
                </a:solidFill>
                <a:highlight>
                  <a:schemeClr val="lt1"/>
                </a:highlight>
              </a:rPr>
              <a:t>Segundo, la **Gestión de Seguridad**. Implementamos un modelo de roles y permisos *(gesticula hacia el grupo de tablas de la izquierda)*. Esto nos da un control granular, asegurando que cada usuario vea únicamente lo que le corresponde.</a:t>
            </a:r>
            <a:endParaRPr sz="1050">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t/>
            </a:r>
            <a:endParaRPr sz="1050">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rPr lang="en-US" sz="1050">
                <a:solidFill>
                  <a:schemeClr val="dk1"/>
                </a:solidFill>
                <a:highlight>
                  <a:schemeClr val="lt1"/>
                </a:highlight>
              </a:rPr>
              <a:t>Y tercero, la **Robustez del Proceso de Carga**. No solo registramos cada trabajo de carga, sino que, si un dato viene con errores, lo aislamos en la tabla `quarantined_records` para su análisis, sin contaminar los datos productivos.</a:t>
            </a:r>
            <a:endParaRPr sz="1050">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t/>
            </a:r>
            <a:endParaRPr sz="1050">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rPr lang="en-US" sz="1050">
                <a:solidFill>
                  <a:schemeClr val="dk1"/>
                </a:solidFill>
                <a:highlight>
                  <a:schemeClr val="lt1"/>
                </a:highlight>
              </a:rPr>
              <a:t>En resumen, es un diseño que no solo almacena los datos, sino que los protege y garantiza su calidad desde que ingresan al sistema.</a:t>
            </a:r>
            <a:endParaRPr sz="1050">
              <a:solidFill>
                <a:schemeClr val="dk1"/>
              </a:solidFill>
              <a:highlight>
                <a:schemeClr val="lt1"/>
              </a:highlight>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85626dc141_3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g385626dc141_3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78c7817757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g378c7817757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85626dc141_3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g385626dc141_3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949560f29e_1_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3949560f29e_1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"Para construir esta solución, hemos diseñado una arquitectura moderna, robusta y escalable, que pueden ver en este diagrama de alto nivel.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Los **usuarios** interactúan con un **Frontend** desarrollado en **React**. Este se comunica exclusivamente a través de una **API REST** con nuestro **Backend**, construido en **Spring Boot**. El backend orquesta toda la lógica de negocio, como el ETL y el motor de consultas, y se conecta a nuestra **Base de Datos**.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Aquí es donde tomamos nuestra primera gran decisión de arquitectura.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Si bien nuestra formación en Duoc UC nos ha familiarizado con la robustez y la potencia de **Oracle**, para este proyecto hemos tomado una decisión estratégica al optar por **PostgreSQL gestionado a través de Supabase**. Esta elección se basa en tres ventajas clave para un proyecto ágil como el nuestro: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1.  **Velocidad y Foco en el Valor:** Supabase no es solo una base de datos; es una plataforma de "Backend-como-Servicio". Nos provee de una base de datos PostgreSQL de nivel enterprise y, crucialmente, un **servicio de autenticación completo y seguro "de fábrica"**. Esto actúa como un inmenso acelerador de desarrollo, permitiéndonos enfocar nuestro tiempo no en construir un sistema de login desde cero, sino en la lógica de negocio que realmente aporta valor a Cambiaso.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2.  **Ecosistema y Experiencia de Desarrollo (Developer Experience):** PostgreSQL es un estándar de la industria y se integra de manera nativa y fluida con nuestro stack tecnológico (Spring Boot y React). La documentación, las librerías y el soporte de la comunidad para este ecosistema son vastos, lo que reduce la fricción y acelera la resolución de problemas.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3.  **Costo-Efectividad y Escalabilidad:** Supabase ofrece una capa gratuita extremadamente generosa, ideal para la fase de desarrollo y el MVP de un proyecto Capstone. Más importante aún, nos provee de una **ruta de escalabilidad clara y predecible**, permitiendo que la solución crezca desde un prototipo hasta un producto de nivel empresarial sin necesidad de una migración compleja.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En resumen, la elección de PostgreSQL sobre Supabase no es una decisión de tecnología por tecnología, sino una **decisión pragmática y estratégica** que prioriza la velocidad de entrega, la seguridad y la eficiencia de costos, sin sacrificar la robustez y la capacidad de crecimiento a futuro."</a:t>
            </a:r>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85626dc141_1_2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g385626dc141_1_23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85626dc141_1_2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g385626dc141_1_23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949560f29e_1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g3949560f29e_1_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385626dc141_1_2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"Para la ejecución del proyecto, aplicamos una estrategia de priorización estricta enfocada en el valor.</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Inicialmente levantamos un backlog de **23 Historias de Usuario**. Sin embargo, para garantizar un **MVP (Producto Mínimo Viable)** robusto y funcional dentro de los plazos, filtramos y priorizamos las **11 historias críticas** que atacan directamente el problema de negocio.</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Organizamos el desarrollo en cuatro ciclos:</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   Un **Sprint 0**, dedicado exclusivamente a la configuración de la arquitectura, entornos en la nube (Supabase/Render) y el pipeline de despliegue.</a:t>
            </a:r>
            <a:endParaRPr sz="1050">
              <a:solidFill>
                <a:srgbClr val="E2E2E5"/>
              </a:solidFill>
              <a:highlight>
                <a:srgbClr val="191919"/>
              </a:highlight>
            </a:endParaRPr>
          </a:p>
          <a:p>
            <a:pPr indent="0" lvl="0" marL="0" rtl="0" algn="l">
              <a:spcBef>
                <a:spcPts val="0"/>
              </a:spcBef>
              <a:spcAft>
                <a:spcPts val="0"/>
              </a:spcAft>
              <a:buClr>
                <a:schemeClr val="dk1"/>
              </a:buClr>
              <a:buSzPts val="1100"/>
              <a:buFont typeface="Arial"/>
              <a:buNone/>
            </a:pPr>
            <a:r>
              <a:rPr lang="en-US" sz="1050">
                <a:solidFill>
                  <a:srgbClr val="E2E2E5"/>
                </a:solidFill>
                <a:highlight>
                  <a:srgbClr val="191919"/>
                </a:highlight>
              </a:rPr>
              <a:t>*   Seguido de **3 Sprints de desarrollo incremental**, donde en cada uno nos aseguramos de liberar funcionalidades terminadas y testeadas, en lugar de dejar todo para una integración final."</a:t>
            </a:r>
            <a:endParaRPr sz="1050">
              <a:solidFill>
                <a:srgbClr val="E2E2E5"/>
              </a:solidFill>
              <a:highlight>
                <a:srgbClr val="191919"/>
              </a:highlight>
            </a:endParaRPr>
          </a:p>
          <a:p>
            <a:pPr indent="0" lvl="0" marL="0" rtl="0" algn="l">
              <a:spcBef>
                <a:spcPts val="0"/>
              </a:spcBef>
              <a:spcAft>
                <a:spcPts val="0"/>
              </a:spcAft>
              <a:buNone/>
            </a:pPr>
            <a:r>
              <a:t/>
            </a:r>
            <a:endParaRPr/>
          </a:p>
        </p:txBody>
      </p:sp>
      <p:sp>
        <p:nvSpPr>
          <p:cNvPr id="618" name="Google Shape;618;g385626dc141_1_21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3a57a79d9e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g3a57a79d9e5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3a57a79d9e5_2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g3a57a79d9e5_2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3a57a79d9e5_2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g3a57a79d9e5_2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3949560f29e_1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Exposición (Risk Exposure)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La exposición es el valor calculado que mide el nivel general de un riesgo. Es el resultado de multiplicar la probabilidad de que ocurra por el impacto </a:t>
            </a:r>
            <a:endParaRPr/>
          </a:p>
          <a:p>
            <a:pPr indent="0" lvl="0" marL="0" rtl="0" algn="l">
              <a:spcBef>
                <a:spcPts val="0"/>
              </a:spcBef>
              <a:spcAft>
                <a:spcPts val="0"/>
              </a:spcAft>
              <a:buClr>
                <a:schemeClr val="dk1"/>
              </a:buClr>
              <a:buSzPts val="1100"/>
              <a:buFont typeface="Arial"/>
              <a:buNone/>
            </a:pPr>
            <a:r>
              <a:rPr lang="en-US"/>
              <a:t>  que tendría. Es la métrica que se usa para priorizar.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 Pregunta que responde: ¿De cuál riesgo deberíamos ocuparnos primero?</a:t>
            </a:r>
            <a:endParaRPr/>
          </a:p>
          <a:p>
            <a:pPr indent="0" lvl="0" marL="0" rtl="0" algn="l">
              <a:spcBef>
                <a:spcPts val="0"/>
              </a:spcBef>
              <a:spcAft>
                <a:spcPts val="0"/>
              </a:spcAft>
              <a:buClr>
                <a:schemeClr val="dk1"/>
              </a:buClr>
              <a:buSzPts val="1100"/>
              <a:buFont typeface="Arial"/>
              <a:buNone/>
            </a:pPr>
            <a:r>
              <a:rPr lang="en-US"/>
              <a:t>   * Naturaleza: Es cuantitativa (un número, como el 20 de tu tabla).</a:t>
            </a:r>
            <a:endParaRPr/>
          </a:p>
          <a:p>
            <a:pPr indent="0" lvl="0" marL="0" rtl="0" algn="l">
              <a:spcBef>
                <a:spcPts val="0"/>
              </a:spcBef>
              <a:spcAft>
                <a:spcPts val="0"/>
              </a:spcAft>
              <a:buClr>
                <a:schemeClr val="dk1"/>
              </a:buClr>
              <a:buSzPts val="1100"/>
              <a:buFont typeface="Arial"/>
              <a:buNone/>
            </a:pPr>
            <a:r>
              <a:rPr lang="en-US"/>
              <a:t>   * Fórmula: Exposición (E) = Probabilidad (P) x Impacto (I)</a:t>
            </a:r>
            <a:endParaRPr/>
          </a:p>
          <a:p>
            <a:pPr indent="0" lvl="0" marL="0" rtl="0" algn="l">
              <a:spcBef>
                <a:spcPts val="0"/>
              </a:spcBef>
              <a:spcAft>
                <a:spcPts val="0"/>
              </a:spcAft>
              <a:buClr>
                <a:schemeClr val="dk1"/>
              </a:buClr>
              <a:buSzPts val="1100"/>
              <a:buFont typeface="Arial"/>
              <a:buNone/>
            </a:pPr>
            <a:r>
              <a:rPr lang="en-US"/>
              <a:t>   * Ejemplo: El riesgo de que un desarrollador clave renuncie puede tener un impacto de 4 (alto) y una probabilidad de 3 (media). Su exposición sería 12 </a:t>
            </a:r>
            <a:endParaRPr/>
          </a:p>
          <a:p>
            <a:pPr indent="0" lvl="0" marL="0" rtl="0" algn="l">
              <a:spcBef>
                <a:spcPts val="0"/>
              </a:spcBef>
              <a:spcAft>
                <a:spcPts val="0"/>
              </a:spcAft>
              <a:buClr>
                <a:schemeClr val="dk1"/>
              </a:buClr>
              <a:buSzPts val="1100"/>
              <a:buFont typeface="Arial"/>
              <a:buNone/>
            </a:pPr>
            <a:r>
              <a:rPr lang="en-US"/>
              <a:t>     (E=12). Aunque el impacto no es tan catastrófico como el del meteorito, su probabilidad lo hace un riesgo mucho más relevante y que requiere acción </a:t>
            </a:r>
            <a:endParaRPr/>
          </a:p>
          <a:p>
            <a:pPr indent="0" lvl="0" marL="0" rtl="0" algn="l">
              <a:spcBef>
                <a:spcPts val="0"/>
              </a:spcBef>
              <a:spcAft>
                <a:spcPts val="0"/>
              </a:spcAft>
              <a:buClr>
                <a:schemeClr val="dk1"/>
              </a:buClr>
              <a:buSzPts val="1100"/>
              <a:buFont typeface="Arial"/>
              <a:buNone/>
            </a:pPr>
            <a:r>
              <a:rPr lang="en-US"/>
              <a:t>     inmediata.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¿Por qué usar "Exposición" en tu tabla?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En tu tabla, la columna "E" es el resultado de P x I. Por lo tanto, "Exposición" es el término técnico correcto.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Usar "Exposición" en lugar de "Criticidad" te obliga a considerar ambos factores (probabilidad e impacto) de manera disciplinada. Un riesgo puede ser muy </a:t>
            </a:r>
            <a:endParaRPr/>
          </a:p>
          <a:p>
            <a:pPr indent="0" lvl="0" marL="0" rtl="0" algn="l">
              <a:spcBef>
                <a:spcPts val="0"/>
              </a:spcBef>
              <a:spcAft>
                <a:spcPts val="0"/>
              </a:spcAft>
              <a:buClr>
                <a:schemeClr val="dk1"/>
              </a:buClr>
              <a:buSzPts val="1100"/>
              <a:buFont typeface="Arial"/>
              <a:buNone/>
            </a:pPr>
            <a:r>
              <a:rPr lang="en-US"/>
              <a:t>  crítico (alto impacto), pero si su probabilidad es extremadamente baja, su exposición puede ser menor que la de un riesgo con impacto moderado pero que es</a:t>
            </a:r>
            <a:endParaRPr/>
          </a:p>
          <a:p>
            <a:pPr indent="0" lvl="0" marL="0" rtl="0" algn="l">
              <a:spcBef>
                <a:spcPts val="0"/>
              </a:spcBef>
              <a:spcAft>
                <a:spcPts val="0"/>
              </a:spcAft>
              <a:buClr>
                <a:schemeClr val="dk1"/>
              </a:buClr>
              <a:buSzPts val="1100"/>
              <a:buFont typeface="Arial"/>
              <a:buNone/>
            </a:pPr>
            <a:r>
              <a:rPr lang="en-US"/>
              <a:t>   casi seguro que ocurra.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657" name="Google Shape;657;g3949560f29e_1_1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948c8fd3ed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g3948c8fd3ed_0_1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241b0dec6b7b0b55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1050">
                <a:solidFill>
                  <a:srgbClr val="E2E2E5"/>
                </a:solidFill>
                <a:highlight>
                  <a:srgbClr val="191919"/>
                </a:highlight>
              </a:rPr>
              <a:t>En el **Sprint 1**, nuestro foco fue lograr el **'Ciclo de Valor Completo'**.</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No quisimos hacer piezas sueltas. En estas 4 semanas integramos:</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1.  La **Seguridad** (Login y rutas protegidas).</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2.  La **Ingesta de Datos** (Carga de CSV).</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3.  Y la **Visualización** (El primer dashboard funcional).</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Esto fue estratégico: al finalizar el primer sprint, ya teníamos un flujo real funcionando desde el usuario hasta la base de datos, validando tempranamente nuestra arquitectura."</a:t>
            </a:r>
            <a:endParaRPr/>
          </a:p>
        </p:txBody>
      </p:sp>
      <p:sp>
        <p:nvSpPr>
          <p:cNvPr id="672" name="Google Shape;672;g241b0dec6b7b0b55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3a57a79d9e5_2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g3a57a79d9e5_2_1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a57a79d9e5_2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g3a57a79d9e5_2_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3a57a79d9e5_2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1050">
                <a:solidFill>
                  <a:srgbClr val="E2E2E5"/>
                </a:solidFill>
                <a:highlight>
                  <a:srgbClr val="191919"/>
                </a:highlight>
              </a:rPr>
              <a:t>"En este registro de impedimentos, quiero destacar el **Caso 009**, que fue nuestro desafío técnico más crítico de este Sprint.</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Nos encontramos con que el rendimiento del proceso ETL era inaceptable: tardaba más de **4 minutos** en procesar un archivo estándar.</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Al perfilar el código, detectamos un **cuello de botella en la Base de Datos**: estábamos cayendo en el clásico **'Problema del N+1'**, realizando miles de consultas individuales dentro de un bucle.</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**La solución fue de arquitectura:**</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Refactorizamos el servicio para implementar **JDBC Batching** (inserción por lotes) y precargamos las dimensiones en una memoria caché temporal.</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**¿El resultado?**</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Logramos una optimización del **800%**, reduciendo el tiempo de proceso de **4 minutos a menos de 30 segundos**, haciendo que la solución fuera viable para el entorno productivo."</a:t>
            </a:r>
            <a:endParaRPr sz="1050">
              <a:solidFill>
                <a:srgbClr val="E2E2E5"/>
              </a:solidFill>
              <a:highlight>
                <a:srgbClr val="191919"/>
              </a:highlight>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sz="1050">
              <a:solidFill>
                <a:srgbClr val="E2E2E5"/>
              </a:solidFill>
              <a:highlight>
                <a:srgbClr val="191919"/>
              </a:highlight>
            </a:endParaRPr>
          </a:p>
          <a:p>
            <a:pPr indent="0" lvl="0" marL="0" rtl="0" algn="l">
              <a:spcBef>
                <a:spcPts val="0"/>
              </a:spcBef>
              <a:spcAft>
                <a:spcPts val="0"/>
              </a:spcAft>
              <a:buNone/>
            </a:pPr>
            <a:r>
              <a:t/>
            </a:r>
            <a:endParaRPr/>
          </a:p>
        </p:txBody>
      </p:sp>
      <p:sp>
        <p:nvSpPr>
          <p:cNvPr id="693" name="Google Shape;693;g3a57a79d9e5_2_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3a57a79d9e5_2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g3a57a79d9e5_2_1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3a57a79d9e5_2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g3a57a79d9e5_2_1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3948c8fd3ed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g3948c8fd3ed_0_1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a57a79d9e5_2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g3a57a79d9e5_2_1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3a57a79d9e5_2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g3a57a79d9e5_2_1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a57a79d9e5_2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1050">
                <a:solidFill>
                  <a:srgbClr val="E2E2E5"/>
                </a:solidFill>
                <a:highlight>
                  <a:srgbClr val="191919"/>
                </a:highlight>
              </a:rPr>
              <a:t>En el registro de impedimentos del Sprint 2, nos enfrentamos a desafíos de integración, específicamente bloqueos de **CORS** al implementar los nuevos endpoints de filtrado, lo cual resolvimos ajustando nuestra configuración de seguridad en Java.</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Pero lo más relevante de esta etapa no es el error en sí, sino la métrica que ven a la derecha:</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Logramos una reducción drástica del **75% en el total de impedimentos** comparado con el Sprint 1.</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Esto demuestra que el equipo alcanzó su **'velocidad de crucero'**: aprendimos de los errores iniciales, estabilizamos el entorno de desarrollo y logramos entregar valor con mucha menos fricción técnica."</a:t>
            </a:r>
            <a:endParaRPr/>
          </a:p>
        </p:txBody>
      </p:sp>
      <p:sp>
        <p:nvSpPr>
          <p:cNvPr id="736" name="Google Shape;736;g3a57a79d9e5_2_1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948c8fd3ed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g3948c8fd3ed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3a57a79d9e5_2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g3a57a79d9e5_2_1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3a57a79d9e5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"Finalmente, el **Sprint 3** se trató de dar **'Gobernanza y Autonomía'** al cliente.</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El objetivo fue asegurar que el sistema no solo funcione, sino que sea administrable y seguro. Implementamos módulos críticos de **Validación de Calidad de Datos** y una gestión granular de **Usuarios y Roles**.</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Quiero destacar un hito de gestión importante que ven en pantalla:</a:t>
            </a:r>
            <a:endParaRPr sz="1050">
              <a:solidFill>
                <a:srgbClr val="E2E2E5"/>
              </a:solidFill>
              <a:highlight>
                <a:srgbClr val="191919"/>
              </a:highlight>
            </a:endParaRPr>
          </a:p>
          <a:p>
            <a:pPr indent="0" lvl="0" marL="0" rtl="0" algn="l">
              <a:spcBef>
                <a:spcPts val="0"/>
              </a:spcBef>
              <a:spcAft>
                <a:spcPts val="0"/>
              </a:spcAft>
              <a:buClr>
                <a:schemeClr val="dk1"/>
              </a:buClr>
              <a:buSzPts val="1100"/>
              <a:buFont typeface="Arial"/>
              <a:buNone/>
            </a:pPr>
            <a:r>
              <a:rPr lang="en-US" sz="1050">
                <a:solidFill>
                  <a:srgbClr val="E2E2E5"/>
                </a:solidFill>
                <a:highlight>
                  <a:srgbClr val="191919"/>
                </a:highlight>
              </a:rPr>
              <a:t>Logramos cerrar el alcance total del MVP **sin requerir horas extras**. Esto valida que nuestra planificación inicial y nuestra velocidad de desarrollo fueron realistas y sostenibles."</a:t>
            </a:r>
            <a:endParaRPr sz="1050">
              <a:solidFill>
                <a:srgbClr val="E2E2E5"/>
              </a:solidFill>
              <a:highlight>
                <a:srgbClr val="191919"/>
              </a:highlight>
            </a:endParaRPr>
          </a:p>
          <a:p>
            <a:pPr indent="0" lvl="0" marL="0" rtl="0" algn="l">
              <a:spcBef>
                <a:spcPts val="0"/>
              </a:spcBef>
              <a:spcAft>
                <a:spcPts val="0"/>
              </a:spcAft>
              <a:buNone/>
            </a:pPr>
            <a:r>
              <a:t/>
            </a:r>
            <a:endParaRPr/>
          </a:p>
        </p:txBody>
      </p:sp>
      <p:sp>
        <p:nvSpPr>
          <p:cNvPr id="760" name="Google Shape;760;g3a57a79d9e5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3a57a79d9e5_8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g3a57a79d9e5_8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a57a79d9e5_8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g3a57a79d9e5_8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3a57a79d9e5_8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1050">
                <a:solidFill>
                  <a:srgbClr val="E2E2E5"/>
                </a:solidFill>
                <a:highlight>
                  <a:srgbClr val="191919"/>
                </a:highlight>
              </a:rPr>
              <a:t>"Para cerrar el ciclo, en el Sprint 3 los desafíos pasaron del 'Código' a la **'Infraestructura y Seguridad'**.</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Quiero resaltar el **Impedimento Crítico 021**. Nos enfrentamos a un bloqueo de seguridad mayor: el protocolo de firma de JWT para los dashboards exigía **HTTPS estricto**, pero nuestra instancia en AWS EC2 exponía solo HTTP. Esto rompía la integración con el Backend.</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**¿La solución?**</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En lugar de configuraciones complejas de servidores web, implementamos un **Cloudflare Tunnel**. Esto nos permitió exponer la instancia de forma segura con **certificados SSL automáticos** sin abrir puertos innecesarios en el firewall.</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**Sobre las métricas a la derecha:**</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Notarán un aumento en la cantidad de impedimentos. Esto no es un retroceso, sino un reflejo de la **Alta Complejidad de Integración**: al conectar nubes distintas (Render, AWS, Supabase) surgen fricciones naturales de red y seguridad que el equipo supo resolver exitosamente."</a:t>
            </a:r>
            <a:endParaRPr/>
          </a:p>
        </p:txBody>
      </p:sp>
      <p:sp>
        <p:nvSpPr>
          <p:cNvPr id="781" name="Google Shape;781;g3a57a79d9e5_8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241b0dec6b7b0b5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g241b0dec6b7b0b55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3a57a79d9e5_8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g3a57a79d9e5_8_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385626dc141_1_30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g385626dc141_1_30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g385626dc141_1_30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1050">
                <a:solidFill>
                  <a:srgbClr val="E2E2E5"/>
                </a:solidFill>
                <a:highlight>
                  <a:srgbClr val="191919"/>
                </a:highlight>
              </a:rPr>
              <a:t>"Este diagrama de Gantt resume nuestra ejecución de 18 semanas.</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Como pueden observar, cumplimos rigurosamente con los *time-boxes* de cada Sprint (las barras verde, amarilla y naranja). No hubo desfases ni retrasos en las entregas de los Hitos.</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Hoy nos encontramos exactamente en el último bloque marcado en la línea de tiempo: el **Examen Final**.</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Llegar a este día con el producto terminado y desplegado confirma que nuestra estimación inicial y la gestión ágil del proyecto fueron exitosas."</a:t>
            </a:r>
            <a:endParaRPr sz="1050">
              <a:solidFill>
                <a:srgbClr val="E2E2E5"/>
              </a:solidFill>
              <a:highlight>
                <a:srgbClr val="191919"/>
              </a:highlight>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sz="1050">
              <a:solidFill>
                <a:srgbClr val="E2E2E5"/>
              </a:solidFill>
              <a:highlight>
                <a:srgbClr val="191919"/>
              </a:highlight>
            </a:endParaRPr>
          </a:p>
          <a:p>
            <a:pPr indent="0" lvl="0" marL="0" rtl="0" algn="l">
              <a:spcBef>
                <a:spcPts val="0"/>
              </a:spcBef>
              <a:spcAft>
                <a:spcPts val="0"/>
              </a:spcAft>
              <a:buNone/>
            </a:pPr>
            <a:r>
              <a:t/>
            </a:r>
            <a:endParaRPr/>
          </a:p>
        </p:txBody>
      </p:sp>
      <p:sp>
        <p:nvSpPr>
          <p:cNvPr id="822" name="Google Shape;822;g385626dc141_1_30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8c501e865b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g38c501e865b_0_1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g385626dc141_1_3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g385626dc141_1_31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3949560f29e_1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u="sng">
                <a:solidFill>
                  <a:schemeClr val="hlink"/>
                </a:solidFill>
                <a:hlinkClick r:id="rId2"/>
              </a:rPr>
              <a:t>https://ioc-backend.onrender.com/swagger-ui/index.html</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u="sng">
                <a:solidFill>
                  <a:schemeClr val="hlink"/>
                </a:solidFill>
                <a:hlinkClick r:id="rId3"/>
              </a:rPr>
              <a:t>https://ioc-frontend.vercel.app/</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u="sng">
                <a:solidFill>
                  <a:schemeClr val="hlink"/>
                </a:solidFill>
                <a:hlinkClick r:id="rId4"/>
              </a:rPr>
              <a:t>http://54.232.229.228:3000/</a:t>
            </a:r>
            <a:br>
              <a:rPr lang="en-US"/>
            </a:br>
            <a:endParaRPr/>
          </a:p>
          <a:p>
            <a:pPr indent="0" lvl="0" marL="0" rtl="0" algn="l">
              <a:spcBef>
                <a:spcPts val="0"/>
              </a:spcBef>
              <a:spcAft>
                <a:spcPts val="0"/>
              </a:spcAft>
              <a:buNone/>
            </a:pPr>
            <a:r>
              <a:t/>
            </a:r>
            <a:endParaRPr/>
          </a:p>
          <a:p>
            <a:pPr indent="0" lvl="0" marL="0" rtl="0" algn="l">
              <a:spcBef>
                <a:spcPts val="0"/>
              </a:spcBef>
              <a:spcAft>
                <a:spcPts val="0"/>
              </a:spcAft>
              <a:buNone/>
            </a:pPr>
            <a:r>
              <a:rPr lang="en-US" u="sng">
                <a:solidFill>
                  <a:schemeClr val="hlink"/>
                </a:solidFill>
                <a:hlinkClick r:id="rId5"/>
              </a:rPr>
              <a:t>https://treated-paste-eos-memo.trycloudflare.com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u="sng">
                <a:solidFill>
                  <a:schemeClr val="hlink"/>
                </a:solidFill>
                <a:hlinkClick r:id="rId6"/>
              </a:rPr>
              <a:t>https://github.com/qb4745/ioc-frontend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u="sng">
                <a:solidFill>
                  <a:schemeClr val="hlink"/>
                </a:solidFill>
                <a:hlinkClick r:id="rId7"/>
              </a:rPr>
              <a:t>https://github.com/qb4745/ioc-backend</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admin@admin.cl</a:t>
            </a:r>
            <a:endParaRPr>
              <a:solidFill>
                <a:schemeClr val="dk1"/>
              </a:solidFill>
            </a:endParaRPr>
          </a:p>
          <a:p>
            <a:pPr indent="0" lvl="0" marL="0" rtl="0" algn="l">
              <a:spcBef>
                <a:spcPts val="0"/>
              </a:spcBef>
              <a:spcAft>
                <a:spcPts val="0"/>
              </a:spcAft>
              <a:buNone/>
            </a:pPr>
            <a:r>
              <a:rPr lang="en-US">
                <a:solidFill>
                  <a:schemeClr val="dk1"/>
                </a:solidFill>
              </a:rPr>
              <a:t>pass123</a:t>
            </a:r>
            <a:endParaRPr>
              <a:solidFill>
                <a:schemeClr val="dk1"/>
              </a:solidFill>
            </a:endParaRPr>
          </a:p>
          <a:p>
            <a:pPr indent="0" lvl="0" marL="0" rtl="0" algn="l">
              <a:spcBef>
                <a:spcPts val="0"/>
              </a:spcBef>
              <a:spcAft>
                <a:spcPts val="0"/>
              </a:spcAft>
              <a:buNone/>
            </a:pPr>
            <a:br>
              <a:rPr lang="en-US"/>
            </a:br>
            <a:r>
              <a:rPr lang="en-US"/>
              <a:t>analista@cambiaso.cl</a:t>
            </a:r>
            <a:endParaRPr/>
          </a:p>
          <a:p>
            <a:pPr indent="0" lvl="0" marL="0" rtl="0" algn="l">
              <a:spcBef>
                <a:spcPts val="0"/>
              </a:spcBef>
              <a:spcAft>
                <a:spcPts val="0"/>
              </a:spcAft>
              <a:buClr>
                <a:schemeClr val="dk1"/>
              </a:buClr>
              <a:buSzPts val="1100"/>
              <a:buFont typeface="Arial"/>
              <a:buNone/>
            </a:pPr>
            <a:r>
              <a:rPr lang="en-US"/>
              <a:t>&amp;G9MqoMyS$sg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gerente@cambiaso.cl</a:t>
            </a:r>
            <a:endParaRPr/>
          </a:p>
          <a:p>
            <a:pPr indent="0" lvl="0" marL="0" rtl="0" algn="l">
              <a:spcBef>
                <a:spcPts val="0"/>
              </a:spcBef>
              <a:spcAft>
                <a:spcPts val="0"/>
              </a:spcAft>
              <a:buClr>
                <a:schemeClr val="dk1"/>
              </a:buClr>
              <a:buSzPts val="1100"/>
              <a:buFont typeface="Arial"/>
              <a:buNone/>
            </a:pPr>
            <a:r>
              <a:rPr lang="en-US"/>
              <a:t>Ct*5@1ngXN6i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gerente-analista@cambiaso.cl</a:t>
            </a:r>
            <a:endParaRPr/>
          </a:p>
          <a:p>
            <a:pPr indent="0" lvl="0" marL="0" rtl="0" algn="l">
              <a:spcBef>
                <a:spcPts val="0"/>
              </a:spcBef>
              <a:spcAft>
                <a:spcPts val="0"/>
              </a:spcAft>
              <a:buClr>
                <a:schemeClr val="dk1"/>
              </a:buClr>
              <a:buSzPts val="1100"/>
              <a:buFont typeface="Arial"/>
              <a:buNone/>
            </a:pPr>
            <a:r>
              <a:rPr lang="en-US"/>
              <a:t>8Gg!dC0DZzFL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050">
                <a:solidFill>
                  <a:srgbClr val="E2E2E5"/>
                </a:solidFill>
                <a:highlight>
                  <a:srgbClr val="191919"/>
                </a:highlight>
              </a:rPr>
              <a:t>"Como Administrador, mi prioridad es la **Integridad de la Información**.</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**1. Blindaje de Datos (Estrategia de 3 Capas)**</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Lo que ven en pantalla es solo nuestra primera línea de defensa: el Frontend valida formato y estructura para dar feedback inmediato al usuario.</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*(Clic en Confirmar y Subir)*</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Pero al hacer clic aquí, se activa nuestra estrategia de **'Defensa en Profundidad'**:</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1.  Primero, el **Backend** intercepta el archivo y parsea cada línea a **Entidades de Dominio**. Si un dato no cumple con la lógica de negocio, se rechaza antes de tocar la base de datos.</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2.  Y finalmente, la **Base de Datos** actúa como la última barrera, imponiendo restricciones duras (*Constraints*) de tipos y valores `NOT NULL`.</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**2. Gobernanza de la Información (Usuarios)**</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Ahora, hablemos de seguridad estratégica.</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*(Clic en Gestión de Usuarios)*</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En una industria competitiva, la información es sensible. Al asignar a 'Miguel' el rol de 'Analista', el sistema aplica **Segregación de Funciones** automática. Él solo verá lo necesario para su trabajo, protegiendo los datos estratégicos de la compañía.</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**3. Autonomía y Escalabilidad (Roles y Permisos)**</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*(Clic rápido en Roles y luego en Permisos)*</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Finalmente, lo más importante: **La Autonomía**.</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Entregamos un panel de Roles y Permisos totalmente configurable.</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¿El valor de esto? **Independencia**.</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Si Cambiaso crece y necesita crear un perfil de 'Auditor' mañana, lo hacen ellos mismos desde aquí. No dependen de un programador ni de contratos de soporte para adaptar la seguridad del sistema a su evolución organizacional."</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"Ahora, cambiamos de sombrero. Ingresamos como **Analista de Producción**.</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Notarán de inmediato que el menú lateral se ha reducido. El sistema ha ocultado las opciones administrativas, cumpliendo estrictamente con el principio de **'Mínimo Privilegio'**.</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**1. Granularidad y Embedding Seguro**</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Este es el **Dashboard Operacional**.</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A diferencia del Gerente que busca tendencias macro, el Analista necesita **granularidad**.</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Técnicamente, esto que ven no es una imagen estática. Es una instancia de **Metabase Embebida** de forma segura mediante **Tokens JWT firmados**.</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*(Clic en el filtro de Año 2025 o pasa el mouse sobre el gráfico de torta)*</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Esto permite interactividad total. Si filtro por el año 2025, el backend recalcula la firma de seguridad y Metabase consulta la base de datos en tiempo real para mostrar exactamente el rendimiento por máquina y por kilo producido.</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**2. Portabilidad del Dato (Reporting)**</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Pero el dato no puede morir en la pantalla.</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Sabemos que en planta se sigue usando papel y correo. Por eso, integramos la capacidad nativa de **Exportación**.</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*(Señala o haz clic en el menú de descarga del gráfico)*</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El analista puede descargar este corte específico en Excel o PDF con un solo clic, facilitando la comunicación con los jefes de turno sin depender de TI para generar un reporte.</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**3. Asistencia Inteligente (IA)**</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Y finalmente, ven este botón púrpura: **'Análisis IA'**.</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No quisimos dejar al analista solo con los gráficos. Integramos Inteligencia Artificial para que, con un clic, el sistema 'lea' estos gráficos y le explique en lenguaje natural qué está pasando en la producción, pero eso lo veremos en detalle en un momento."</a:t>
            </a:r>
            <a:endParaRPr sz="1050">
              <a:solidFill>
                <a:srgbClr val="E2E2E5"/>
              </a:solidFill>
              <a:highlight>
                <a:srgbClr val="191919"/>
              </a:highlight>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"Ahora, elevamos la vista a nivel estratégico. Ingresamos como **Gerente de Planta**.</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**1. Visión Macro y Tendencias**</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A diferencia del analista, al Gerente no le interesa el 'minuto a minuto', le interesan las **Tendencias**.</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Este dashboard, también embebido de forma segura, responde preguntas de negocio:</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   ¿Cómo vamos comparado con el mes anterior? *(Señala las barras naranja/morada)*</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   ¿Cuál es el Top 5 de maquinistas?</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Es información para tomar decisiones de inversión o corrección de rumbo.</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**2. La Revolución: Análisis Cognitivo (Spring AI + Gemini)**</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Pero sabemos que los gerentes tienen poco tiempo para interpretar gráficos.</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Aquí es donde IOC se diferencia de cualquier otro sistema.</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Hacemos clic en **'Análisis IA'**.</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*(Haces clic en el botón púrpura. Mientras carga/escribe el texto, dices lo siguiente:)*</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Lo que ocurre ahora es pura ingeniería moderna:</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Nuestro Backend extrae el contexto de los datos (JSON) y lo envía a **Google Gemini** a través de **Spring AI**.</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Pero no esperamos a que termine de pensar. Usamos **Streaming** (Server-Sent Events) para que la respuesta se escriba en tiempo real frente a sus ojos.</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*(Aparece el texto completo)*</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**3. De Dato a Acción**</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Miren el resultado. No es un texto genérico.</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Gemini ha detectado una anomalía crítica: **'Producción diaria de 0 unidades... caída del 100%'**.</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El sistema no solo informa, **diagnostica**.</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Identifica que es una situación anómala comparada con meses previos y sugiere una **'Prioridad Máxima: Investigar inmediatamente'**.</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rPr lang="en-US" sz="1050">
                <a:solidFill>
                  <a:srgbClr val="E2E2E5"/>
                </a:solidFill>
                <a:highlight>
                  <a:srgbClr val="191919"/>
                </a:highlight>
              </a:rPr>
              <a:t>Esto es **Inteligencia Operacional Real**: pasar de ver un gráfico bonito a recibir una orden de trabajo clara y fundamentada en segundos."</a:t>
            </a:r>
            <a:endParaRPr sz="1050">
              <a:solidFill>
                <a:srgbClr val="E2E2E5"/>
              </a:solidFill>
              <a:highlight>
                <a:srgbClr val="191919"/>
              </a:highlight>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a:p>
            <a:pPr indent="0" lvl="0" marL="0" rtl="0" algn="l">
              <a:spcBef>
                <a:spcPts val="0"/>
              </a:spcBef>
              <a:spcAft>
                <a:spcPts val="0"/>
              </a:spcAft>
              <a:buNone/>
            </a:pPr>
            <a:r>
              <a:t/>
            </a:r>
            <a:endParaRPr sz="1050">
              <a:solidFill>
                <a:srgbClr val="E2E2E5"/>
              </a:solidFill>
              <a:highlight>
                <a:srgbClr val="191919"/>
              </a:highlight>
            </a:endParaRPr>
          </a:p>
        </p:txBody>
      </p:sp>
      <p:sp>
        <p:nvSpPr>
          <p:cNvPr id="856" name="Google Shape;856;g3949560f29e_1_1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39491e366a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g39491e366a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g3ad4688def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1050">
                <a:solidFill>
                  <a:srgbClr val="E2E2E5"/>
                </a:solidFill>
                <a:highlight>
                  <a:srgbClr val="191919"/>
                </a:highlight>
              </a:rPr>
              <a:t>&gt; "Para asegurar la continuidad del proyecto, hemos definido tres hitos claros:</a:t>
            </a:r>
            <a:endParaRPr sz="1050">
              <a:solidFill>
                <a:srgbClr val="E2E2E5"/>
              </a:solidFill>
              <a:highlight>
                <a:srgbClr val="191919"/>
              </a:highlight>
            </a:endParaRPr>
          </a:p>
          <a:p>
            <a:pPr indent="0" lvl="0" marL="0" rtl="0" algn="l">
              <a:spcBef>
                <a:spcPts val="0"/>
              </a:spcBef>
              <a:spcAft>
                <a:spcPts val="0"/>
              </a:spcAft>
              <a:buClr>
                <a:schemeClr val="dk1"/>
              </a:buClr>
              <a:buSzPts val="1100"/>
              <a:buFont typeface="Arial"/>
              <a:buNone/>
            </a:pPr>
            <a:r>
              <a:rPr lang="en-US" sz="1050">
                <a:solidFill>
                  <a:srgbClr val="E2E2E5"/>
                </a:solidFill>
                <a:highlight>
                  <a:srgbClr val="191919"/>
                </a:highlight>
              </a:rPr>
              <a:t>&gt;</a:t>
            </a:r>
            <a:endParaRPr sz="1050">
              <a:solidFill>
                <a:srgbClr val="E2E2E5"/>
              </a:solidFill>
              <a:highlight>
                <a:srgbClr val="191919"/>
              </a:highlight>
            </a:endParaRPr>
          </a:p>
          <a:p>
            <a:pPr indent="0" lvl="0" marL="0" rtl="0" algn="l">
              <a:spcBef>
                <a:spcPts val="0"/>
              </a:spcBef>
              <a:spcAft>
                <a:spcPts val="0"/>
              </a:spcAft>
              <a:buClr>
                <a:schemeClr val="dk1"/>
              </a:buClr>
              <a:buSzPts val="1100"/>
              <a:buFont typeface="Arial"/>
              <a:buNone/>
            </a:pPr>
            <a:r>
              <a:rPr lang="en-US" sz="1050">
                <a:solidFill>
                  <a:srgbClr val="E2E2E5"/>
                </a:solidFill>
                <a:highlight>
                  <a:srgbClr val="191919"/>
                </a:highlight>
              </a:rPr>
              <a:t>&gt; En el **Corto Plazo**, cerraremos la validación operativa incorporando el feedback final del Jefe de Planificación.</a:t>
            </a:r>
            <a:endParaRPr sz="1050">
              <a:solidFill>
                <a:srgbClr val="E2E2E5"/>
              </a:solidFill>
              <a:highlight>
                <a:srgbClr val="191919"/>
              </a:highlight>
            </a:endParaRPr>
          </a:p>
          <a:p>
            <a:pPr indent="0" lvl="0" marL="0" rtl="0" algn="l">
              <a:spcBef>
                <a:spcPts val="0"/>
              </a:spcBef>
              <a:spcAft>
                <a:spcPts val="0"/>
              </a:spcAft>
              <a:buClr>
                <a:schemeClr val="dk1"/>
              </a:buClr>
              <a:buSzPts val="1100"/>
              <a:buFont typeface="Arial"/>
              <a:buNone/>
            </a:pPr>
            <a:r>
              <a:rPr lang="en-US" sz="1050">
                <a:solidFill>
                  <a:srgbClr val="E2E2E5"/>
                </a:solidFill>
                <a:highlight>
                  <a:srgbClr val="191919"/>
                </a:highlight>
              </a:rPr>
              <a:t>&gt;</a:t>
            </a:r>
            <a:endParaRPr sz="1050">
              <a:solidFill>
                <a:srgbClr val="E2E2E5"/>
              </a:solidFill>
              <a:highlight>
                <a:srgbClr val="191919"/>
              </a:highlight>
            </a:endParaRPr>
          </a:p>
          <a:p>
            <a:pPr indent="0" lvl="0" marL="0" rtl="0" algn="l">
              <a:spcBef>
                <a:spcPts val="0"/>
              </a:spcBef>
              <a:spcAft>
                <a:spcPts val="0"/>
              </a:spcAft>
              <a:buClr>
                <a:schemeClr val="dk1"/>
              </a:buClr>
              <a:buSzPts val="1100"/>
              <a:buFont typeface="Arial"/>
              <a:buNone/>
            </a:pPr>
            <a:r>
              <a:rPr lang="en-US" sz="1050">
                <a:solidFill>
                  <a:srgbClr val="E2E2E5"/>
                </a:solidFill>
                <a:highlight>
                  <a:srgbClr val="191919"/>
                </a:highlight>
              </a:rPr>
              <a:t>&gt; A **Mediano Plazo**, realizaremos la presentación ejecutiva ante la Gerencia de Planta para oficializar la entrega.</a:t>
            </a:r>
            <a:endParaRPr sz="1050">
              <a:solidFill>
                <a:srgbClr val="E2E2E5"/>
              </a:solidFill>
              <a:highlight>
                <a:srgbClr val="191919"/>
              </a:highlight>
            </a:endParaRPr>
          </a:p>
          <a:p>
            <a:pPr indent="0" lvl="0" marL="0" rtl="0" algn="l">
              <a:spcBef>
                <a:spcPts val="0"/>
              </a:spcBef>
              <a:spcAft>
                <a:spcPts val="0"/>
              </a:spcAft>
              <a:buClr>
                <a:schemeClr val="dk1"/>
              </a:buClr>
              <a:buSzPts val="1100"/>
              <a:buFont typeface="Arial"/>
              <a:buNone/>
            </a:pPr>
            <a:r>
              <a:rPr lang="en-US" sz="1050">
                <a:solidFill>
                  <a:srgbClr val="E2E2E5"/>
                </a:solidFill>
                <a:highlight>
                  <a:srgbClr val="191919"/>
                </a:highlight>
              </a:rPr>
              <a:t>&gt;</a:t>
            </a:r>
            <a:endParaRPr sz="1050">
              <a:solidFill>
                <a:srgbClr val="E2E2E5"/>
              </a:solidFill>
              <a:highlight>
                <a:srgbClr val="191919"/>
              </a:highlight>
            </a:endParaRPr>
          </a:p>
          <a:p>
            <a:pPr indent="0" lvl="0" marL="0" rtl="0" algn="l">
              <a:spcBef>
                <a:spcPts val="0"/>
              </a:spcBef>
              <a:spcAft>
                <a:spcPts val="0"/>
              </a:spcAft>
              <a:buClr>
                <a:schemeClr val="dk1"/>
              </a:buClr>
              <a:buSzPts val="1100"/>
              <a:buFont typeface="Arial"/>
              <a:buNone/>
            </a:pPr>
            <a:r>
              <a:rPr lang="en-US" sz="1050">
                <a:solidFill>
                  <a:srgbClr val="E2E2E5"/>
                </a:solidFill>
                <a:highlight>
                  <a:srgbClr val="191919"/>
                </a:highlight>
              </a:rPr>
              <a:t>&gt; Y finalmente, para la **Fase 2**, nos enfocaremos en dimensionar el presupuesto y la infraestructura necesaria para el despliegue productivo y el soporte a largo plazo."</a:t>
            </a:r>
            <a:endParaRPr/>
          </a:p>
          <a:p>
            <a:pPr indent="0" lvl="0" marL="0" rtl="0" algn="l">
              <a:spcBef>
                <a:spcPts val="0"/>
              </a:spcBef>
              <a:spcAft>
                <a:spcPts val="0"/>
              </a:spcAft>
              <a:buNone/>
            </a:pPr>
            <a:r>
              <a:t/>
            </a:r>
            <a:endParaRPr/>
          </a:p>
        </p:txBody>
      </p:sp>
      <p:sp>
        <p:nvSpPr>
          <p:cNvPr id="881" name="Google Shape;881;g3ad4688def9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g3ad4688def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g3ad4688def9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Para concluir...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Si algo me llevo de este Capstone, es haber logrado **conectar** una arquitectura técnica robusta con las necesidades **reales** de una industria.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En este proceso, aprendí que nuestro trabajo no es solo escribir código; es saber **transformar datos crudos en valor real** para el cliente.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Este proyecto marca mi transición definitiva de estudiante a profesional. Me ha demostrado que hoy cuento con las herramientas necesarias, no solo para programar, sino para **diseñar soluciones tecnológicas** que generan un impacto positivo y medible en el negocio.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Muchas gracias."</a:t>
            </a:r>
            <a:endParaRPr/>
          </a:p>
          <a:p>
            <a:pPr indent="0" lvl="0" marL="0" rtl="0" algn="l">
              <a:spcBef>
                <a:spcPts val="0"/>
              </a:spcBef>
              <a:spcAft>
                <a:spcPts val="0"/>
              </a:spcAft>
              <a:buNone/>
            </a:pPr>
            <a:r>
              <a:t/>
            </a:r>
            <a:endParaRPr/>
          </a:p>
        </p:txBody>
      </p:sp>
      <p:sp>
        <p:nvSpPr>
          <p:cNvPr id="930" name="Google Shape;930;p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_1">
    <p:spTree>
      <p:nvGrpSpPr>
        <p:cNvPr id="60" name="Shape 60"/>
        <p:cNvGrpSpPr/>
        <p:nvPr/>
      </p:nvGrpSpPr>
      <p:grpSpPr>
        <a:xfrm>
          <a:off x="0" y="0"/>
          <a:ext cx="0" cy="0"/>
          <a:chOff x="0" y="0"/>
          <a:chExt cx="0" cy="0"/>
        </a:xfrm>
      </p:grpSpPr>
      <p:sp>
        <p:nvSpPr>
          <p:cNvPr id="61" name="Google Shape;61;p13"/>
          <p:cNvSpPr txBox="1"/>
          <p:nvPr>
            <p:ph type="title"/>
          </p:nvPr>
        </p:nvSpPr>
        <p:spPr>
          <a:xfrm>
            <a:off x="713160" y="539640"/>
            <a:ext cx="4807200" cy="2003700"/>
          </a:xfrm>
          <a:prstGeom prst="rect">
            <a:avLst/>
          </a:prstGeom>
          <a:noFill/>
          <a:ln>
            <a:noFill/>
          </a:ln>
        </p:spPr>
        <p:txBody>
          <a:bodyPr anchorCtr="0" anchor="ctr" bIns="91425" lIns="91425" spcFirstLastPara="1" rIns="91425" wrap="square" tIns="91425">
            <a:noAutofit/>
          </a:bodyPr>
          <a:lstStyle>
            <a:lvl1pPr lvl="0" marR="0" algn="l">
              <a:spcBef>
                <a:spcPts val="0"/>
              </a:spcBef>
              <a:spcAft>
                <a:spcPts val="0"/>
              </a:spcAft>
              <a:buSzPts val="2800"/>
              <a:buNone/>
              <a:defRPr b="0" i="0" sz="1800" u="none" cap="none" strike="noStrike"/>
            </a:lvl1pPr>
            <a:lvl2pPr lvl="1" marR="0" algn="l">
              <a:spcBef>
                <a:spcPts val="0"/>
              </a:spcBef>
              <a:spcAft>
                <a:spcPts val="0"/>
              </a:spcAft>
              <a:buSzPts val="2800"/>
              <a:buNone/>
              <a:defRPr b="0" i="0" sz="1800" u="none" cap="none" strike="noStrike"/>
            </a:lvl2pPr>
            <a:lvl3pPr lvl="2" marR="0" algn="l">
              <a:spcBef>
                <a:spcPts val="0"/>
              </a:spcBef>
              <a:spcAft>
                <a:spcPts val="0"/>
              </a:spcAft>
              <a:buSzPts val="2800"/>
              <a:buNone/>
              <a:defRPr b="0" i="0" sz="1800" u="none" cap="none" strike="noStrike"/>
            </a:lvl3pPr>
            <a:lvl4pPr lvl="3" marR="0" algn="l">
              <a:spcBef>
                <a:spcPts val="0"/>
              </a:spcBef>
              <a:spcAft>
                <a:spcPts val="0"/>
              </a:spcAft>
              <a:buSzPts val="2800"/>
              <a:buNone/>
              <a:defRPr b="0" i="0" sz="1800" u="none" cap="none" strike="noStrike"/>
            </a:lvl4pPr>
            <a:lvl5pPr lvl="4" marR="0" algn="l">
              <a:spcBef>
                <a:spcPts val="0"/>
              </a:spcBef>
              <a:spcAft>
                <a:spcPts val="0"/>
              </a:spcAft>
              <a:buSzPts val="2800"/>
              <a:buNone/>
              <a:defRPr b="0" i="0" sz="1800" u="none" cap="none" strike="noStrike"/>
            </a:lvl5pPr>
            <a:lvl6pPr lvl="5" marR="0" algn="l">
              <a:spcBef>
                <a:spcPts val="0"/>
              </a:spcBef>
              <a:spcAft>
                <a:spcPts val="0"/>
              </a:spcAft>
              <a:buSzPts val="2800"/>
              <a:buNone/>
              <a:defRPr b="0" i="0" sz="1800" u="none" cap="none" strike="noStrike"/>
            </a:lvl6pPr>
            <a:lvl7pPr lvl="6" marR="0" algn="l">
              <a:spcBef>
                <a:spcPts val="0"/>
              </a:spcBef>
              <a:spcAft>
                <a:spcPts val="0"/>
              </a:spcAft>
              <a:buSzPts val="2800"/>
              <a:buNone/>
              <a:defRPr b="0" i="0" sz="1800" u="none" cap="none" strike="noStrike"/>
            </a:lvl7pPr>
            <a:lvl8pPr lvl="7" marR="0" algn="l">
              <a:spcBef>
                <a:spcPts val="0"/>
              </a:spcBef>
              <a:spcAft>
                <a:spcPts val="0"/>
              </a:spcAft>
              <a:buSzPts val="2800"/>
              <a:buNone/>
              <a:defRPr b="0" i="0" sz="1800" u="none" cap="none" strike="noStrike"/>
            </a:lvl8pPr>
            <a:lvl9pPr lvl="8" marR="0" algn="l">
              <a:spcBef>
                <a:spcPts val="0"/>
              </a:spcBef>
              <a:spcAft>
                <a:spcPts val="0"/>
              </a:spcAft>
              <a:buSzPts val="2800"/>
              <a:buNone/>
              <a:defRPr b="0" i="0" sz="1800" u="none" cap="none" strike="noStrike"/>
            </a:lvl9pPr>
          </a:lstStyle>
          <a:p/>
        </p:txBody>
      </p:sp>
      <p:sp>
        <p:nvSpPr>
          <p:cNvPr id="62" name="Google Shape;62;p13"/>
          <p:cNvSpPr txBox="1"/>
          <p:nvPr>
            <p:ph idx="1" type="body"/>
          </p:nvPr>
        </p:nvSpPr>
        <p:spPr>
          <a:xfrm>
            <a:off x="5654880" y="1312560"/>
            <a:ext cx="2851800" cy="2851800"/>
          </a:xfrm>
          <a:prstGeom prst="rect">
            <a:avLst/>
          </a:prstGeom>
          <a:noFill/>
          <a:ln cap="flat" cmpd="sng" w="76300">
            <a:solidFill>
              <a:schemeClr val="lt1"/>
            </a:solidFill>
            <a:prstDash val="solid"/>
            <a:round/>
            <a:headEnd len="sm" w="sm" type="none"/>
            <a:tailEnd len="sm" w="sm" type="none"/>
          </a:ln>
        </p:spPr>
        <p:txBody>
          <a:bodyPr anchorCtr="0" anchor="t" bIns="45000" lIns="90000" spcFirstLastPara="1" rIns="90000" wrap="square" tIns="45000">
            <a:normAutofit/>
          </a:bodyPr>
          <a:lstStyle>
            <a:lvl1pPr indent="-228600" lvl="0" marL="457200" marR="0" algn="l">
              <a:spcBef>
                <a:spcPts val="0"/>
              </a:spcBef>
              <a:spcAft>
                <a:spcPts val="0"/>
              </a:spcAft>
              <a:buSzPts val="1300"/>
              <a:buNone/>
              <a:defRPr b="0" i="0" sz="1800" u="none" cap="none" strike="noStrike"/>
            </a:lvl1pPr>
            <a:lvl2pPr indent="-228600" lvl="1" marL="914400" marR="0" algn="l">
              <a:spcBef>
                <a:spcPts val="1200"/>
              </a:spcBef>
              <a:spcAft>
                <a:spcPts val="0"/>
              </a:spcAft>
              <a:buSzPts val="1100"/>
              <a:buNone/>
              <a:defRPr b="0" i="0" sz="1800" u="none" cap="none" strike="noStrike"/>
            </a:lvl2pPr>
            <a:lvl3pPr indent="-228600" lvl="2" marL="1371600" marR="0" algn="l">
              <a:spcBef>
                <a:spcPts val="1200"/>
              </a:spcBef>
              <a:spcAft>
                <a:spcPts val="0"/>
              </a:spcAft>
              <a:buSzPts val="1100"/>
              <a:buNone/>
              <a:defRPr b="0" i="0" sz="1800" u="none" cap="none" strike="noStrike"/>
            </a:lvl3pPr>
            <a:lvl4pPr indent="-228600" lvl="3" marL="1828800" marR="0" algn="l">
              <a:spcBef>
                <a:spcPts val="1200"/>
              </a:spcBef>
              <a:spcAft>
                <a:spcPts val="0"/>
              </a:spcAft>
              <a:buSzPts val="1100"/>
              <a:buNone/>
              <a:defRPr b="0" i="0" sz="1800" u="none" cap="none" strike="noStrike"/>
            </a:lvl4pPr>
            <a:lvl5pPr indent="-228600" lvl="4" marL="2286000" marR="0" algn="l">
              <a:spcBef>
                <a:spcPts val="1200"/>
              </a:spcBef>
              <a:spcAft>
                <a:spcPts val="0"/>
              </a:spcAft>
              <a:buSzPts val="1100"/>
              <a:buNone/>
              <a:defRPr b="0" i="0" sz="1800" u="none" cap="none" strike="noStrike"/>
            </a:lvl5pPr>
            <a:lvl6pPr indent="-228600" lvl="5" marL="2743200" marR="0" algn="l">
              <a:spcBef>
                <a:spcPts val="1200"/>
              </a:spcBef>
              <a:spcAft>
                <a:spcPts val="0"/>
              </a:spcAft>
              <a:buSzPts val="1100"/>
              <a:buNone/>
              <a:defRPr b="0" i="0" sz="1800" u="none" cap="none" strike="noStrike"/>
            </a:lvl6pPr>
            <a:lvl7pPr indent="-228600" lvl="6" marL="3200400" marR="0" algn="l">
              <a:spcBef>
                <a:spcPts val="1200"/>
              </a:spcBef>
              <a:spcAft>
                <a:spcPts val="0"/>
              </a:spcAft>
              <a:buSzPts val="1100"/>
              <a:buNone/>
              <a:defRPr b="0" i="0" sz="1800" u="none" cap="none" strike="noStrike"/>
            </a:lvl7pPr>
            <a:lvl8pPr indent="-228600" lvl="7" marL="3657600" marR="0" algn="l">
              <a:spcBef>
                <a:spcPts val="1200"/>
              </a:spcBef>
              <a:spcAft>
                <a:spcPts val="0"/>
              </a:spcAft>
              <a:buSzPts val="1100"/>
              <a:buNone/>
              <a:defRPr b="0" i="0" sz="1800" u="none" cap="none" strike="noStrike"/>
            </a:lvl8pPr>
            <a:lvl9pPr indent="-228600" lvl="8" marL="4114800" marR="0" algn="l">
              <a:spcBef>
                <a:spcPts val="1200"/>
              </a:spcBef>
              <a:spcAft>
                <a:spcPts val="1200"/>
              </a:spcAft>
              <a:buSzPts val="1100"/>
              <a:buNone/>
              <a:defRPr b="0" i="0" sz="1800" u="none" cap="none" strike="noStrike"/>
            </a:lvl9pPr>
          </a:lstStyle>
          <a:p/>
        </p:txBody>
      </p:sp>
      <p:sp>
        <p:nvSpPr>
          <p:cNvPr id="63" name="Google Shape;63;p13"/>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1_1_TITLEANDBULLETS_J">
  <p:cSld name="TITLE_AND_BODY_2_1_1_1_1_1_2">
    <p:spTree>
      <p:nvGrpSpPr>
        <p:cNvPr id="64" name="Shape 64"/>
        <p:cNvGrpSpPr/>
        <p:nvPr/>
      </p:nvGrpSpPr>
      <p:grpSpPr>
        <a:xfrm>
          <a:off x="0" y="0"/>
          <a:ext cx="0" cy="0"/>
          <a:chOff x="0" y="0"/>
          <a:chExt cx="0" cy="0"/>
        </a:xfrm>
      </p:grpSpPr>
      <p:sp>
        <p:nvSpPr>
          <p:cNvPr id="65" name="Google Shape;65;p14"/>
          <p:cNvSpPr/>
          <p:nvPr>
            <p:ph idx="2" type="pic"/>
          </p:nvPr>
        </p:nvSpPr>
        <p:spPr>
          <a:xfrm>
            <a:off x="457200" y="1519300"/>
            <a:ext cx="3090600" cy="3090600"/>
          </a:xfrm>
          <a:prstGeom prst="roundRect">
            <a:avLst>
              <a:gd fmla="val 50000" name="adj"/>
            </a:avLst>
          </a:prstGeom>
          <a:noFill/>
          <a:ln>
            <a:noFill/>
          </a:ln>
        </p:spPr>
      </p:sp>
      <p:sp>
        <p:nvSpPr>
          <p:cNvPr id="66" name="Google Shape;66;p14"/>
          <p:cNvSpPr txBox="1"/>
          <p:nvPr>
            <p:ph type="title"/>
          </p:nvPr>
        </p:nvSpPr>
        <p:spPr>
          <a:xfrm>
            <a:off x="507450" y="331400"/>
            <a:ext cx="8129100" cy="796200"/>
          </a:xfrm>
          <a:prstGeom prst="rect">
            <a:avLst/>
          </a:prstGeom>
        </p:spPr>
        <p:txBody>
          <a:bodyPr anchorCtr="0" anchor="ctr" bIns="0" lIns="0" spcFirstLastPara="1" rIns="0" wrap="square" tIns="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 name="Google Shape;67;p14"/>
          <p:cNvSpPr txBox="1"/>
          <p:nvPr>
            <p:ph idx="1" type="body"/>
          </p:nvPr>
        </p:nvSpPr>
        <p:spPr>
          <a:xfrm>
            <a:off x="3854182" y="1519301"/>
            <a:ext cx="4782300" cy="3090600"/>
          </a:xfrm>
          <a:prstGeom prst="rect">
            <a:avLst/>
          </a:prstGeom>
        </p:spPr>
        <p:txBody>
          <a:bodyPr anchorCtr="0" anchor="t" bIns="0" lIns="0" spcFirstLastPara="1" rIns="0" wrap="square" tIns="0">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14"/>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pos="288">
          <p15:clr>
            <a:srgbClr val="E46962"/>
          </p15:clr>
        </p15:guide>
        <p15:guide id="2" orient="horz" pos="288">
          <p15:clr>
            <a:srgbClr val="E46962"/>
          </p15:clr>
        </p15:guide>
        <p15:guide id="3" orient="horz" pos="2880">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
  <p:cSld name="SECTION_HEADER_1">
    <p:spTree>
      <p:nvGrpSpPr>
        <p:cNvPr id="69" name="Shape 69"/>
        <p:cNvGrpSpPr/>
        <p:nvPr/>
      </p:nvGrpSpPr>
      <p:grpSpPr>
        <a:xfrm>
          <a:off x="0" y="0"/>
          <a:ext cx="0" cy="0"/>
          <a:chOff x="0" y="0"/>
          <a:chExt cx="0" cy="0"/>
        </a:xfrm>
      </p:grpSpPr>
      <p:sp>
        <p:nvSpPr>
          <p:cNvPr id="70" name="Google Shape;70;p15"/>
          <p:cNvSpPr txBox="1"/>
          <p:nvPr>
            <p:ph type="title"/>
          </p:nvPr>
        </p:nvSpPr>
        <p:spPr>
          <a:xfrm>
            <a:off x="733680" y="1967760"/>
            <a:ext cx="4410600" cy="1366500"/>
          </a:xfrm>
          <a:prstGeom prst="rect">
            <a:avLst/>
          </a:prstGeom>
          <a:noFill/>
          <a:ln>
            <a:noFill/>
          </a:ln>
        </p:spPr>
        <p:txBody>
          <a:bodyPr anchorCtr="0" anchor="b" bIns="91425" lIns="91425" spcFirstLastPara="1" rIns="91425" wrap="square" tIns="91425">
            <a:noAutofit/>
          </a:bodyPr>
          <a:lstStyle>
            <a:lvl1pPr lvl="0" marR="0" algn="l">
              <a:spcBef>
                <a:spcPts val="0"/>
              </a:spcBef>
              <a:spcAft>
                <a:spcPts val="0"/>
              </a:spcAft>
              <a:buSzPts val="2800"/>
              <a:buNone/>
              <a:defRPr b="0" i="0" sz="1800" u="none" cap="none" strike="noStrike"/>
            </a:lvl1pPr>
            <a:lvl2pPr lvl="1" marR="0" algn="l">
              <a:spcBef>
                <a:spcPts val="0"/>
              </a:spcBef>
              <a:spcAft>
                <a:spcPts val="0"/>
              </a:spcAft>
              <a:buSzPts val="2800"/>
              <a:buNone/>
              <a:defRPr b="0" i="0" sz="1800" u="none" cap="none" strike="noStrike"/>
            </a:lvl2pPr>
            <a:lvl3pPr lvl="2" marR="0" algn="l">
              <a:spcBef>
                <a:spcPts val="0"/>
              </a:spcBef>
              <a:spcAft>
                <a:spcPts val="0"/>
              </a:spcAft>
              <a:buSzPts val="2800"/>
              <a:buNone/>
              <a:defRPr b="0" i="0" sz="1800" u="none" cap="none" strike="noStrike"/>
            </a:lvl3pPr>
            <a:lvl4pPr lvl="3" marR="0" algn="l">
              <a:spcBef>
                <a:spcPts val="0"/>
              </a:spcBef>
              <a:spcAft>
                <a:spcPts val="0"/>
              </a:spcAft>
              <a:buSzPts val="2800"/>
              <a:buNone/>
              <a:defRPr b="0" i="0" sz="1800" u="none" cap="none" strike="noStrike"/>
            </a:lvl4pPr>
            <a:lvl5pPr lvl="4" marR="0" algn="l">
              <a:spcBef>
                <a:spcPts val="0"/>
              </a:spcBef>
              <a:spcAft>
                <a:spcPts val="0"/>
              </a:spcAft>
              <a:buSzPts val="2800"/>
              <a:buNone/>
              <a:defRPr b="0" i="0" sz="1800" u="none" cap="none" strike="noStrike"/>
            </a:lvl5pPr>
            <a:lvl6pPr lvl="5" marR="0" algn="l">
              <a:spcBef>
                <a:spcPts val="0"/>
              </a:spcBef>
              <a:spcAft>
                <a:spcPts val="0"/>
              </a:spcAft>
              <a:buSzPts val="2800"/>
              <a:buNone/>
              <a:defRPr b="0" i="0" sz="1800" u="none" cap="none" strike="noStrike"/>
            </a:lvl6pPr>
            <a:lvl7pPr lvl="6" marR="0" algn="l">
              <a:spcBef>
                <a:spcPts val="0"/>
              </a:spcBef>
              <a:spcAft>
                <a:spcPts val="0"/>
              </a:spcAft>
              <a:buSzPts val="2800"/>
              <a:buNone/>
              <a:defRPr b="0" i="0" sz="1800" u="none" cap="none" strike="noStrike"/>
            </a:lvl7pPr>
            <a:lvl8pPr lvl="7" marR="0" algn="l">
              <a:spcBef>
                <a:spcPts val="0"/>
              </a:spcBef>
              <a:spcAft>
                <a:spcPts val="0"/>
              </a:spcAft>
              <a:buSzPts val="2800"/>
              <a:buNone/>
              <a:defRPr b="0" i="0" sz="1800" u="none" cap="none" strike="noStrike"/>
            </a:lvl8pPr>
            <a:lvl9pPr lvl="8" marR="0" algn="l">
              <a:spcBef>
                <a:spcPts val="0"/>
              </a:spcBef>
              <a:spcAft>
                <a:spcPts val="0"/>
              </a:spcAft>
              <a:buSzPts val="2800"/>
              <a:buNone/>
              <a:defRPr b="0" i="0" sz="1800" u="none" cap="none" strike="noStrike"/>
            </a:lvl9pPr>
          </a:lstStyle>
          <a:p/>
        </p:txBody>
      </p:sp>
      <p:sp>
        <p:nvSpPr>
          <p:cNvPr id="71" name="Google Shape;71;p15"/>
          <p:cNvSpPr txBox="1"/>
          <p:nvPr>
            <p:ph idx="2" type="title"/>
          </p:nvPr>
        </p:nvSpPr>
        <p:spPr>
          <a:xfrm>
            <a:off x="789480" y="539640"/>
            <a:ext cx="1046400" cy="1335000"/>
          </a:xfrm>
          <a:prstGeom prst="rect">
            <a:avLst/>
          </a:prstGeom>
          <a:solidFill>
            <a:schemeClr val="lt2"/>
          </a:solidFill>
          <a:ln>
            <a:noFill/>
          </a:ln>
        </p:spPr>
        <p:txBody>
          <a:bodyPr anchorCtr="0" anchor="ctr" bIns="91425" lIns="91425" spcFirstLastPara="1" rIns="91425" wrap="square" tIns="91425">
            <a:noAutofit/>
          </a:bodyPr>
          <a:lstStyle>
            <a:lvl1pPr lvl="0" marR="0" algn="l">
              <a:spcBef>
                <a:spcPts val="0"/>
              </a:spcBef>
              <a:spcAft>
                <a:spcPts val="0"/>
              </a:spcAft>
              <a:buSzPts val="2800"/>
              <a:buNone/>
              <a:defRPr b="0" i="0" sz="1800" u="none" cap="none" strike="noStrike"/>
            </a:lvl1pPr>
            <a:lvl2pPr lvl="1" marR="0" algn="l">
              <a:spcBef>
                <a:spcPts val="0"/>
              </a:spcBef>
              <a:spcAft>
                <a:spcPts val="0"/>
              </a:spcAft>
              <a:buSzPts val="2800"/>
              <a:buNone/>
              <a:defRPr b="0" i="0" sz="1800" u="none" cap="none" strike="noStrike"/>
            </a:lvl2pPr>
            <a:lvl3pPr lvl="2" marR="0" algn="l">
              <a:spcBef>
                <a:spcPts val="0"/>
              </a:spcBef>
              <a:spcAft>
                <a:spcPts val="0"/>
              </a:spcAft>
              <a:buSzPts val="2800"/>
              <a:buNone/>
              <a:defRPr b="0" i="0" sz="1800" u="none" cap="none" strike="noStrike"/>
            </a:lvl3pPr>
            <a:lvl4pPr lvl="3" marR="0" algn="l">
              <a:spcBef>
                <a:spcPts val="0"/>
              </a:spcBef>
              <a:spcAft>
                <a:spcPts val="0"/>
              </a:spcAft>
              <a:buSzPts val="2800"/>
              <a:buNone/>
              <a:defRPr b="0" i="0" sz="1800" u="none" cap="none" strike="noStrike"/>
            </a:lvl4pPr>
            <a:lvl5pPr lvl="4" marR="0" algn="l">
              <a:spcBef>
                <a:spcPts val="0"/>
              </a:spcBef>
              <a:spcAft>
                <a:spcPts val="0"/>
              </a:spcAft>
              <a:buSzPts val="2800"/>
              <a:buNone/>
              <a:defRPr b="0" i="0" sz="1800" u="none" cap="none" strike="noStrike"/>
            </a:lvl5pPr>
            <a:lvl6pPr lvl="5" marR="0" algn="l">
              <a:spcBef>
                <a:spcPts val="0"/>
              </a:spcBef>
              <a:spcAft>
                <a:spcPts val="0"/>
              </a:spcAft>
              <a:buSzPts val="2800"/>
              <a:buNone/>
              <a:defRPr b="0" i="0" sz="1800" u="none" cap="none" strike="noStrike"/>
            </a:lvl6pPr>
            <a:lvl7pPr lvl="6" marR="0" algn="l">
              <a:spcBef>
                <a:spcPts val="0"/>
              </a:spcBef>
              <a:spcAft>
                <a:spcPts val="0"/>
              </a:spcAft>
              <a:buSzPts val="2800"/>
              <a:buNone/>
              <a:defRPr b="0" i="0" sz="1800" u="none" cap="none" strike="noStrike"/>
            </a:lvl7pPr>
            <a:lvl8pPr lvl="7" marR="0" algn="l">
              <a:spcBef>
                <a:spcPts val="0"/>
              </a:spcBef>
              <a:spcAft>
                <a:spcPts val="0"/>
              </a:spcAft>
              <a:buSzPts val="2800"/>
              <a:buNone/>
              <a:defRPr b="0" i="0" sz="1800" u="none" cap="none" strike="noStrike"/>
            </a:lvl8pPr>
            <a:lvl9pPr lvl="8" marR="0" algn="l">
              <a:spcBef>
                <a:spcPts val="0"/>
              </a:spcBef>
              <a:spcAft>
                <a:spcPts val="0"/>
              </a:spcAft>
              <a:buSzPts val="2800"/>
              <a:buNone/>
              <a:defRPr b="0" i="0" sz="1800" u="none" cap="none" strike="noStrike"/>
            </a:lvl9pPr>
          </a:lstStyle>
          <a:p/>
        </p:txBody>
      </p:sp>
      <p:sp>
        <p:nvSpPr>
          <p:cNvPr id="72" name="Google Shape;72;p15"/>
          <p:cNvSpPr txBox="1"/>
          <p:nvPr>
            <p:ph idx="1" type="body"/>
          </p:nvPr>
        </p:nvSpPr>
        <p:spPr>
          <a:xfrm>
            <a:off x="5397480" y="1055160"/>
            <a:ext cx="3033000" cy="3033000"/>
          </a:xfrm>
          <a:prstGeom prst="rect">
            <a:avLst/>
          </a:prstGeom>
          <a:noFill/>
          <a:ln cap="flat" cmpd="sng" w="38150">
            <a:solidFill>
              <a:schemeClr val="lt1"/>
            </a:solidFill>
            <a:prstDash val="solid"/>
            <a:round/>
            <a:headEnd len="sm" w="sm" type="none"/>
            <a:tailEnd len="sm" w="sm" type="none"/>
          </a:ln>
        </p:spPr>
        <p:txBody>
          <a:bodyPr anchorCtr="0" anchor="t" bIns="45000" lIns="90000" spcFirstLastPara="1" rIns="90000" wrap="square" tIns="45000">
            <a:normAutofit/>
          </a:bodyPr>
          <a:lstStyle>
            <a:lvl1pPr indent="-228600" lvl="0" marL="457200" marR="0" algn="l">
              <a:spcBef>
                <a:spcPts val="0"/>
              </a:spcBef>
              <a:spcAft>
                <a:spcPts val="0"/>
              </a:spcAft>
              <a:buSzPts val="1300"/>
              <a:buNone/>
              <a:defRPr b="0" i="0" sz="1800" u="none" cap="none" strike="noStrike"/>
            </a:lvl1pPr>
            <a:lvl2pPr indent="-228600" lvl="1" marL="914400" marR="0" algn="l">
              <a:spcBef>
                <a:spcPts val="1200"/>
              </a:spcBef>
              <a:spcAft>
                <a:spcPts val="0"/>
              </a:spcAft>
              <a:buSzPts val="1100"/>
              <a:buNone/>
              <a:defRPr b="0" i="0" sz="1800" u="none" cap="none" strike="noStrike"/>
            </a:lvl2pPr>
            <a:lvl3pPr indent="-228600" lvl="2" marL="1371600" marR="0" algn="l">
              <a:spcBef>
                <a:spcPts val="1200"/>
              </a:spcBef>
              <a:spcAft>
                <a:spcPts val="0"/>
              </a:spcAft>
              <a:buSzPts val="1100"/>
              <a:buNone/>
              <a:defRPr b="0" i="0" sz="1800" u="none" cap="none" strike="noStrike"/>
            </a:lvl3pPr>
            <a:lvl4pPr indent="-228600" lvl="3" marL="1828800" marR="0" algn="l">
              <a:spcBef>
                <a:spcPts val="1200"/>
              </a:spcBef>
              <a:spcAft>
                <a:spcPts val="0"/>
              </a:spcAft>
              <a:buSzPts val="1100"/>
              <a:buNone/>
              <a:defRPr b="0" i="0" sz="1800" u="none" cap="none" strike="noStrike"/>
            </a:lvl4pPr>
            <a:lvl5pPr indent="-228600" lvl="4" marL="2286000" marR="0" algn="l">
              <a:spcBef>
                <a:spcPts val="1200"/>
              </a:spcBef>
              <a:spcAft>
                <a:spcPts val="0"/>
              </a:spcAft>
              <a:buSzPts val="1100"/>
              <a:buNone/>
              <a:defRPr b="0" i="0" sz="1800" u="none" cap="none" strike="noStrike"/>
            </a:lvl5pPr>
            <a:lvl6pPr indent="-228600" lvl="5" marL="2743200" marR="0" algn="l">
              <a:spcBef>
                <a:spcPts val="1200"/>
              </a:spcBef>
              <a:spcAft>
                <a:spcPts val="0"/>
              </a:spcAft>
              <a:buSzPts val="1100"/>
              <a:buNone/>
              <a:defRPr b="0" i="0" sz="1800" u="none" cap="none" strike="noStrike"/>
            </a:lvl6pPr>
            <a:lvl7pPr indent="-228600" lvl="6" marL="3200400" marR="0" algn="l">
              <a:spcBef>
                <a:spcPts val="1200"/>
              </a:spcBef>
              <a:spcAft>
                <a:spcPts val="0"/>
              </a:spcAft>
              <a:buSzPts val="1100"/>
              <a:buNone/>
              <a:defRPr b="0" i="0" sz="1800" u="none" cap="none" strike="noStrike"/>
            </a:lvl7pPr>
            <a:lvl8pPr indent="-228600" lvl="7" marL="3657600" marR="0" algn="l">
              <a:spcBef>
                <a:spcPts val="1200"/>
              </a:spcBef>
              <a:spcAft>
                <a:spcPts val="0"/>
              </a:spcAft>
              <a:buSzPts val="1100"/>
              <a:buNone/>
              <a:defRPr b="0" i="0" sz="1800" u="none" cap="none" strike="noStrike"/>
            </a:lvl8pPr>
            <a:lvl9pPr indent="-228600" lvl="8" marL="4114800" marR="0" algn="l">
              <a:spcBef>
                <a:spcPts val="1200"/>
              </a:spcBef>
              <a:spcAft>
                <a:spcPts val="1200"/>
              </a:spcAft>
              <a:buSzPts val="1100"/>
              <a:buNone/>
              <a:defRPr b="0" i="0" sz="1800" u="none" cap="none" strike="noStrike"/>
            </a:lvl9pPr>
          </a:lstStyle>
          <a:p/>
        </p:txBody>
      </p:sp>
      <p:grpSp>
        <p:nvGrpSpPr>
          <p:cNvPr id="73" name="Google Shape;73;p15"/>
          <p:cNvGrpSpPr/>
          <p:nvPr/>
        </p:nvGrpSpPr>
        <p:grpSpPr>
          <a:xfrm>
            <a:off x="3660480" y="399960"/>
            <a:ext cx="1309380" cy="257460"/>
            <a:chOff x="3660480" y="399960"/>
            <a:chExt cx="1309380" cy="257460"/>
          </a:xfrm>
        </p:grpSpPr>
        <p:sp>
          <p:nvSpPr>
            <p:cNvPr id="74" name="Google Shape;74;p15"/>
            <p:cNvSpPr/>
            <p:nvPr/>
          </p:nvSpPr>
          <p:spPr>
            <a:xfrm>
              <a:off x="4079880" y="39996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5" name="Google Shape;75;p15"/>
            <p:cNvSpPr/>
            <p:nvPr/>
          </p:nvSpPr>
          <p:spPr>
            <a:xfrm>
              <a:off x="4284000" y="39996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6" name="Google Shape;76;p15"/>
            <p:cNvSpPr/>
            <p:nvPr/>
          </p:nvSpPr>
          <p:spPr>
            <a:xfrm>
              <a:off x="4488120" y="39996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7" name="Google Shape;77;p15"/>
            <p:cNvSpPr/>
            <p:nvPr/>
          </p:nvSpPr>
          <p:spPr>
            <a:xfrm>
              <a:off x="4692240" y="39996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8" name="Google Shape;78;p15"/>
            <p:cNvSpPr/>
            <p:nvPr/>
          </p:nvSpPr>
          <p:spPr>
            <a:xfrm>
              <a:off x="4896360" y="39996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9" name="Google Shape;79;p15"/>
            <p:cNvSpPr/>
            <p:nvPr/>
          </p:nvSpPr>
          <p:spPr>
            <a:xfrm>
              <a:off x="3660480" y="58392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0" name="Google Shape;80;p15"/>
            <p:cNvSpPr/>
            <p:nvPr/>
          </p:nvSpPr>
          <p:spPr>
            <a:xfrm>
              <a:off x="3864240" y="58392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1" name="Google Shape;81;p15"/>
            <p:cNvSpPr/>
            <p:nvPr/>
          </p:nvSpPr>
          <p:spPr>
            <a:xfrm>
              <a:off x="4068360" y="58392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2" name="Google Shape;82;p15"/>
            <p:cNvSpPr/>
            <p:nvPr/>
          </p:nvSpPr>
          <p:spPr>
            <a:xfrm>
              <a:off x="4272480" y="58392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3" name="Google Shape;83;p15"/>
            <p:cNvSpPr/>
            <p:nvPr/>
          </p:nvSpPr>
          <p:spPr>
            <a:xfrm>
              <a:off x="4476600" y="58392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84" name="Google Shape;84;p15"/>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
  <p:cSld name="BLANK_1">
    <p:spTree>
      <p:nvGrpSpPr>
        <p:cNvPr id="85" name="Shape 85"/>
        <p:cNvGrpSpPr/>
        <p:nvPr/>
      </p:nvGrpSpPr>
      <p:grpSpPr>
        <a:xfrm>
          <a:off x="0" y="0"/>
          <a:ext cx="0" cy="0"/>
          <a:chOff x="0" y="0"/>
          <a:chExt cx="0" cy="0"/>
        </a:xfrm>
      </p:grpSpPr>
      <p:sp>
        <p:nvSpPr>
          <p:cNvPr id="86" name="Google Shape;86;p16"/>
          <p:cNvSpPr txBox="1"/>
          <p:nvPr>
            <p:ph type="title"/>
          </p:nvPr>
        </p:nvSpPr>
        <p:spPr>
          <a:xfrm>
            <a:off x="713160" y="1013400"/>
            <a:ext cx="6993600" cy="814800"/>
          </a:xfrm>
          <a:prstGeom prst="rect">
            <a:avLst/>
          </a:prstGeom>
          <a:noFill/>
          <a:ln>
            <a:noFill/>
          </a:ln>
        </p:spPr>
        <p:txBody>
          <a:bodyPr anchorCtr="0" anchor="t" bIns="91425" lIns="91425" spcFirstLastPara="1" rIns="91425" wrap="square" tIns="91425">
            <a:noAutofit/>
          </a:bodyPr>
          <a:lstStyle>
            <a:lvl1pPr lvl="0" marR="0" algn="l">
              <a:spcBef>
                <a:spcPts val="0"/>
              </a:spcBef>
              <a:spcAft>
                <a:spcPts val="0"/>
              </a:spcAft>
              <a:buSzPts val="2800"/>
              <a:buNone/>
              <a:defRPr b="0" i="0" sz="1800" u="none" cap="none" strike="noStrike"/>
            </a:lvl1pPr>
            <a:lvl2pPr lvl="1" marR="0" algn="l">
              <a:spcBef>
                <a:spcPts val="0"/>
              </a:spcBef>
              <a:spcAft>
                <a:spcPts val="0"/>
              </a:spcAft>
              <a:buSzPts val="2800"/>
              <a:buNone/>
              <a:defRPr b="0" i="0" sz="1800" u="none" cap="none" strike="noStrike"/>
            </a:lvl2pPr>
            <a:lvl3pPr lvl="2" marR="0" algn="l">
              <a:spcBef>
                <a:spcPts val="0"/>
              </a:spcBef>
              <a:spcAft>
                <a:spcPts val="0"/>
              </a:spcAft>
              <a:buSzPts val="2800"/>
              <a:buNone/>
              <a:defRPr b="0" i="0" sz="1800" u="none" cap="none" strike="noStrike"/>
            </a:lvl3pPr>
            <a:lvl4pPr lvl="3" marR="0" algn="l">
              <a:spcBef>
                <a:spcPts val="0"/>
              </a:spcBef>
              <a:spcAft>
                <a:spcPts val="0"/>
              </a:spcAft>
              <a:buSzPts val="2800"/>
              <a:buNone/>
              <a:defRPr b="0" i="0" sz="1800" u="none" cap="none" strike="noStrike"/>
            </a:lvl4pPr>
            <a:lvl5pPr lvl="4" marR="0" algn="l">
              <a:spcBef>
                <a:spcPts val="0"/>
              </a:spcBef>
              <a:spcAft>
                <a:spcPts val="0"/>
              </a:spcAft>
              <a:buSzPts val="2800"/>
              <a:buNone/>
              <a:defRPr b="0" i="0" sz="1800" u="none" cap="none" strike="noStrike"/>
            </a:lvl5pPr>
            <a:lvl6pPr lvl="5" marR="0" algn="l">
              <a:spcBef>
                <a:spcPts val="0"/>
              </a:spcBef>
              <a:spcAft>
                <a:spcPts val="0"/>
              </a:spcAft>
              <a:buSzPts val="2800"/>
              <a:buNone/>
              <a:defRPr b="0" i="0" sz="1800" u="none" cap="none" strike="noStrike"/>
            </a:lvl6pPr>
            <a:lvl7pPr lvl="6" marR="0" algn="l">
              <a:spcBef>
                <a:spcPts val="0"/>
              </a:spcBef>
              <a:spcAft>
                <a:spcPts val="0"/>
              </a:spcAft>
              <a:buSzPts val="2800"/>
              <a:buNone/>
              <a:defRPr b="0" i="0" sz="1800" u="none" cap="none" strike="noStrike"/>
            </a:lvl7pPr>
            <a:lvl8pPr lvl="7" marR="0" algn="l">
              <a:spcBef>
                <a:spcPts val="0"/>
              </a:spcBef>
              <a:spcAft>
                <a:spcPts val="0"/>
              </a:spcAft>
              <a:buSzPts val="2800"/>
              <a:buNone/>
              <a:defRPr b="0" i="0" sz="1800" u="none" cap="none" strike="noStrike"/>
            </a:lvl8pPr>
            <a:lvl9pPr lvl="8" marR="0" algn="l">
              <a:spcBef>
                <a:spcPts val="0"/>
              </a:spcBef>
              <a:spcAft>
                <a:spcPts val="0"/>
              </a:spcAft>
              <a:buSzPts val="2800"/>
              <a:buNone/>
              <a:defRPr b="0" i="0" sz="1800" u="none" cap="none" strike="noStrike"/>
            </a:lvl9pPr>
          </a:lstStyle>
          <a:p/>
        </p:txBody>
      </p:sp>
      <p:grpSp>
        <p:nvGrpSpPr>
          <p:cNvPr id="87" name="Google Shape;87;p16"/>
          <p:cNvGrpSpPr/>
          <p:nvPr/>
        </p:nvGrpSpPr>
        <p:grpSpPr>
          <a:xfrm>
            <a:off x="6687300" y="-259020"/>
            <a:ext cx="2946726" cy="5031900"/>
            <a:chOff x="6687300" y="-259020"/>
            <a:chExt cx="2946726" cy="5031900"/>
          </a:xfrm>
        </p:grpSpPr>
        <p:grpSp>
          <p:nvGrpSpPr>
            <p:cNvPr id="88" name="Google Shape;88;p16"/>
            <p:cNvGrpSpPr/>
            <p:nvPr/>
          </p:nvGrpSpPr>
          <p:grpSpPr>
            <a:xfrm>
              <a:off x="7260480" y="4515420"/>
              <a:ext cx="1309740" cy="257460"/>
              <a:chOff x="7260480" y="4515420"/>
              <a:chExt cx="1309740" cy="257460"/>
            </a:xfrm>
          </p:grpSpPr>
          <p:sp>
            <p:nvSpPr>
              <p:cNvPr id="89" name="Google Shape;89;p16"/>
              <p:cNvSpPr/>
              <p:nvPr/>
            </p:nvSpPr>
            <p:spPr>
              <a:xfrm flipH="1" rot="10800000">
                <a:off x="7680240" y="469938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0" name="Google Shape;90;p16"/>
              <p:cNvSpPr/>
              <p:nvPr/>
            </p:nvSpPr>
            <p:spPr>
              <a:xfrm flipH="1" rot="10800000">
                <a:off x="7884360" y="469938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1" name="Google Shape;91;p16"/>
              <p:cNvSpPr/>
              <p:nvPr/>
            </p:nvSpPr>
            <p:spPr>
              <a:xfrm flipH="1" rot="10800000">
                <a:off x="8088480" y="469938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2" name="Google Shape;92;p16"/>
              <p:cNvSpPr/>
              <p:nvPr/>
            </p:nvSpPr>
            <p:spPr>
              <a:xfrm flipH="1" rot="10800000">
                <a:off x="8292600" y="469938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3" name="Google Shape;93;p16"/>
              <p:cNvSpPr/>
              <p:nvPr/>
            </p:nvSpPr>
            <p:spPr>
              <a:xfrm flipH="1" rot="10800000">
                <a:off x="8496720" y="469938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4" name="Google Shape;94;p16"/>
              <p:cNvSpPr/>
              <p:nvPr/>
            </p:nvSpPr>
            <p:spPr>
              <a:xfrm flipH="1" rot="10800000">
                <a:off x="7260480" y="451542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5" name="Google Shape;95;p16"/>
              <p:cNvSpPr/>
              <p:nvPr/>
            </p:nvSpPr>
            <p:spPr>
              <a:xfrm flipH="1" rot="10800000">
                <a:off x="7464600" y="451542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6" name="Google Shape;96;p16"/>
              <p:cNvSpPr/>
              <p:nvPr/>
            </p:nvSpPr>
            <p:spPr>
              <a:xfrm flipH="1" rot="10800000">
                <a:off x="7668720" y="451542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7" name="Google Shape;97;p16"/>
              <p:cNvSpPr/>
              <p:nvPr/>
            </p:nvSpPr>
            <p:spPr>
              <a:xfrm flipH="1" rot="10800000">
                <a:off x="7872840" y="451542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8" name="Google Shape;98;p16"/>
              <p:cNvSpPr/>
              <p:nvPr/>
            </p:nvSpPr>
            <p:spPr>
              <a:xfrm flipH="1" rot="10800000">
                <a:off x="8076960" y="451542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99" name="Google Shape;99;p16"/>
            <p:cNvGrpSpPr/>
            <p:nvPr/>
          </p:nvGrpSpPr>
          <p:grpSpPr>
            <a:xfrm>
              <a:off x="6687300" y="-259020"/>
              <a:ext cx="2946726" cy="2776163"/>
              <a:chOff x="6687300" y="-259020"/>
              <a:chExt cx="2946726" cy="2776163"/>
            </a:xfrm>
          </p:grpSpPr>
          <p:sp>
            <p:nvSpPr>
              <p:cNvPr id="100" name="Google Shape;100;p16"/>
              <p:cNvSpPr/>
              <p:nvPr/>
            </p:nvSpPr>
            <p:spPr>
              <a:xfrm rot="10800000">
                <a:off x="6687300" y="-15000"/>
                <a:ext cx="2456700" cy="24468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1" name="Google Shape;101;p16"/>
              <p:cNvSpPr/>
              <p:nvPr/>
            </p:nvSpPr>
            <p:spPr>
              <a:xfrm flipH="1" rot="-8100410">
                <a:off x="7946238" y="807992"/>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2" name="Google Shape;102;p16"/>
              <p:cNvSpPr/>
              <p:nvPr/>
            </p:nvSpPr>
            <p:spPr>
              <a:xfrm flipH="1" rot="-8100000">
                <a:off x="6856947" y="76255"/>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3" name="Google Shape;103;p16"/>
              <p:cNvSpPr/>
              <p:nvPr/>
            </p:nvSpPr>
            <p:spPr>
              <a:xfrm flipH="1" rot="10800000">
                <a:off x="6962400" y="272280"/>
                <a:ext cx="1309200" cy="1309200"/>
              </a:xfrm>
              <a:prstGeom prst="ellipse">
                <a:avLst/>
              </a:prstGeom>
              <a:noFill/>
              <a:ln cap="flat" cmpd="sng" w="9525">
                <a:solidFill>
                  <a:srgbClr val="F8F8F8"/>
                </a:solidFill>
                <a:prstDash val="lg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4" name="Google Shape;104;p16"/>
              <p:cNvSpPr/>
              <p:nvPr/>
            </p:nvSpPr>
            <p:spPr>
              <a:xfrm flipH="1" rot="-8100410">
                <a:off x="7652166" y="1609564"/>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sp>
        <p:nvSpPr>
          <p:cNvPr id="105" name="Google Shape;105;p16"/>
          <p:cNvSpPr txBox="1"/>
          <p:nvPr>
            <p:ph idx="1" type="body"/>
          </p:nvPr>
        </p:nvSpPr>
        <p:spPr>
          <a:xfrm>
            <a:off x="457200" y="1203480"/>
            <a:ext cx="8229300" cy="2982900"/>
          </a:xfrm>
          <a:prstGeom prst="rect">
            <a:avLst/>
          </a:prstGeom>
          <a:noFill/>
          <a:ln>
            <a:noFill/>
          </a:ln>
        </p:spPr>
        <p:txBody>
          <a:bodyPr anchorCtr="0" anchor="t" bIns="0" lIns="0" spcFirstLastPara="1" rIns="0" wrap="square" tIns="0">
            <a:normAutofit/>
          </a:bodyPr>
          <a:lstStyle>
            <a:lvl1pPr indent="-228600" lvl="0" marL="457200" marR="0" algn="l">
              <a:spcBef>
                <a:spcPts val="0"/>
              </a:spcBef>
              <a:spcAft>
                <a:spcPts val="0"/>
              </a:spcAft>
              <a:buSzPts val="1300"/>
              <a:buNone/>
              <a:defRPr b="0" i="0" sz="1800" u="none" cap="none" strike="noStrike"/>
            </a:lvl1pPr>
            <a:lvl2pPr indent="-228600" lvl="1" marL="914400" marR="0" algn="l">
              <a:spcBef>
                <a:spcPts val="1200"/>
              </a:spcBef>
              <a:spcAft>
                <a:spcPts val="0"/>
              </a:spcAft>
              <a:buSzPts val="1100"/>
              <a:buNone/>
              <a:defRPr b="0" i="0" sz="1800" u="none" cap="none" strike="noStrike"/>
            </a:lvl2pPr>
            <a:lvl3pPr indent="-228600" lvl="2" marL="1371600" marR="0" algn="l">
              <a:spcBef>
                <a:spcPts val="1200"/>
              </a:spcBef>
              <a:spcAft>
                <a:spcPts val="0"/>
              </a:spcAft>
              <a:buSzPts val="1100"/>
              <a:buNone/>
              <a:defRPr b="0" i="0" sz="1800" u="none" cap="none" strike="noStrike"/>
            </a:lvl3pPr>
            <a:lvl4pPr indent="-228600" lvl="3" marL="1828800" marR="0" algn="l">
              <a:spcBef>
                <a:spcPts val="1200"/>
              </a:spcBef>
              <a:spcAft>
                <a:spcPts val="0"/>
              </a:spcAft>
              <a:buSzPts val="1100"/>
              <a:buNone/>
              <a:defRPr b="0" i="0" sz="1800" u="none" cap="none" strike="noStrike"/>
            </a:lvl4pPr>
            <a:lvl5pPr indent="-228600" lvl="4" marL="2286000" marR="0" algn="l">
              <a:spcBef>
                <a:spcPts val="1200"/>
              </a:spcBef>
              <a:spcAft>
                <a:spcPts val="0"/>
              </a:spcAft>
              <a:buSzPts val="1100"/>
              <a:buNone/>
              <a:defRPr b="0" i="0" sz="1800" u="none" cap="none" strike="noStrike"/>
            </a:lvl5pPr>
            <a:lvl6pPr indent="-228600" lvl="5" marL="2743200" marR="0" algn="l">
              <a:spcBef>
                <a:spcPts val="1200"/>
              </a:spcBef>
              <a:spcAft>
                <a:spcPts val="0"/>
              </a:spcAft>
              <a:buSzPts val="1100"/>
              <a:buNone/>
              <a:defRPr b="0" i="0" sz="1800" u="none" cap="none" strike="noStrike"/>
            </a:lvl6pPr>
            <a:lvl7pPr indent="-228600" lvl="6" marL="3200400" marR="0" algn="l">
              <a:spcBef>
                <a:spcPts val="1200"/>
              </a:spcBef>
              <a:spcAft>
                <a:spcPts val="0"/>
              </a:spcAft>
              <a:buSzPts val="1100"/>
              <a:buNone/>
              <a:defRPr b="0" i="0" sz="1800" u="none" cap="none" strike="noStrike"/>
            </a:lvl7pPr>
            <a:lvl8pPr indent="-228600" lvl="7" marL="3657600" marR="0" algn="l">
              <a:spcBef>
                <a:spcPts val="1200"/>
              </a:spcBef>
              <a:spcAft>
                <a:spcPts val="0"/>
              </a:spcAft>
              <a:buSzPts val="1100"/>
              <a:buNone/>
              <a:defRPr b="0" i="0" sz="1800" u="none" cap="none" strike="noStrike"/>
            </a:lvl8pPr>
            <a:lvl9pPr indent="-228600" lvl="8" marL="4114800" marR="0" algn="l">
              <a:spcBef>
                <a:spcPts val="1200"/>
              </a:spcBef>
              <a:spcAft>
                <a:spcPts val="1200"/>
              </a:spcAft>
              <a:buSzPts val="1100"/>
              <a:buNone/>
              <a:defRPr b="0" i="0" sz="1800" u="none" cap="none" strike="noStrike"/>
            </a:lvl9pPr>
          </a:lstStyle>
          <a:p/>
        </p:txBody>
      </p:sp>
      <p:sp>
        <p:nvSpPr>
          <p:cNvPr id="106" name="Google Shape;106;p16"/>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2_1">
  <p:cSld name="CUSTOM_12_1">
    <p:spTree>
      <p:nvGrpSpPr>
        <p:cNvPr id="107" name="Shape 107"/>
        <p:cNvGrpSpPr/>
        <p:nvPr/>
      </p:nvGrpSpPr>
      <p:grpSpPr>
        <a:xfrm>
          <a:off x="0" y="0"/>
          <a:ext cx="0" cy="0"/>
          <a:chOff x="0" y="0"/>
          <a:chExt cx="0" cy="0"/>
        </a:xfrm>
      </p:grpSpPr>
      <p:sp>
        <p:nvSpPr>
          <p:cNvPr id="108" name="Google Shape;108;p17"/>
          <p:cNvSpPr txBox="1"/>
          <p:nvPr>
            <p:ph type="title"/>
          </p:nvPr>
        </p:nvSpPr>
        <p:spPr>
          <a:xfrm>
            <a:off x="720000" y="1222920"/>
            <a:ext cx="4275600" cy="1733700"/>
          </a:xfrm>
          <a:prstGeom prst="rect">
            <a:avLst/>
          </a:prstGeom>
          <a:noFill/>
          <a:ln>
            <a:noFill/>
          </a:ln>
        </p:spPr>
        <p:txBody>
          <a:bodyPr anchorCtr="0" anchor="b" bIns="91425" lIns="91425" spcFirstLastPara="1" rIns="91425" wrap="square" tIns="91425">
            <a:noAutofit/>
          </a:bodyPr>
          <a:lstStyle>
            <a:lvl1pPr lvl="0" marR="0" algn="l">
              <a:spcBef>
                <a:spcPts val="0"/>
              </a:spcBef>
              <a:spcAft>
                <a:spcPts val="0"/>
              </a:spcAft>
              <a:buSzPts val="2800"/>
              <a:buNone/>
              <a:defRPr b="0" i="0" sz="1800" u="none" cap="none" strike="noStrike"/>
            </a:lvl1pPr>
            <a:lvl2pPr lvl="1" marR="0" algn="l">
              <a:spcBef>
                <a:spcPts val="0"/>
              </a:spcBef>
              <a:spcAft>
                <a:spcPts val="0"/>
              </a:spcAft>
              <a:buSzPts val="2800"/>
              <a:buNone/>
              <a:defRPr b="0" i="0" sz="1800" u="none" cap="none" strike="noStrike"/>
            </a:lvl2pPr>
            <a:lvl3pPr lvl="2" marR="0" algn="l">
              <a:spcBef>
                <a:spcPts val="0"/>
              </a:spcBef>
              <a:spcAft>
                <a:spcPts val="0"/>
              </a:spcAft>
              <a:buSzPts val="2800"/>
              <a:buNone/>
              <a:defRPr b="0" i="0" sz="1800" u="none" cap="none" strike="noStrike"/>
            </a:lvl3pPr>
            <a:lvl4pPr lvl="3" marR="0" algn="l">
              <a:spcBef>
                <a:spcPts val="0"/>
              </a:spcBef>
              <a:spcAft>
                <a:spcPts val="0"/>
              </a:spcAft>
              <a:buSzPts val="2800"/>
              <a:buNone/>
              <a:defRPr b="0" i="0" sz="1800" u="none" cap="none" strike="noStrike"/>
            </a:lvl4pPr>
            <a:lvl5pPr lvl="4" marR="0" algn="l">
              <a:spcBef>
                <a:spcPts val="0"/>
              </a:spcBef>
              <a:spcAft>
                <a:spcPts val="0"/>
              </a:spcAft>
              <a:buSzPts val="2800"/>
              <a:buNone/>
              <a:defRPr b="0" i="0" sz="1800" u="none" cap="none" strike="noStrike"/>
            </a:lvl5pPr>
            <a:lvl6pPr lvl="5" marR="0" algn="l">
              <a:spcBef>
                <a:spcPts val="0"/>
              </a:spcBef>
              <a:spcAft>
                <a:spcPts val="0"/>
              </a:spcAft>
              <a:buSzPts val="2800"/>
              <a:buNone/>
              <a:defRPr b="0" i="0" sz="1800" u="none" cap="none" strike="noStrike"/>
            </a:lvl6pPr>
            <a:lvl7pPr lvl="6" marR="0" algn="l">
              <a:spcBef>
                <a:spcPts val="0"/>
              </a:spcBef>
              <a:spcAft>
                <a:spcPts val="0"/>
              </a:spcAft>
              <a:buSzPts val="2800"/>
              <a:buNone/>
              <a:defRPr b="0" i="0" sz="1800" u="none" cap="none" strike="noStrike"/>
            </a:lvl7pPr>
            <a:lvl8pPr lvl="7" marR="0" algn="l">
              <a:spcBef>
                <a:spcPts val="0"/>
              </a:spcBef>
              <a:spcAft>
                <a:spcPts val="0"/>
              </a:spcAft>
              <a:buSzPts val="2800"/>
              <a:buNone/>
              <a:defRPr b="0" i="0" sz="1800" u="none" cap="none" strike="noStrike"/>
            </a:lvl8pPr>
            <a:lvl9pPr lvl="8" marR="0" algn="l">
              <a:spcBef>
                <a:spcPts val="0"/>
              </a:spcBef>
              <a:spcAft>
                <a:spcPts val="0"/>
              </a:spcAft>
              <a:buSzPts val="2800"/>
              <a:buNone/>
              <a:defRPr b="0" i="0" sz="1800" u="none" cap="none" strike="noStrike"/>
            </a:lvl9pPr>
          </a:lstStyle>
          <a:p/>
        </p:txBody>
      </p:sp>
      <p:sp>
        <p:nvSpPr>
          <p:cNvPr id="109" name="Google Shape;109;p17"/>
          <p:cNvSpPr txBox="1"/>
          <p:nvPr>
            <p:ph idx="1" type="body"/>
          </p:nvPr>
        </p:nvSpPr>
        <p:spPr>
          <a:xfrm>
            <a:off x="5397480" y="1055160"/>
            <a:ext cx="3033000" cy="3033000"/>
          </a:xfrm>
          <a:prstGeom prst="rect">
            <a:avLst/>
          </a:prstGeom>
          <a:noFill/>
          <a:ln cap="flat" cmpd="sng" w="38150">
            <a:solidFill>
              <a:schemeClr val="lt1"/>
            </a:solidFill>
            <a:prstDash val="solid"/>
            <a:round/>
            <a:headEnd len="sm" w="sm" type="none"/>
            <a:tailEnd len="sm" w="sm" type="none"/>
          </a:ln>
        </p:spPr>
        <p:txBody>
          <a:bodyPr anchorCtr="0" anchor="t" bIns="45000" lIns="90000" spcFirstLastPara="1" rIns="90000" wrap="square" tIns="45000">
            <a:normAutofit/>
          </a:bodyPr>
          <a:lstStyle>
            <a:lvl1pPr indent="-228600" lvl="0" marL="457200" marR="0" algn="l">
              <a:spcBef>
                <a:spcPts val="0"/>
              </a:spcBef>
              <a:spcAft>
                <a:spcPts val="0"/>
              </a:spcAft>
              <a:buSzPts val="1300"/>
              <a:buNone/>
              <a:defRPr b="0" i="0" sz="1800" u="none" cap="none" strike="noStrike"/>
            </a:lvl1pPr>
            <a:lvl2pPr indent="-228600" lvl="1" marL="914400" marR="0" algn="l">
              <a:spcBef>
                <a:spcPts val="1200"/>
              </a:spcBef>
              <a:spcAft>
                <a:spcPts val="0"/>
              </a:spcAft>
              <a:buSzPts val="1100"/>
              <a:buNone/>
              <a:defRPr b="0" i="0" sz="1800" u="none" cap="none" strike="noStrike"/>
            </a:lvl2pPr>
            <a:lvl3pPr indent="-228600" lvl="2" marL="1371600" marR="0" algn="l">
              <a:spcBef>
                <a:spcPts val="1200"/>
              </a:spcBef>
              <a:spcAft>
                <a:spcPts val="0"/>
              </a:spcAft>
              <a:buSzPts val="1100"/>
              <a:buNone/>
              <a:defRPr b="0" i="0" sz="1800" u="none" cap="none" strike="noStrike"/>
            </a:lvl3pPr>
            <a:lvl4pPr indent="-228600" lvl="3" marL="1828800" marR="0" algn="l">
              <a:spcBef>
                <a:spcPts val="1200"/>
              </a:spcBef>
              <a:spcAft>
                <a:spcPts val="0"/>
              </a:spcAft>
              <a:buSzPts val="1100"/>
              <a:buNone/>
              <a:defRPr b="0" i="0" sz="1800" u="none" cap="none" strike="noStrike"/>
            </a:lvl4pPr>
            <a:lvl5pPr indent="-228600" lvl="4" marL="2286000" marR="0" algn="l">
              <a:spcBef>
                <a:spcPts val="1200"/>
              </a:spcBef>
              <a:spcAft>
                <a:spcPts val="0"/>
              </a:spcAft>
              <a:buSzPts val="1100"/>
              <a:buNone/>
              <a:defRPr b="0" i="0" sz="1800" u="none" cap="none" strike="noStrike"/>
            </a:lvl5pPr>
            <a:lvl6pPr indent="-228600" lvl="5" marL="2743200" marR="0" algn="l">
              <a:spcBef>
                <a:spcPts val="1200"/>
              </a:spcBef>
              <a:spcAft>
                <a:spcPts val="0"/>
              </a:spcAft>
              <a:buSzPts val="1100"/>
              <a:buNone/>
              <a:defRPr b="0" i="0" sz="1800" u="none" cap="none" strike="noStrike"/>
            </a:lvl6pPr>
            <a:lvl7pPr indent="-228600" lvl="6" marL="3200400" marR="0" algn="l">
              <a:spcBef>
                <a:spcPts val="1200"/>
              </a:spcBef>
              <a:spcAft>
                <a:spcPts val="0"/>
              </a:spcAft>
              <a:buSzPts val="1100"/>
              <a:buNone/>
              <a:defRPr b="0" i="0" sz="1800" u="none" cap="none" strike="noStrike"/>
            </a:lvl7pPr>
            <a:lvl8pPr indent="-228600" lvl="7" marL="3657600" marR="0" algn="l">
              <a:spcBef>
                <a:spcPts val="1200"/>
              </a:spcBef>
              <a:spcAft>
                <a:spcPts val="0"/>
              </a:spcAft>
              <a:buSzPts val="1100"/>
              <a:buNone/>
              <a:defRPr b="0" i="0" sz="1800" u="none" cap="none" strike="noStrike"/>
            </a:lvl8pPr>
            <a:lvl9pPr indent="-228600" lvl="8" marL="4114800" marR="0" algn="l">
              <a:spcBef>
                <a:spcPts val="1200"/>
              </a:spcBef>
              <a:spcAft>
                <a:spcPts val="1200"/>
              </a:spcAft>
              <a:buSzPts val="1100"/>
              <a:buNone/>
              <a:defRPr b="0" i="0" sz="1800" u="none" cap="none" strike="noStrike"/>
            </a:lvl9pPr>
          </a:lstStyle>
          <a:p/>
        </p:txBody>
      </p:sp>
      <p:grpSp>
        <p:nvGrpSpPr>
          <p:cNvPr id="110" name="Google Shape;110;p17"/>
          <p:cNvGrpSpPr/>
          <p:nvPr/>
        </p:nvGrpSpPr>
        <p:grpSpPr>
          <a:xfrm>
            <a:off x="5362560" y="4349100"/>
            <a:ext cx="1309380" cy="257460"/>
            <a:chOff x="5362560" y="4349100"/>
            <a:chExt cx="1309380" cy="257460"/>
          </a:xfrm>
        </p:grpSpPr>
        <p:sp>
          <p:nvSpPr>
            <p:cNvPr id="111" name="Google Shape;111;p17"/>
            <p:cNvSpPr/>
            <p:nvPr/>
          </p:nvSpPr>
          <p:spPr>
            <a:xfrm flipH="1" rot="10800000">
              <a:off x="5781960" y="453306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2" name="Google Shape;112;p17"/>
            <p:cNvSpPr/>
            <p:nvPr/>
          </p:nvSpPr>
          <p:spPr>
            <a:xfrm flipH="1" rot="10800000">
              <a:off x="5986080" y="453306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3" name="Google Shape;113;p17"/>
            <p:cNvSpPr/>
            <p:nvPr/>
          </p:nvSpPr>
          <p:spPr>
            <a:xfrm flipH="1" rot="10800000">
              <a:off x="6190200" y="453306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4" name="Google Shape;114;p17"/>
            <p:cNvSpPr/>
            <p:nvPr/>
          </p:nvSpPr>
          <p:spPr>
            <a:xfrm flipH="1" rot="10800000">
              <a:off x="6394320" y="453306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5" name="Google Shape;115;p17"/>
            <p:cNvSpPr/>
            <p:nvPr/>
          </p:nvSpPr>
          <p:spPr>
            <a:xfrm flipH="1" rot="10800000">
              <a:off x="6598440" y="453306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6" name="Google Shape;116;p17"/>
            <p:cNvSpPr/>
            <p:nvPr/>
          </p:nvSpPr>
          <p:spPr>
            <a:xfrm flipH="1" rot="10800000">
              <a:off x="5362560" y="434910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7" name="Google Shape;117;p17"/>
            <p:cNvSpPr/>
            <p:nvPr/>
          </p:nvSpPr>
          <p:spPr>
            <a:xfrm flipH="1" rot="10800000">
              <a:off x="5566680" y="434910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8" name="Google Shape;118;p17"/>
            <p:cNvSpPr/>
            <p:nvPr/>
          </p:nvSpPr>
          <p:spPr>
            <a:xfrm flipH="1" rot="10800000">
              <a:off x="5770800" y="434910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9" name="Google Shape;119;p17"/>
            <p:cNvSpPr/>
            <p:nvPr/>
          </p:nvSpPr>
          <p:spPr>
            <a:xfrm flipH="1" rot="10800000">
              <a:off x="5974920" y="434910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0" name="Google Shape;120;p17"/>
            <p:cNvSpPr/>
            <p:nvPr/>
          </p:nvSpPr>
          <p:spPr>
            <a:xfrm flipH="1" rot="10800000">
              <a:off x="6179040" y="434910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21" name="Google Shape;121;p17"/>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2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2.png"/><Relationship Id="rId5"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17.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hyperlink" Target="https://drive.google.com/file/d/1PAiwPLkURVqowsnrmHct6WSIj0QTC9IR/view?usp=drive_link" TargetMode="External"/><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 Id="rId3"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 Id="rId3"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4.png"/><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 Id="rId3" Type="http://schemas.openxmlformats.org/officeDocument/2006/relationships/image" Target="../media/image5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4.png"/><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 Id="rId3" Type="http://schemas.openxmlformats.org/officeDocument/2006/relationships/image" Target="../media/image44.png"/><Relationship Id="rId4" Type="http://schemas.openxmlformats.org/officeDocument/2006/relationships/image" Target="../media/image4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image" Target="../media/image4.png"/><Relationship Id="rId4" Type="http://schemas.openxmlformats.org/officeDocument/2006/relationships/image" Target="../media/image3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4.png"/><Relationship Id="rId4"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3.xml"/><Relationship Id="rId3" Type="http://schemas.openxmlformats.org/officeDocument/2006/relationships/hyperlink" Target="https://gemini.google.com/share/d96dd327be1d" TargetMode="External"/><Relationship Id="rId4" Type="http://schemas.openxmlformats.org/officeDocument/2006/relationships/image" Target="../media/image1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4.xml"/><Relationship Id="rId3" Type="http://schemas.openxmlformats.org/officeDocument/2006/relationships/image" Target="../media/image2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5.xml"/><Relationship Id="rId3" Type="http://schemas.openxmlformats.org/officeDocument/2006/relationships/image" Target="../media/image20.png"/><Relationship Id="rId4" Type="http://schemas.openxmlformats.org/officeDocument/2006/relationships/image" Target="../media/image1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6.xml"/><Relationship Id="rId3" Type="http://schemas.openxmlformats.org/officeDocument/2006/relationships/image" Target="../media/image2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8.xml"/><Relationship Id="rId3" Type="http://schemas.openxmlformats.org/officeDocument/2006/relationships/hyperlink" Target="https://gemini.google.com/share/d96dd327be1d" TargetMode="External"/><Relationship Id="rId4" Type="http://schemas.openxmlformats.org/officeDocument/2006/relationships/image" Target="../media/image2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9.xml"/><Relationship Id="rId3" Type="http://schemas.openxmlformats.org/officeDocument/2006/relationships/image" Target="../media/image33.png"/><Relationship Id="rId4" Type="http://schemas.openxmlformats.org/officeDocument/2006/relationships/image" Target="../media/image5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0.xml"/><Relationship Id="rId3" Type="http://schemas.openxmlformats.org/officeDocument/2006/relationships/image" Target="../media/image3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1.xml"/><Relationship Id="rId3" Type="http://schemas.openxmlformats.org/officeDocument/2006/relationships/image" Target="../media/image3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2.xml"/><Relationship Id="rId3" Type="http://schemas.openxmlformats.org/officeDocument/2006/relationships/image" Target="../media/image4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3.xml"/><Relationship Id="rId3" Type="http://schemas.openxmlformats.org/officeDocument/2006/relationships/image" Target="../media/image31.png"/><Relationship Id="rId4" Type="http://schemas.openxmlformats.org/officeDocument/2006/relationships/image" Target="../media/image3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4.xml"/><Relationship Id="rId3" Type="http://schemas.openxmlformats.org/officeDocument/2006/relationships/hyperlink" Target="https://gemini.google.com/share/d96dd327be1d" TargetMode="External"/><Relationship Id="rId4" Type="http://schemas.openxmlformats.org/officeDocument/2006/relationships/image" Target="../media/image4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5.xml"/><Relationship Id="rId3" Type="http://schemas.openxmlformats.org/officeDocument/2006/relationships/image" Target="../media/image35.png"/><Relationship Id="rId4" Type="http://schemas.openxmlformats.org/officeDocument/2006/relationships/image" Target="../media/image6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6.xml"/><Relationship Id="rId3" Type="http://schemas.openxmlformats.org/officeDocument/2006/relationships/image" Target="../media/image3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7.xml"/><Relationship Id="rId3" Type="http://schemas.openxmlformats.org/officeDocument/2006/relationships/image" Target="../media/image50.png"/><Relationship Id="rId4" Type="http://schemas.openxmlformats.org/officeDocument/2006/relationships/image" Target="../media/image2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8.xml"/><Relationship Id="rId3" Type="http://schemas.openxmlformats.org/officeDocument/2006/relationships/image" Target="../media/image4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9.xml"/><Relationship Id="rId3" Type="http://schemas.openxmlformats.org/officeDocument/2006/relationships/image" Target="../media/image34.png"/><Relationship Id="rId4" Type="http://schemas.openxmlformats.org/officeDocument/2006/relationships/image" Target="../media/image42.png"/><Relationship Id="rId5" Type="http://schemas.openxmlformats.org/officeDocument/2006/relationships/image" Target="../media/image4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0.xml"/><Relationship Id="rId3" Type="http://schemas.openxmlformats.org/officeDocument/2006/relationships/hyperlink" Target="https://gemini.google.com/share/d96dd327be1d" TargetMode="External"/><Relationship Id="rId4" Type="http://schemas.openxmlformats.org/officeDocument/2006/relationships/image" Target="../media/image5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1.xml"/><Relationship Id="rId3" Type="http://schemas.openxmlformats.org/officeDocument/2006/relationships/image" Target="../media/image45.png"/><Relationship Id="rId4" Type="http://schemas.openxmlformats.org/officeDocument/2006/relationships/image" Target="../media/image6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2.xml"/><Relationship Id="rId3" Type="http://schemas.openxmlformats.org/officeDocument/2006/relationships/image" Target="../media/image4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3.xml"/><Relationship Id="rId3" Type="http://schemas.openxmlformats.org/officeDocument/2006/relationships/image" Target="../media/image57.png"/><Relationship Id="rId4" Type="http://schemas.openxmlformats.org/officeDocument/2006/relationships/image" Target="../media/image4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4.xml"/><Relationship Id="rId3" Type="http://schemas.openxmlformats.org/officeDocument/2006/relationships/image" Target="../media/image5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5.xml"/><Relationship Id="rId3" Type="http://schemas.openxmlformats.org/officeDocument/2006/relationships/image" Target="../media/image64.png"/><Relationship Id="rId4" Type="http://schemas.openxmlformats.org/officeDocument/2006/relationships/image" Target="../media/image6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 Id="rId3" Type="http://schemas.openxmlformats.org/officeDocument/2006/relationships/image" Target="../media/image4.png"/><Relationship Id="rId4" Type="http://schemas.openxmlformats.org/officeDocument/2006/relationships/image" Target="../media/image5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7.xml"/><Relationship Id="rId3" Type="http://schemas.openxmlformats.org/officeDocument/2006/relationships/image" Target="../media/image6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8.xml"/><Relationship Id="rId3" Type="http://schemas.openxmlformats.org/officeDocument/2006/relationships/image" Target="../media/image5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9.xml"/><Relationship Id="rId3" Type="http://schemas.openxmlformats.org/officeDocument/2006/relationships/image" Target="../media/image4.png"/><Relationship Id="rId4" Type="http://schemas.openxmlformats.org/officeDocument/2006/relationships/image" Target="../media/image5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0.xml"/><Relationship Id="rId3" Type="http://schemas.openxmlformats.org/officeDocument/2006/relationships/hyperlink" Target="https://ioc-frontend.vercel.app/" TargetMode="External"/><Relationship Id="rId4" Type="http://schemas.openxmlformats.org/officeDocument/2006/relationships/hyperlink" Target="http://54.232.229.228:3000/dashboard"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1.xml"/><Relationship Id="rId3" Type="http://schemas.openxmlformats.org/officeDocument/2006/relationships/image" Target="../media/image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3.xml"/><Relationship Id="rId3" Type="http://schemas.openxmlformats.org/officeDocument/2006/relationships/image" Target="../media/image4.png"/><Relationship Id="rId4" Type="http://schemas.openxmlformats.org/officeDocument/2006/relationships/image" Target="../media/image59.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4.xml"/><Relationship Id="rId3" Type="http://schemas.openxmlformats.org/officeDocument/2006/relationships/image" Target="../media/image60.png"/><Relationship Id="rId4" Type="http://schemas.openxmlformats.org/officeDocument/2006/relationships/image" Target="../media/image5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descr="Embellecer esta diapositiva" id="126" name="Google Shape;126;p18"/>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grpSp>
        <p:nvGrpSpPr>
          <p:cNvPr id="130" name="Google Shape;130;p19"/>
          <p:cNvGrpSpPr/>
          <p:nvPr/>
        </p:nvGrpSpPr>
        <p:grpSpPr>
          <a:xfrm>
            <a:off x="6631052" y="2616743"/>
            <a:ext cx="2512412" cy="2533325"/>
            <a:chOff x="4714140" y="683790"/>
            <a:chExt cx="4429500" cy="4466370"/>
          </a:xfrm>
        </p:grpSpPr>
        <p:sp>
          <p:nvSpPr>
            <p:cNvPr id="131" name="Google Shape;131;p19"/>
            <p:cNvSpPr/>
            <p:nvPr/>
          </p:nvSpPr>
          <p:spPr>
            <a:xfrm flipH="1">
              <a:off x="4714140" y="783360"/>
              <a:ext cx="4429500" cy="4366800"/>
            </a:xfrm>
            <a:prstGeom prst="rtTriangle">
              <a:avLst/>
            </a:prstGeom>
            <a:solidFill>
              <a:schemeClr val="dk1"/>
            </a:solidFill>
            <a:ln>
              <a:noFill/>
            </a:ln>
            <a:effectLst>
              <a:reflection blurRad="0" dir="5400000" dist="21611" endA="0" endPos="30000" fadeDir="5400012" kx="0" rotWithShape="0" algn="bl" stPos="0" sy="-100000" ky="0"/>
            </a:effectLst>
          </p:spPr>
          <p:txBody>
            <a:bodyPr anchorCtr="0" anchor="ctr" bIns="51850" lIns="51850" spcFirstLastPara="1" rIns="51850" wrap="square" tIns="51850">
              <a:noAutofit/>
            </a:bodyPr>
            <a:lstStyle/>
            <a:p>
              <a:pPr indent="0" lvl="0" marL="0" marR="0" rtl="0" algn="l">
                <a:lnSpc>
                  <a:spcPct val="100000"/>
                </a:lnSpc>
                <a:spcBef>
                  <a:spcPts val="0"/>
                </a:spcBef>
                <a:spcAft>
                  <a:spcPts val="0"/>
                </a:spcAft>
                <a:buNone/>
              </a:pPr>
              <a:r>
                <a:t/>
              </a:r>
              <a:endParaRPr b="0" i="0" sz="1020" u="none" cap="none" strike="noStrike">
                <a:solidFill>
                  <a:srgbClr val="FFFFFF"/>
                </a:solidFill>
                <a:latin typeface="Noto Sans Symbols"/>
                <a:ea typeface="Noto Sans Symbols"/>
                <a:cs typeface="Noto Sans Symbols"/>
                <a:sym typeface="Noto Sans Symbols"/>
              </a:endParaRPr>
            </a:p>
          </p:txBody>
        </p:sp>
        <p:sp>
          <p:nvSpPr>
            <p:cNvPr id="132" name="Google Shape;132;p19"/>
            <p:cNvSpPr/>
            <p:nvPr/>
          </p:nvSpPr>
          <p:spPr>
            <a:xfrm rot="-2700000">
              <a:off x="7674867" y="1303554"/>
              <a:ext cx="995748" cy="114551"/>
            </a:xfrm>
            <a:prstGeom prst="roundRect">
              <a:avLst>
                <a:gd fmla="val 50000" name="adj"/>
              </a:avLst>
            </a:prstGeom>
            <a:solidFill>
              <a:schemeClr val="lt1"/>
            </a:solidFill>
            <a:ln>
              <a:noFill/>
            </a:ln>
          </p:spPr>
          <p:txBody>
            <a:bodyPr anchorCtr="0" anchor="ctr" bIns="23075" lIns="51850" spcFirstLastPara="1" rIns="51850" wrap="square" tIns="23075">
              <a:noAutofit/>
            </a:bodyPr>
            <a:lstStyle/>
            <a:p>
              <a:pPr indent="0" lvl="0" marL="0" marR="0" rtl="0" algn="l">
                <a:lnSpc>
                  <a:spcPct val="100000"/>
                </a:lnSpc>
                <a:spcBef>
                  <a:spcPts val="0"/>
                </a:spcBef>
                <a:spcAft>
                  <a:spcPts val="0"/>
                </a:spcAft>
                <a:buNone/>
              </a:pPr>
              <a:r>
                <a:t/>
              </a:r>
              <a:endParaRPr b="0" i="0" sz="1020" u="none" cap="none" strike="noStrike">
                <a:solidFill>
                  <a:srgbClr val="000000"/>
                </a:solidFill>
                <a:latin typeface="Noto Sans Symbols"/>
                <a:ea typeface="Noto Sans Symbols"/>
                <a:cs typeface="Noto Sans Symbols"/>
                <a:sym typeface="Noto Sans Symbols"/>
              </a:endParaRPr>
            </a:p>
          </p:txBody>
        </p:sp>
        <p:sp>
          <p:nvSpPr>
            <p:cNvPr id="133" name="Google Shape;133;p19"/>
            <p:cNvSpPr/>
            <p:nvPr/>
          </p:nvSpPr>
          <p:spPr>
            <a:xfrm rot="-2699590">
              <a:off x="4984206" y="3275537"/>
              <a:ext cx="1779576" cy="326259"/>
            </a:xfrm>
            <a:prstGeom prst="roundRect">
              <a:avLst>
                <a:gd fmla="val 50000" name="adj"/>
              </a:avLst>
            </a:prstGeom>
            <a:solidFill>
              <a:schemeClr val="lt2"/>
            </a:solidFill>
            <a:ln>
              <a:noFill/>
            </a:ln>
          </p:spPr>
          <p:txBody>
            <a:bodyPr anchorCtr="0" anchor="ctr" bIns="51850" lIns="51850" spcFirstLastPara="1" rIns="51850" wrap="square" tIns="51850">
              <a:noAutofit/>
            </a:bodyPr>
            <a:lstStyle/>
            <a:p>
              <a:pPr indent="0" lvl="0" marL="0" marR="0" rtl="0" algn="l">
                <a:lnSpc>
                  <a:spcPct val="100000"/>
                </a:lnSpc>
                <a:spcBef>
                  <a:spcPts val="0"/>
                </a:spcBef>
                <a:spcAft>
                  <a:spcPts val="0"/>
                </a:spcAft>
                <a:buNone/>
              </a:pPr>
              <a:r>
                <a:t/>
              </a:r>
              <a:endParaRPr b="0" i="0" sz="1020" u="none" cap="none" strike="noStrike">
                <a:solidFill>
                  <a:srgbClr val="FFFFFF"/>
                </a:solidFill>
                <a:latin typeface="Noto Sans Symbols"/>
                <a:ea typeface="Noto Sans Symbols"/>
                <a:cs typeface="Noto Sans Symbols"/>
                <a:sym typeface="Noto Sans Symbols"/>
              </a:endParaRPr>
            </a:p>
          </p:txBody>
        </p:sp>
        <p:sp>
          <p:nvSpPr>
            <p:cNvPr id="134" name="Google Shape;134;p19"/>
            <p:cNvSpPr/>
            <p:nvPr/>
          </p:nvSpPr>
          <p:spPr>
            <a:xfrm rot="-2699590">
              <a:off x="7107846" y="2092937"/>
              <a:ext cx="1779576" cy="326259"/>
            </a:xfrm>
            <a:prstGeom prst="roundRect">
              <a:avLst>
                <a:gd fmla="val 50000" name="adj"/>
              </a:avLst>
            </a:prstGeom>
            <a:solidFill>
              <a:schemeClr val="lt2"/>
            </a:solidFill>
            <a:ln>
              <a:noFill/>
            </a:ln>
          </p:spPr>
          <p:txBody>
            <a:bodyPr anchorCtr="0" anchor="ctr" bIns="51850" lIns="51850" spcFirstLastPara="1" rIns="51850" wrap="square" tIns="51850">
              <a:noAutofit/>
            </a:bodyPr>
            <a:lstStyle/>
            <a:p>
              <a:pPr indent="0" lvl="0" marL="0" marR="0" rtl="0" algn="l">
                <a:lnSpc>
                  <a:spcPct val="100000"/>
                </a:lnSpc>
                <a:spcBef>
                  <a:spcPts val="0"/>
                </a:spcBef>
                <a:spcAft>
                  <a:spcPts val="0"/>
                </a:spcAft>
                <a:buNone/>
              </a:pPr>
              <a:r>
                <a:t/>
              </a:r>
              <a:endParaRPr b="0" i="0" sz="1020" u="none" cap="none" strike="noStrike">
                <a:solidFill>
                  <a:srgbClr val="FFFFFF"/>
                </a:solidFill>
                <a:latin typeface="Noto Sans Symbols"/>
                <a:ea typeface="Noto Sans Symbols"/>
                <a:cs typeface="Noto Sans Symbols"/>
                <a:sym typeface="Noto Sans Symbols"/>
              </a:endParaRPr>
            </a:p>
          </p:txBody>
        </p:sp>
        <p:sp>
          <p:nvSpPr>
            <p:cNvPr id="135" name="Google Shape;135;p19"/>
            <p:cNvSpPr/>
            <p:nvPr/>
          </p:nvSpPr>
          <p:spPr>
            <a:xfrm rot="-2699590">
              <a:off x="6792438" y="1242991"/>
              <a:ext cx="1779576" cy="477297"/>
            </a:xfrm>
            <a:prstGeom prst="roundRect">
              <a:avLst>
                <a:gd fmla="val 50000" name="adj"/>
              </a:avLst>
            </a:prstGeom>
            <a:solidFill>
              <a:schemeClr val="dk2"/>
            </a:solidFill>
            <a:ln>
              <a:noFill/>
            </a:ln>
          </p:spPr>
          <p:txBody>
            <a:bodyPr anchorCtr="0" anchor="ctr" bIns="51850" lIns="51850" spcFirstLastPara="1" rIns="51850" wrap="square" tIns="51850">
              <a:noAutofit/>
            </a:bodyPr>
            <a:lstStyle/>
            <a:p>
              <a:pPr indent="0" lvl="0" marL="0" marR="0" rtl="0" algn="l">
                <a:lnSpc>
                  <a:spcPct val="100000"/>
                </a:lnSpc>
                <a:spcBef>
                  <a:spcPts val="0"/>
                </a:spcBef>
                <a:spcAft>
                  <a:spcPts val="0"/>
                </a:spcAft>
                <a:buNone/>
              </a:pPr>
              <a:r>
                <a:t/>
              </a:r>
              <a:endParaRPr b="0" i="0" sz="1020" u="none" cap="none" strike="noStrike">
                <a:solidFill>
                  <a:srgbClr val="000000"/>
                </a:solidFill>
                <a:latin typeface="Noto Sans Symbols"/>
                <a:ea typeface="Noto Sans Symbols"/>
                <a:cs typeface="Noto Sans Symbols"/>
                <a:sym typeface="Noto Sans Symbols"/>
              </a:endParaRPr>
            </a:p>
          </p:txBody>
        </p:sp>
        <p:sp>
          <p:nvSpPr>
            <p:cNvPr id="136" name="Google Shape;136;p19"/>
            <p:cNvSpPr/>
            <p:nvPr/>
          </p:nvSpPr>
          <p:spPr>
            <a:xfrm rot="-2699590">
              <a:off x="5127438" y="3849391"/>
              <a:ext cx="1779576" cy="477297"/>
            </a:xfrm>
            <a:prstGeom prst="roundRect">
              <a:avLst>
                <a:gd fmla="val 50000" name="adj"/>
              </a:avLst>
            </a:prstGeom>
            <a:solidFill>
              <a:schemeClr val="dk2"/>
            </a:solidFill>
            <a:ln>
              <a:noFill/>
            </a:ln>
          </p:spPr>
          <p:txBody>
            <a:bodyPr anchorCtr="0" anchor="ctr" bIns="51850" lIns="51850" spcFirstLastPara="1" rIns="51850" wrap="square" tIns="51850">
              <a:noAutofit/>
            </a:bodyPr>
            <a:lstStyle/>
            <a:p>
              <a:pPr indent="0" lvl="0" marL="0" marR="0" rtl="0" algn="l">
                <a:lnSpc>
                  <a:spcPct val="100000"/>
                </a:lnSpc>
                <a:spcBef>
                  <a:spcPts val="0"/>
                </a:spcBef>
                <a:spcAft>
                  <a:spcPts val="0"/>
                </a:spcAft>
                <a:buNone/>
              </a:pPr>
              <a:r>
                <a:t/>
              </a:r>
              <a:endParaRPr b="0" i="0" sz="1020" u="none" cap="none" strike="noStrike">
                <a:solidFill>
                  <a:srgbClr val="000000"/>
                </a:solidFill>
                <a:latin typeface="Noto Sans Symbols"/>
                <a:ea typeface="Noto Sans Symbols"/>
                <a:cs typeface="Noto Sans Symbols"/>
                <a:sym typeface="Noto Sans Symbols"/>
              </a:endParaRPr>
            </a:p>
          </p:txBody>
        </p:sp>
      </p:grpSp>
      <p:sp>
        <p:nvSpPr>
          <p:cNvPr id="137" name="Google Shape;137;p19"/>
          <p:cNvSpPr txBox="1"/>
          <p:nvPr>
            <p:ph type="title"/>
          </p:nvPr>
        </p:nvSpPr>
        <p:spPr>
          <a:xfrm>
            <a:off x="748415" y="0"/>
            <a:ext cx="6990900" cy="818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100000"/>
              <a:buFont typeface="Archivo Black"/>
              <a:buNone/>
            </a:pPr>
            <a:r>
              <a:rPr b="1" lang="en-US" sz="3200">
                <a:solidFill>
                  <a:schemeClr val="dk1"/>
                </a:solidFill>
                <a:latin typeface="Roboto"/>
                <a:ea typeface="Roboto"/>
                <a:cs typeface="Roboto"/>
                <a:sym typeface="Roboto"/>
              </a:rPr>
              <a:t>Índice de Contenido</a:t>
            </a:r>
            <a:endParaRPr b="1" sz="3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ct val="100000"/>
              <a:buFont typeface="Archivo Black"/>
              <a:buNone/>
            </a:pPr>
            <a:r>
              <a:rPr b="1" lang="en-US" sz="3200">
                <a:solidFill>
                  <a:schemeClr val="dk1"/>
                </a:solidFill>
                <a:latin typeface="Roboto"/>
                <a:ea typeface="Roboto"/>
                <a:cs typeface="Roboto"/>
                <a:sym typeface="Roboto"/>
              </a:rPr>
              <a:t>	</a:t>
            </a:r>
            <a:endParaRPr b="1" sz="3200">
              <a:solidFill>
                <a:schemeClr val="dk1"/>
              </a:solidFill>
              <a:latin typeface="Roboto"/>
              <a:ea typeface="Roboto"/>
              <a:cs typeface="Roboto"/>
              <a:sym typeface="Roboto"/>
            </a:endParaRPr>
          </a:p>
        </p:txBody>
      </p:sp>
      <p:sp>
        <p:nvSpPr>
          <p:cNvPr id="138" name="Google Shape;138;p19"/>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139" name="Google Shape;139;p19"/>
          <p:cNvGraphicFramePr/>
          <p:nvPr/>
        </p:nvGraphicFramePr>
        <p:xfrm>
          <a:off x="376925" y="818700"/>
          <a:ext cx="3000000" cy="3000000"/>
        </p:xfrm>
        <a:graphic>
          <a:graphicData uri="http://schemas.openxmlformats.org/drawingml/2006/table">
            <a:tbl>
              <a:tblPr>
                <a:noFill/>
                <a:tableStyleId>{40D3E382-2F28-4D19-8913-08566A70E152}</a:tableStyleId>
              </a:tblPr>
              <a:tblGrid>
                <a:gridCol w="852250"/>
                <a:gridCol w="2662000"/>
              </a:tblGrid>
              <a:tr h="4535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lt1"/>
                          </a:solidFill>
                        </a:rPr>
                        <a:t>01.</a:t>
                      </a:r>
                      <a:endParaRPr sz="1400" u="none" cap="none" strike="noStrike">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300" u="none" cap="none" strike="noStrike">
                          <a:latin typeface="Roboto"/>
                          <a:ea typeface="Roboto"/>
                          <a:cs typeface="Roboto"/>
                          <a:sym typeface="Roboto"/>
                        </a:rPr>
                        <a:t>Contexto</a:t>
                      </a:r>
                      <a:endParaRPr sz="1300" u="none" cap="none" strike="noStrike">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tcPr>
                </a:tc>
              </a:tr>
              <a:tr h="4535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lt1"/>
                          </a:solidFill>
                        </a:rPr>
                        <a:t>02.</a:t>
                      </a:r>
                      <a:endParaRPr sz="1400" u="none" cap="none" strike="noStrike">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300" u="none" cap="none" strike="noStrike">
                          <a:latin typeface="Roboto"/>
                          <a:ea typeface="Roboto"/>
                          <a:cs typeface="Roboto"/>
                          <a:sym typeface="Roboto"/>
                        </a:rPr>
                        <a:t>Problema</a:t>
                      </a:r>
                      <a:endParaRPr sz="1300" u="none" cap="none" strike="noStrike">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B cap="flat" cmpd="sng" w="9525">
                      <a:solidFill>
                        <a:srgbClr val="9E9E9E"/>
                      </a:solidFill>
                      <a:prstDash val="solid"/>
                      <a:round/>
                      <a:headEnd len="sm" w="sm" type="none"/>
                      <a:tailEnd len="sm" w="sm" type="none"/>
                    </a:lnB>
                  </a:tcPr>
                </a:tc>
              </a:tr>
              <a:tr h="4535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lt1"/>
                          </a:solidFill>
                        </a:rPr>
                        <a:t>03.</a:t>
                      </a:r>
                      <a:endParaRPr sz="1400" u="none" cap="none" strike="noStrike">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300" u="none" cap="none" strike="noStrike">
                          <a:latin typeface="Roboto"/>
                          <a:ea typeface="Roboto"/>
                          <a:cs typeface="Roboto"/>
                          <a:sym typeface="Roboto"/>
                        </a:rPr>
                        <a:t>Necesidad</a:t>
                      </a:r>
                      <a:endParaRPr sz="1300" u="none" cap="none" strike="noStrike">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35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lt1"/>
                          </a:solidFill>
                        </a:rPr>
                        <a:t>04.</a:t>
                      </a:r>
                      <a:endParaRPr sz="1400" u="none" cap="none" strike="noStrike">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en-US" sz="1300">
                          <a:latin typeface="Roboto"/>
                          <a:ea typeface="Roboto"/>
                          <a:cs typeface="Roboto"/>
                          <a:sym typeface="Roboto"/>
                        </a:rPr>
                        <a:t>Historias de Usuario</a:t>
                      </a:r>
                      <a:endParaRPr sz="1300" u="none" cap="none" strike="noStrike">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35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lt1"/>
                          </a:solidFill>
                        </a:rPr>
                        <a:t>05.</a:t>
                      </a:r>
                      <a:endParaRPr sz="1400" u="none" cap="none" strike="noStrike">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300">
                          <a:latin typeface="Roboto"/>
                          <a:ea typeface="Roboto"/>
                          <a:cs typeface="Roboto"/>
                          <a:sym typeface="Roboto"/>
                        </a:rPr>
                        <a:t>R. Funcionales - No Funcionales</a:t>
                      </a:r>
                      <a:endParaRPr sz="1300" u="none" cap="none" strike="noStrike">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35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lt1"/>
                          </a:solidFill>
                        </a:rPr>
                        <a:t>06.</a:t>
                      </a:r>
                      <a:endParaRPr sz="1400" u="none" cap="none" strike="noStrike">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300">
                          <a:latin typeface="Roboto"/>
                          <a:ea typeface="Roboto"/>
                          <a:cs typeface="Roboto"/>
                          <a:sym typeface="Roboto"/>
                        </a:rPr>
                        <a:t>Solución</a:t>
                      </a:r>
                      <a:endParaRPr sz="1300" u="none" cap="none" strike="noStrike">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35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lt1"/>
                          </a:solidFill>
                        </a:rPr>
                        <a:t>07.</a:t>
                      </a:r>
                      <a:endParaRPr sz="1400" u="none" cap="none" strike="noStrike">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en-US" sz="1300">
                          <a:latin typeface="Roboto"/>
                          <a:ea typeface="Roboto"/>
                          <a:cs typeface="Roboto"/>
                          <a:sym typeface="Roboto"/>
                        </a:rPr>
                        <a:t>Arquitectura</a:t>
                      </a:r>
                      <a:endParaRPr sz="1300" u="none" cap="none" strike="noStrike">
                        <a:solidFill>
                          <a:srgbClr val="000000"/>
                        </a:solidFill>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35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lt1"/>
                          </a:solidFill>
                        </a:rPr>
                        <a:t>08.</a:t>
                      </a:r>
                      <a:endParaRPr sz="1400" u="none" cap="none" strike="noStrike">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c>
                  <a:txBody>
                    <a:bodyPr/>
                    <a:lstStyle/>
                    <a:p>
                      <a:pPr indent="0" lvl="0" marL="0" rtl="0" algn="l">
                        <a:spcBef>
                          <a:spcPts val="0"/>
                        </a:spcBef>
                        <a:spcAft>
                          <a:spcPts val="0"/>
                        </a:spcAft>
                        <a:buClr>
                          <a:srgbClr val="000000"/>
                        </a:buClr>
                        <a:buSzPts val="1400"/>
                        <a:buFont typeface="Arial"/>
                        <a:buNone/>
                      </a:pPr>
                      <a:r>
                        <a:rPr lang="en-US" sz="1300">
                          <a:latin typeface="Roboto"/>
                          <a:ea typeface="Roboto"/>
                          <a:cs typeface="Roboto"/>
                          <a:sym typeface="Roboto"/>
                        </a:rPr>
                        <a:t>Modelos de datos</a:t>
                      </a:r>
                      <a:endParaRPr sz="13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35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lt1"/>
                          </a:solidFill>
                        </a:rPr>
                        <a:t>09.</a:t>
                      </a:r>
                      <a:endParaRPr sz="1400" u="none" cap="none" strike="noStrike">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en-US" sz="1300">
                          <a:latin typeface="Roboto"/>
                          <a:ea typeface="Roboto"/>
                          <a:cs typeface="Roboto"/>
                          <a:sym typeface="Roboto"/>
                        </a:rPr>
                        <a:t>Metodología</a:t>
                      </a:r>
                      <a:endParaRPr/>
                    </a:p>
                  </a:txBody>
                  <a:tcPr marT="91425" marB="91425" marR="91425" marL="91425">
                    <a:lnL cap="flat" cmpd="sng" w="9525">
                      <a:solidFill>
                        <a:srgbClr val="000000"/>
                      </a:solidFill>
                      <a:prstDash val="solid"/>
                      <a:round/>
                      <a:headEnd len="sm" w="sm" type="none"/>
                      <a:tailEnd len="sm" w="sm" type="none"/>
                    </a:lnL>
                    <a:lnT cap="flat" cmpd="sng" w="9525">
                      <a:solidFill>
                        <a:srgbClr val="9E9E9E"/>
                      </a:solidFill>
                      <a:prstDash val="solid"/>
                      <a:round/>
                      <a:headEnd len="sm" w="sm" type="none"/>
                      <a:tailEnd len="sm" w="sm" type="none"/>
                    </a:lnT>
                  </a:tcPr>
                </a:tc>
              </a:tr>
            </a:tbl>
          </a:graphicData>
        </a:graphic>
      </p:graphicFrame>
      <p:graphicFrame>
        <p:nvGraphicFramePr>
          <p:cNvPr id="140" name="Google Shape;140;p19"/>
          <p:cNvGraphicFramePr/>
          <p:nvPr/>
        </p:nvGraphicFramePr>
        <p:xfrm>
          <a:off x="4026925" y="809350"/>
          <a:ext cx="3000000" cy="3000000"/>
        </p:xfrm>
        <a:graphic>
          <a:graphicData uri="http://schemas.openxmlformats.org/drawingml/2006/table">
            <a:tbl>
              <a:tblPr>
                <a:noFill/>
                <a:tableStyleId>{40D3E382-2F28-4D19-8913-08566A70E152}</a:tableStyleId>
              </a:tblPr>
              <a:tblGrid>
                <a:gridCol w="824675"/>
                <a:gridCol w="2575875"/>
              </a:tblGrid>
              <a:tr h="4535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lt1"/>
                          </a:solidFill>
                        </a:rPr>
                        <a:t>10.</a:t>
                      </a:r>
                      <a:endParaRPr sz="1400" u="none" cap="none" strike="noStrike">
                        <a:solidFill>
                          <a:schemeClr val="lt1"/>
                        </a:solidFill>
                      </a:endParaRPr>
                    </a:p>
                  </a:txBody>
                  <a:tcPr marT="91425" marB="91425" marR="91425" marL="91425">
                    <a:lnR cap="flat" cmpd="sng" w="9525">
                      <a:solidFill>
                        <a:srgbClr val="9E9E9E"/>
                      </a:solidFill>
                      <a:prstDash val="solid"/>
                      <a:round/>
                      <a:headEnd len="sm" w="sm" type="none"/>
                      <a:tailEnd len="sm" w="sm" type="none"/>
                    </a:lnR>
                    <a:solidFill>
                      <a:schemeClr val="dk1"/>
                    </a:solidFill>
                  </a:tcPr>
                </a:tc>
                <a:tc>
                  <a:txBody>
                    <a:bodyPr/>
                    <a:lstStyle/>
                    <a:p>
                      <a:pPr indent="0" lvl="0" marL="0" rtl="0" algn="l">
                        <a:spcBef>
                          <a:spcPts val="0"/>
                        </a:spcBef>
                        <a:spcAft>
                          <a:spcPts val="0"/>
                        </a:spcAft>
                        <a:buClr>
                          <a:srgbClr val="000000"/>
                        </a:buClr>
                        <a:buSzPts val="1400"/>
                        <a:buFont typeface="Arial"/>
                        <a:buNone/>
                      </a:pPr>
                      <a:r>
                        <a:rPr lang="en-US" sz="1300">
                          <a:latin typeface="Roboto"/>
                          <a:ea typeface="Roboto"/>
                          <a:cs typeface="Roboto"/>
                          <a:sym typeface="Roboto"/>
                        </a:rPr>
                        <a:t>Roles</a:t>
                      </a:r>
                      <a:endParaRPr/>
                    </a:p>
                    <a:p>
                      <a:pPr indent="0" lvl="0" marL="0" marR="0" rtl="0" algn="l">
                        <a:lnSpc>
                          <a:spcPct val="100000"/>
                        </a:lnSpc>
                        <a:spcBef>
                          <a:spcPts val="0"/>
                        </a:spcBef>
                        <a:spcAft>
                          <a:spcPts val="0"/>
                        </a:spcAft>
                        <a:buClr>
                          <a:srgbClr val="000000"/>
                        </a:buClr>
                        <a:buSzPts val="1400"/>
                        <a:buFont typeface="Arial"/>
                        <a:buNone/>
                      </a:pPr>
                      <a:r>
                        <a:t/>
                      </a:r>
                      <a:endParaRPr sz="1300">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722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lt1"/>
                          </a:solidFill>
                        </a:rPr>
                        <a:t>11.</a:t>
                      </a:r>
                      <a:endParaRPr sz="1400" u="none" cap="none" strike="noStrike">
                        <a:solidFill>
                          <a:schemeClr val="lt1"/>
                        </a:solidFill>
                      </a:endParaRPr>
                    </a:p>
                  </a:txBody>
                  <a:tcPr marT="91425" marB="91425" marR="91425" marL="91425">
                    <a:lnR cap="flat" cmpd="sng" w="9525">
                      <a:solidFill>
                        <a:srgbClr val="9E9E9E"/>
                      </a:solidFill>
                      <a:prstDash val="solid"/>
                      <a:round/>
                      <a:headEnd len="sm" w="sm" type="none"/>
                      <a:tailEnd len="sm" w="sm" type="none"/>
                    </a:lnR>
                    <a:solidFill>
                      <a:schemeClr val="dk1"/>
                    </a:solidFill>
                  </a:tcPr>
                </a:tc>
                <a:tc>
                  <a:txBody>
                    <a:bodyPr/>
                    <a:lstStyle/>
                    <a:p>
                      <a:pPr indent="0" lvl="0" marL="0" rtl="0" algn="l">
                        <a:spcBef>
                          <a:spcPts val="0"/>
                        </a:spcBef>
                        <a:spcAft>
                          <a:spcPts val="0"/>
                        </a:spcAft>
                        <a:buClr>
                          <a:srgbClr val="000000"/>
                        </a:buClr>
                        <a:buSzPts val="1400"/>
                        <a:buFont typeface="Arial"/>
                        <a:buNone/>
                      </a:pPr>
                      <a:r>
                        <a:rPr lang="en-US" sz="1300">
                          <a:latin typeface="Roboto"/>
                          <a:ea typeface="Roboto"/>
                          <a:cs typeface="Roboto"/>
                          <a:sym typeface="Roboto"/>
                        </a:rPr>
                        <a:t>Evidencias</a:t>
                      </a:r>
                      <a:endParaRPr sz="1300">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35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lt1"/>
                          </a:solidFill>
                        </a:rPr>
                        <a:t>12.</a:t>
                      </a:r>
                      <a:endParaRPr sz="1400" u="none" cap="none" strike="noStrike">
                        <a:solidFill>
                          <a:schemeClr val="lt1"/>
                        </a:solidFill>
                      </a:endParaRPr>
                    </a:p>
                  </a:txBody>
                  <a:tcPr marT="91425" marB="91425" marR="91425" marL="91425">
                    <a:lnR cap="flat" cmpd="sng" w="9525">
                      <a:solidFill>
                        <a:srgbClr val="9E9E9E"/>
                      </a:solidFill>
                      <a:prstDash val="solid"/>
                      <a:round/>
                      <a:headEnd len="sm" w="sm" type="none"/>
                      <a:tailEnd len="sm" w="sm" type="none"/>
                    </a:lnR>
                    <a:solidFill>
                      <a:schemeClr val="dk1"/>
                    </a:solidFill>
                  </a:tcPr>
                </a:tc>
                <a:tc>
                  <a:txBody>
                    <a:bodyPr/>
                    <a:lstStyle/>
                    <a:p>
                      <a:pPr indent="0" lvl="0" marL="0" rtl="0" algn="l">
                        <a:spcBef>
                          <a:spcPts val="0"/>
                        </a:spcBef>
                        <a:spcAft>
                          <a:spcPts val="0"/>
                        </a:spcAft>
                        <a:buClr>
                          <a:srgbClr val="000000"/>
                        </a:buClr>
                        <a:buSzPts val="1400"/>
                        <a:buFont typeface="Arial"/>
                        <a:buNone/>
                      </a:pPr>
                      <a:r>
                        <a:rPr lang="en-US" sz="1300">
                          <a:latin typeface="Roboto"/>
                          <a:ea typeface="Roboto"/>
                          <a:cs typeface="Roboto"/>
                          <a:sym typeface="Roboto"/>
                        </a:rPr>
                        <a:t>Sprint</a:t>
                      </a:r>
                      <a:endParaRPr sz="1300">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35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lt1"/>
                          </a:solidFill>
                        </a:rPr>
                        <a:t>13.</a:t>
                      </a:r>
                      <a:endParaRPr sz="1400" u="none" cap="none" strike="noStrike">
                        <a:solidFill>
                          <a:schemeClr val="lt1"/>
                        </a:solidFill>
                      </a:endParaRPr>
                    </a:p>
                  </a:txBody>
                  <a:tcPr marT="91425" marB="91425" marR="91425" marL="91425">
                    <a:lnR cap="flat" cmpd="sng" w="9525">
                      <a:solidFill>
                        <a:srgbClr val="9E9E9E"/>
                      </a:solidFill>
                      <a:prstDash val="solid"/>
                      <a:round/>
                      <a:headEnd len="sm" w="sm" type="none"/>
                      <a:tailEnd len="sm" w="sm" type="none"/>
                    </a:lnR>
                    <a:solidFill>
                      <a:schemeClr val="dk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300" u="none" cap="none" strike="noStrike">
                          <a:latin typeface="Roboto"/>
                          <a:ea typeface="Roboto"/>
                          <a:cs typeface="Roboto"/>
                          <a:sym typeface="Roboto"/>
                        </a:rPr>
                        <a:t>C</a:t>
                      </a:r>
                      <a:r>
                        <a:rPr lang="en-US" sz="1300">
                          <a:latin typeface="Roboto"/>
                          <a:ea typeface="Roboto"/>
                          <a:cs typeface="Roboto"/>
                          <a:sym typeface="Roboto"/>
                        </a:rPr>
                        <a:t>ronograma</a:t>
                      </a:r>
                      <a:endParaRPr sz="1300" u="none" cap="none" strike="noStrike">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35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lt1"/>
                          </a:solidFill>
                        </a:rPr>
                        <a:t>14.</a:t>
                      </a:r>
                      <a:endParaRPr sz="1400" u="none" cap="none" strike="noStrike">
                        <a:solidFill>
                          <a:schemeClr val="lt1"/>
                        </a:solidFill>
                      </a:endParaRPr>
                    </a:p>
                  </a:txBody>
                  <a:tcPr marT="91425" marB="91425" marR="91425" marL="91425">
                    <a:lnR cap="flat" cmpd="sng" w="9525">
                      <a:solidFill>
                        <a:srgbClr val="9E9E9E"/>
                      </a:solidFill>
                      <a:prstDash val="solid"/>
                      <a:round/>
                      <a:headEnd len="sm" w="sm" type="none"/>
                      <a:tailEnd len="sm" w="sm" type="none"/>
                    </a:lnR>
                    <a:solidFill>
                      <a:schemeClr val="dk1"/>
                    </a:solidFill>
                  </a:tcPr>
                </a:tc>
                <a:tc>
                  <a:txBody>
                    <a:bodyPr/>
                    <a:lstStyle/>
                    <a:p>
                      <a:pPr indent="0" lvl="0" marL="0" rtl="0" algn="l">
                        <a:spcBef>
                          <a:spcPts val="0"/>
                        </a:spcBef>
                        <a:spcAft>
                          <a:spcPts val="0"/>
                        </a:spcAft>
                        <a:buClr>
                          <a:srgbClr val="000000"/>
                        </a:buClr>
                        <a:buSzPts val="1400"/>
                        <a:buFont typeface="Arial"/>
                        <a:buNone/>
                      </a:pPr>
                      <a:r>
                        <a:rPr lang="en-US" sz="1300">
                          <a:latin typeface="Roboto"/>
                          <a:ea typeface="Roboto"/>
                          <a:cs typeface="Roboto"/>
                          <a:sym typeface="Roboto"/>
                        </a:rPr>
                        <a:t>Demostración</a:t>
                      </a:r>
                      <a:endParaRPr sz="1300">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35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lt1"/>
                          </a:solidFill>
                        </a:rPr>
                        <a:t>15.</a:t>
                      </a:r>
                      <a:endParaRPr sz="1400" u="none" cap="none" strike="noStrike">
                        <a:solidFill>
                          <a:schemeClr val="lt1"/>
                        </a:solidFill>
                      </a:endParaRPr>
                    </a:p>
                  </a:txBody>
                  <a:tcPr marT="91425" marB="91425" marR="91425" marL="91425">
                    <a:lnR cap="flat" cmpd="sng" w="9525">
                      <a:solidFill>
                        <a:srgbClr val="9E9E9E"/>
                      </a:solidFill>
                      <a:prstDash val="solid"/>
                      <a:round/>
                      <a:headEnd len="sm" w="sm" type="none"/>
                      <a:tailEnd len="sm" w="sm" type="none"/>
                    </a:lnR>
                    <a:solidFill>
                      <a:schemeClr val="dk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300">
                          <a:latin typeface="Roboto"/>
                          <a:ea typeface="Roboto"/>
                          <a:cs typeface="Roboto"/>
                          <a:sym typeface="Roboto"/>
                        </a:rPr>
                        <a:t>Próximos Pasos y Continuidad</a:t>
                      </a:r>
                      <a:endParaRPr sz="1300" u="none" cap="none" strike="noStrike">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3500">
                <a:tc>
                  <a:txBody>
                    <a:bodyPr/>
                    <a:lstStyle/>
                    <a:p>
                      <a:pPr indent="0" lvl="0" marL="0" marR="0" rtl="0" algn="l">
                        <a:lnSpc>
                          <a:spcPct val="100000"/>
                        </a:lnSpc>
                        <a:spcBef>
                          <a:spcPts val="0"/>
                        </a:spcBef>
                        <a:spcAft>
                          <a:spcPts val="0"/>
                        </a:spcAft>
                        <a:buNone/>
                      </a:pPr>
                      <a:r>
                        <a:rPr lang="en-US">
                          <a:solidFill>
                            <a:schemeClr val="lt1"/>
                          </a:solidFill>
                        </a:rPr>
                        <a:t>16.</a:t>
                      </a:r>
                      <a:endParaRPr sz="1400" u="none" cap="none" strike="noStrike">
                        <a:solidFill>
                          <a:schemeClr val="lt1"/>
                        </a:solidFill>
                      </a:endParaRPr>
                    </a:p>
                  </a:txBody>
                  <a:tcPr marT="91425" marB="91425" marR="91425" marL="91425">
                    <a:lnR cap="flat" cmpd="sng" w="9525">
                      <a:solidFill>
                        <a:srgbClr val="9E9E9E"/>
                      </a:solidFill>
                      <a:prstDash val="solid"/>
                      <a:round/>
                      <a:headEnd len="sm" w="sm" type="none"/>
                      <a:tailEnd len="sm" w="sm" type="none"/>
                    </a:lnR>
                    <a:solidFill>
                      <a:schemeClr val="dk1"/>
                    </a:solidFill>
                  </a:tcPr>
                </a:tc>
                <a:tc>
                  <a:txBody>
                    <a:bodyPr/>
                    <a:lstStyle/>
                    <a:p>
                      <a:pPr indent="0" lvl="0" marL="0" rtl="0" algn="l">
                        <a:spcBef>
                          <a:spcPts val="0"/>
                        </a:spcBef>
                        <a:spcAft>
                          <a:spcPts val="0"/>
                        </a:spcAft>
                        <a:buClr>
                          <a:srgbClr val="000000"/>
                        </a:buClr>
                        <a:buSzPts val="1400"/>
                        <a:buFont typeface="Arial"/>
                        <a:buNone/>
                      </a:pPr>
                      <a:r>
                        <a:rPr lang="en-US" sz="1300">
                          <a:latin typeface="Roboto"/>
                          <a:ea typeface="Roboto"/>
                          <a:cs typeface="Roboto"/>
                          <a:sym typeface="Roboto"/>
                        </a:rPr>
                        <a:t>Conclusiones</a:t>
                      </a:r>
                      <a:endParaRPr sz="1300">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grpSp>
        <p:nvGrpSpPr>
          <p:cNvPr id="145" name="Google Shape;145;p20"/>
          <p:cNvGrpSpPr/>
          <p:nvPr/>
        </p:nvGrpSpPr>
        <p:grpSpPr>
          <a:xfrm>
            <a:off x="3978720" y="6840"/>
            <a:ext cx="5164200" cy="5143320"/>
            <a:chOff x="3978720" y="6840"/>
            <a:chExt cx="5164200" cy="5143320"/>
          </a:xfrm>
        </p:grpSpPr>
        <p:sp>
          <p:nvSpPr>
            <p:cNvPr id="146" name="Google Shape;146;p20"/>
            <p:cNvSpPr/>
            <p:nvPr/>
          </p:nvSpPr>
          <p:spPr>
            <a:xfrm flipH="1">
              <a:off x="3978720" y="6840"/>
              <a:ext cx="5164200" cy="514332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7" name="Google Shape;147;p20"/>
            <p:cNvSpPr/>
            <p:nvPr/>
          </p:nvSpPr>
          <p:spPr>
            <a:xfrm rot="-2699400">
              <a:off x="4520880" y="3647520"/>
              <a:ext cx="1779480" cy="32616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8" name="Google Shape;148;p20"/>
            <p:cNvSpPr/>
            <p:nvPr/>
          </p:nvSpPr>
          <p:spPr>
            <a:xfrm rot="-2699400">
              <a:off x="7184160" y="2245320"/>
              <a:ext cx="1779480" cy="32616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9" name="Google Shape;149;p20"/>
            <p:cNvSpPr/>
            <p:nvPr/>
          </p:nvSpPr>
          <p:spPr>
            <a:xfrm rot="-2699400">
              <a:off x="6716520" y="1166760"/>
              <a:ext cx="1779480" cy="47736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0" name="Google Shape;150;p20"/>
            <p:cNvSpPr/>
            <p:nvPr/>
          </p:nvSpPr>
          <p:spPr>
            <a:xfrm rot="-2699400">
              <a:off x="5940360" y="3571560"/>
              <a:ext cx="1779480" cy="47736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1" name="Google Shape;151;p20"/>
            <p:cNvSpPr/>
            <p:nvPr/>
          </p:nvSpPr>
          <p:spPr>
            <a:xfrm>
              <a:off x="6778080" y="2891160"/>
              <a:ext cx="1596240" cy="1596240"/>
            </a:xfrm>
            <a:prstGeom prst="ellipse">
              <a:avLst/>
            </a:prstGeom>
            <a:noFill/>
            <a:ln cap="flat" cmpd="sng" w="9525">
              <a:solidFill>
                <a:srgbClr val="F8F8F8"/>
              </a:solidFill>
              <a:prstDash val="lg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152" name="Google Shape;152;p20"/>
          <p:cNvSpPr txBox="1"/>
          <p:nvPr>
            <p:ph type="title"/>
          </p:nvPr>
        </p:nvSpPr>
        <p:spPr>
          <a:xfrm>
            <a:off x="733325" y="2121825"/>
            <a:ext cx="4409700" cy="551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2880"/>
              <a:buFont typeface="Archivo Black"/>
              <a:buNone/>
            </a:pPr>
            <a:r>
              <a:rPr b="1" lang="en-US" sz="3200" u="none" strike="noStrike">
                <a:solidFill>
                  <a:schemeClr val="dk1"/>
                </a:solidFill>
                <a:latin typeface="Roboto"/>
                <a:ea typeface="Roboto"/>
                <a:cs typeface="Roboto"/>
                <a:sym typeface="Roboto"/>
              </a:rPr>
              <a:t>Contexto</a:t>
            </a:r>
            <a:endParaRPr b="1" sz="3200" u="none" strike="noStrike">
              <a:solidFill>
                <a:schemeClr val="dk1"/>
              </a:solidFill>
              <a:latin typeface="Roboto"/>
              <a:ea typeface="Roboto"/>
              <a:cs typeface="Roboto"/>
              <a:sym typeface="Roboto"/>
            </a:endParaRPr>
          </a:p>
        </p:txBody>
      </p:sp>
      <p:sp>
        <p:nvSpPr>
          <p:cNvPr id="153" name="Google Shape;153;p20"/>
          <p:cNvSpPr/>
          <p:nvPr/>
        </p:nvSpPr>
        <p:spPr>
          <a:xfrm>
            <a:off x="5397480" y="1055160"/>
            <a:ext cx="3033000" cy="3033000"/>
          </a:xfrm>
          <a:prstGeom prst="ellipse">
            <a:avLst/>
          </a:prstGeom>
          <a:blipFill rotWithShape="1">
            <a:blip r:embed="rId3">
              <a:alphaModFix/>
            </a:blip>
            <a:stretch>
              <a:fillRect b="0" l="0" r="0" t="0"/>
            </a:stretch>
          </a:blipFill>
          <a:ln cap="flat" cmpd="sng" w="38100">
            <a:solidFill>
              <a:srgbClr val="F8F8F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54" name="Google Shape;154;p20"/>
          <p:cNvGrpSpPr/>
          <p:nvPr/>
        </p:nvGrpSpPr>
        <p:grpSpPr>
          <a:xfrm>
            <a:off x="5405271" y="1044231"/>
            <a:ext cx="3159978" cy="3290658"/>
            <a:chOff x="5405271" y="1044231"/>
            <a:chExt cx="3159978" cy="3290658"/>
          </a:xfrm>
        </p:grpSpPr>
        <p:sp>
          <p:nvSpPr>
            <p:cNvPr id="155" name="Google Shape;155;p20"/>
            <p:cNvSpPr/>
            <p:nvPr/>
          </p:nvSpPr>
          <p:spPr>
            <a:xfrm rot="-2700000">
              <a:off x="7674840" y="1379520"/>
              <a:ext cx="995760" cy="114480"/>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6" name="Google Shape;156;p20"/>
            <p:cNvSpPr/>
            <p:nvPr/>
          </p:nvSpPr>
          <p:spPr>
            <a:xfrm rot="-2700000">
              <a:off x="5299920" y="3885120"/>
              <a:ext cx="995760" cy="114480"/>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157" name="Google Shape;157;p20"/>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158" name="Google Shape;158;p20"/>
          <p:cNvPicPr preferRelativeResize="0"/>
          <p:nvPr/>
        </p:nvPicPr>
        <p:blipFill>
          <a:blip r:embed="rId4">
            <a:alphaModFix/>
          </a:blip>
          <a:stretch>
            <a:fillRect/>
          </a:stretch>
        </p:blipFill>
        <p:spPr>
          <a:xfrm>
            <a:off x="2637100" y="1274350"/>
            <a:ext cx="2436496" cy="21657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1"/>
          <p:cNvSpPr txBox="1"/>
          <p:nvPr>
            <p:ph idx="4294967295" type="subTitle"/>
          </p:nvPr>
        </p:nvSpPr>
        <p:spPr>
          <a:xfrm>
            <a:off x="524031" y="1601100"/>
            <a:ext cx="7410600" cy="2476200"/>
          </a:xfrm>
          <a:prstGeom prst="rect">
            <a:avLst/>
          </a:prstGeom>
          <a:noFill/>
          <a:ln>
            <a:noFill/>
          </a:ln>
        </p:spPr>
        <p:txBody>
          <a:bodyPr anchorCtr="0" anchor="t" bIns="91425" lIns="91425" spcFirstLastPara="1" rIns="91425" wrap="square" tIns="91425">
            <a:normAutofit/>
          </a:bodyPr>
          <a:lstStyle/>
          <a:p>
            <a:pPr indent="0" lvl="0" marL="0" marR="0" rtl="0" algn="just">
              <a:lnSpc>
                <a:spcPct val="150000"/>
              </a:lnSpc>
              <a:spcBef>
                <a:spcPts val="0"/>
              </a:spcBef>
              <a:spcAft>
                <a:spcPts val="1200"/>
              </a:spcAft>
              <a:buClr>
                <a:schemeClr val="dk1"/>
              </a:buClr>
              <a:buSzPts val="1400"/>
              <a:buFont typeface="Manrope"/>
              <a:buNone/>
            </a:pPr>
            <a:r>
              <a:rPr b="1" lang="en-US">
                <a:solidFill>
                  <a:schemeClr val="dk1"/>
                </a:solidFill>
              </a:rPr>
              <a:t>Cambiaso</a:t>
            </a:r>
            <a:r>
              <a:rPr lang="en-US">
                <a:solidFill>
                  <a:schemeClr val="dk1"/>
                </a:solidFill>
              </a:rPr>
              <a:t> se enfoca en liderar en Chile los </a:t>
            </a:r>
            <a:r>
              <a:rPr b="1" lang="en-US">
                <a:solidFill>
                  <a:schemeClr val="dk1"/>
                </a:solidFill>
              </a:rPr>
              <a:t>rubros de tés, hierbas y productos de limpieza</a:t>
            </a:r>
            <a:r>
              <a:rPr lang="en-US">
                <a:solidFill>
                  <a:schemeClr val="dk1"/>
                </a:solidFill>
              </a:rPr>
              <a:t> para el hogar a través de marcas de alta confianza como "Té Supremo" y "Superior". Utilizando su tradición de casi </a:t>
            </a:r>
            <a:r>
              <a:rPr b="1" lang="en-US">
                <a:solidFill>
                  <a:schemeClr val="dk1"/>
                </a:solidFill>
              </a:rPr>
              <a:t>150 años</a:t>
            </a:r>
            <a:r>
              <a:rPr lang="en-US">
                <a:solidFill>
                  <a:schemeClr val="dk1"/>
                </a:solidFill>
              </a:rPr>
              <a:t> y una constante innovación, optimiza la vida diaria de sus consumidores con productos de alta calidad, promoviendo un modelo de negocio sostenible y con un impacto social positivo.</a:t>
            </a:r>
            <a:endParaRPr>
              <a:solidFill>
                <a:schemeClr val="dk1"/>
              </a:solidFill>
            </a:endParaRPr>
          </a:p>
        </p:txBody>
      </p:sp>
      <p:sp>
        <p:nvSpPr>
          <p:cNvPr id="164" name="Google Shape;164;p21"/>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165" name="Google Shape;165;p21"/>
          <p:cNvPicPr preferRelativeResize="0"/>
          <p:nvPr/>
        </p:nvPicPr>
        <p:blipFill>
          <a:blip r:embed="rId3">
            <a:alphaModFix/>
          </a:blip>
          <a:stretch>
            <a:fillRect/>
          </a:stretch>
        </p:blipFill>
        <p:spPr>
          <a:xfrm>
            <a:off x="2490188" y="232625"/>
            <a:ext cx="3224325" cy="1289725"/>
          </a:xfrm>
          <a:prstGeom prst="rect">
            <a:avLst/>
          </a:prstGeom>
          <a:noFill/>
          <a:ln>
            <a:noFill/>
          </a:ln>
        </p:spPr>
      </p:pic>
      <p:pic>
        <p:nvPicPr>
          <p:cNvPr id="166" name="Google Shape;166;p21"/>
          <p:cNvPicPr preferRelativeResize="0"/>
          <p:nvPr/>
        </p:nvPicPr>
        <p:blipFill>
          <a:blip r:embed="rId4">
            <a:alphaModFix/>
          </a:blip>
          <a:stretch>
            <a:fillRect/>
          </a:stretch>
        </p:blipFill>
        <p:spPr>
          <a:xfrm>
            <a:off x="1978250" y="3815776"/>
            <a:ext cx="4712648" cy="13277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grpSp>
        <p:nvGrpSpPr>
          <p:cNvPr id="171" name="Google Shape;171;p22"/>
          <p:cNvGrpSpPr/>
          <p:nvPr/>
        </p:nvGrpSpPr>
        <p:grpSpPr>
          <a:xfrm>
            <a:off x="3978720" y="6840"/>
            <a:ext cx="5164200" cy="5143200"/>
            <a:chOff x="3978720" y="6840"/>
            <a:chExt cx="5164200" cy="5143200"/>
          </a:xfrm>
        </p:grpSpPr>
        <p:sp>
          <p:nvSpPr>
            <p:cNvPr id="172" name="Google Shape;172;p22"/>
            <p:cNvSpPr/>
            <p:nvPr/>
          </p:nvSpPr>
          <p:spPr>
            <a:xfrm flipH="1">
              <a:off x="3978720" y="6840"/>
              <a:ext cx="5164200" cy="51432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3" name="Google Shape;173;p22"/>
            <p:cNvSpPr/>
            <p:nvPr/>
          </p:nvSpPr>
          <p:spPr>
            <a:xfrm rot="-2699590">
              <a:off x="4520886" y="36474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4" name="Google Shape;174;p22"/>
            <p:cNvSpPr/>
            <p:nvPr/>
          </p:nvSpPr>
          <p:spPr>
            <a:xfrm rot="-2699590">
              <a:off x="7184166" y="22452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5" name="Google Shape;175;p22"/>
            <p:cNvSpPr/>
            <p:nvPr/>
          </p:nvSpPr>
          <p:spPr>
            <a:xfrm rot="-2699590">
              <a:off x="6716478" y="11666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6" name="Google Shape;176;p22"/>
            <p:cNvSpPr/>
            <p:nvPr/>
          </p:nvSpPr>
          <p:spPr>
            <a:xfrm rot="-2699590">
              <a:off x="5940318" y="35714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7" name="Google Shape;177;p22"/>
            <p:cNvSpPr/>
            <p:nvPr/>
          </p:nvSpPr>
          <p:spPr>
            <a:xfrm>
              <a:off x="6778080" y="2891160"/>
              <a:ext cx="1596300" cy="1596300"/>
            </a:xfrm>
            <a:prstGeom prst="ellipse">
              <a:avLst/>
            </a:prstGeom>
            <a:noFill/>
            <a:ln cap="flat" cmpd="sng" w="9525">
              <a:solidFill>
                <a:srgbClr val="F8F8F8"/>
              </a:solidFill>
              <a:prstDash val="lg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178" name="Google Shape;178;p22"/>
          <p:cNvSpPr txBox="1"/>
          <p:nvPr>
            <p:ph type="title"/>
          </p:nvPr>
        </p:nvSpPr>
        <p:spPr>
          <a:xfrm>
            <a:off x="733325" y="2121825"/>
            <a:ext cx="4409700" cy="551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Problema</a:t>
            </a:r>
            <a:endParaRPr b="1" sz="3200" u="none" strike="noStrike">
              <a:solidFill>
                <a:schemeClr val="dk1"/>
              </a:solidFill>
              <a:latin typeface="Roboto"/>
              <a:ea typeface="Roboto"/>
              <a:cs typeface="Roboto"/>
              <a:sym typeface="Roboto"/>
            </a:endParaRPr>
          </a:p>
        </p:txBody>
      </p:sp>
      <p:sp>
        <p:nvSpPr>
          <p:cNvPr id="179" name="Google Shape;179;p22"/>
          <p:cNvSpPr/>
          <p:nvPr/>
        </p:nvSpPr>
        <p:spPr>
          <a:xfrm>
            <a:off x="5397480" y="1055160"/>
            <a:ext cx="3033000" cy="3033000"/>
          </a:xfrm>
          <a:prstGeom prst="ellipse">
            <a:avLst/>
          </a:prstGeom>
          <a:blipFill rotWithShape="1">
            <a:blip r:embed="rId3">
              <a:alphaModFix/>
            </a:blip>
            <a:stretch>
              <a:fillRect b="0" l="0" r="0" t="0"/>
            </a:stretch>
          </a:blipFill>
          <a:ln cap="flat" cmpd="sng" w="38100">
            <a:solidFill>
              <a:srgbClr val="F8F8F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80" name="Google Shape;180;p22"/>
          <p:cNvGrpSpPr/>
          <p:nvPr/>
        </p:nvGrpSpPr>
        <p:grpSpPr>
          <a:xfrm>
            <a:off x="5405271" y="1044240"/>
            <a:ext cx="3160020" cy="3290700"/>
            <a:chOff x="5405271" y="1044240"/>
            <a:chExt cx="3160020" cy="3290700"/>
          </a:xfrm>
        </p:grpSpPr>
        <p:sp>
          <p:nvSpPr>
            <p:cNvPr id="181" name="Google Shape;181;p22"/>
            <p:cNvSpPr/>
            <p:nvPr/>
          </p:nvSpPr>
          <p:spPr>
            <a:xfrm rot="-2700000">
              <a:off x="7674867" y="13795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2" name="Google Shape;182;p22"/>
            <p:cNvSpPr/>
            <p:nvPr/>
          </p:nvSpPr>
          <p:spPr>
            <a:xfrm rot="-2700000">
              <a:off x="5299947" y="38851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183" name="Google Shape;183;p22"/>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184" name="Google Shape;184;p22"/>
          <p:cNvPicPr preferRelativeResize="0"/>
          <p:nvPr/>
        </p:nvPicPr>
        <p:blipFill>
          <a:blip r:embed="rId4">
            <a:alphaModFix/>
          </a:blip>
          <a:stretch>
            <a:fillRect/>
          </a:stretch>
        </p:blipFill>
        <p:spPr>
          <a:xfrm>
            <a:off x="2729200" y="1420600"/>
            <a:ext cx="2477516" cy="21657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3"/>
          <p:cNvSpPr txBox="1"/>
          <p:nvPr>
            <p:ph idx="1" type="body"/>
          </p:nvPr>
        </p:nvSpPr>
        <p:spPr>
          <a:xfrm>
            <a:off x="127050" y="594150"/>
            <a:ext cx="7548600" cy="41556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1200"/>
              </a:spcBef>
              <a:spcAft>
                <a:spcPts val="0"/>
              </a:spcAft>
              <a:buSzPts val="770"/>
              <a:buNone/>
            </a:pPr>
            <a:r>
              <a:rPr lang="en-US" sz="1300">
                <a:solidFill>
                  <a:schemeClr val="dk1"/>
                </a:solidFill>
              </a:rPr>
              <a:t>La presente </a:t>
            </a:r>
            <a:r>
              <a:rPr b="1" lang="en-US" sz="1300">
                <a:solidFill>
                  <a:schemeClr val="dk1"/>
                </a:solidFill>
              </a:rPr>
              <a:t>dependencia en los procesos de </a:t>
            </a:r>
            <a:r>
              <a:rPr b="1" lang="en-US" sz="1300">
                <a:solidFill>
                  <a:schemeClr val="dk1"/>
                </a:solidFill>
              </a:rPr>
              <a:t>análisis</a:t>
            </a:r>
            <a:r>
              <a:rPr b="1" lang="en-US" sz="1300">
                <a:solidFill>
                  <a:schemeClr val="dk1"/>
                </a:solidFill>
              </a:rPr>
              <a:t> de datos de </a:t>
            </a:r>
            <a:r>
              <a:rPr b="1" lang="en-US" sz="1300">
                <a:solidFill>
                  <a:schemeClr val="dk1"/>
                </a:solidFill>
              </a:rPr>
              <a:t>producción manualmente</a:t>
            </a:r>
            <a:r>
              <a:rPr lang="en-US" sz="1300">
                <a:solidFill>
                  <a:schemeClr val="dk1"/>
                </a:solidFill>
              </a:rPr>
              <a:t> en las distintas secciones y plantas</a:t>
            </a:r>
            <a:r>
              <a:rPr lang="en-US" sz="1300">
                <a:solidFill>
                  <a:schemeClr val="dk1"/>
                </a:solidFill>
              </a:rPr>
              <a:t>,  el análisis de información crítica de producción. </a:t>
            </a:r>
            <a:r>
              <a:rPr lang="en-US" sz="1300">
                <a:solidFill>
                  <a:schemeClr val="dk1"/>
                </a:solidFill>
              </a:rPr>
              <a:t>así</a:t>
            </a:r>
            <a:r>
              <a:rPr lang="en-US" sz="1300">
                <a:solidFill>
                  <a:schemeClr val="dk1"/>
                </a:solidFill>
              </a:rPr>
              <a:t> actualmente los datos se gestionan a través de la </a:t>
            </a:r>
            <a:r>
              <a:rPr b="1" lang="en-US" sz="1300">
                <a:solidFill>
                  <a:schemeClr val="dk1"/>
                </a:solidFill>
              </a:rPr>
              <a:t>extracción de reportes desde SAP hacia planillas de cálculo</a:t>
            </a:r>
            <a:r>
              <a:rPr lang="en-US" sz="1300">
                <a:solidFill>
                  <a:schemeClr val="dk1"/>
                </a:solidFill>
              </a:rPr>
              <a:t>, que luego son </a:t>
            </a:r>
            <a:r>
              <a:rPr b="1" lang="en-US" sz="1300">
                <a:solidFill>
                  <a:schemeClr val="dk1"/>
                </a:solidFill>
              </a:rPr>
              <a:t>impresas y analizadas de forma aislada</a:t>
            </a:r>
            <a:r>
              <a:rPr lang="en-US" sz="1300">
                <a:solidFill>
                  <a:schemeClr val="dk1"/>
                </a:solidFill>
              </a:rPr>
              <a:t>.</a:t>
            </a:r>
            <a:endParaRPr sz="1300">
              <a:solidFill>
                <a:schemeClr val="dk1"/>
              </a:solidFill>
            </a:endParaRPr>
          </a:p>
          <a:p>
            <a:pPr indent="0" lvl="0" marL="0" rtl="0" algn="l">
              <a:lnSpc>
                <a:spcPct val="95000"/>
              </a:lnSpc>
              <a:spcBef>
                <a:spcPts val="1200"/>
              </a:spcBef>
              <a:spcAft>
                <a:spcPts val="0"/>
              </a:spcAft>
              <a:buSzPts val="770"/>
              <a:buNone/>
            </a:pPr>
            <a:r>
              <a:rPr lang="en-US" sz="1300">
                <a:solidFill>
                  <a:schemeClr val="dk1"/>
                </a:solidFill>
              </a:rPr>
              <a:t>Esto genera dos puntos críticos:</a:t>
            </a:r>
            <a:endParaRPr sz="1300">
              <a:solidFill>
                <a:schemeClr val="dk1"/>
              </a:solidFill>
            </a:endParaRPr>
          </a:p>
          <a:p>
            <a:pPr indent="-311150" lvl="0" marL="457200" rtl="0" algn="l">
              <a:lnSpc>
                <a:spcPct val="95000"/>
              </a:lnSpc>
              <a:spcBef>
                <a:spcPts val="1200"/>
              </a:spcBef>
              <a:spcAft>
                <a:spcPts val="0"/>
              </a:spcAft>
              <a:buClr>
                <a:schemeClr val="dk1"/>
              </a:buClr>
              <a:buSzPts val="1300"/>
              <a:buFont typeface="Roboto"/>
              <a:buAutoNum type="arabicPeriod"/>
            </a:pPr>
            <a:r>
              <a:rPr b="1" lang="en-US" sz="1300">
                <a:solidFill>
                  <a:schemeClr val="dk1"/>
                </a:solidFill>
              </a:rPr>
              <a:t>Fragmentación e Inconsistencia de Datos</a:t>
            </a:r>
            <a:br>
              <a:rPr b="1" lang="en-US" sz="1300">
                <a:solidFill>
                  <a:schemeClr val="dk1"/>
                </a:solidFill>
              </a:rPr>
            </a:br>
            <a:endParaRPr b="1" sz="1300">
              <a:solidFill>
                <a:schemeClr val="dk1"/>
              </a:solidFill>
            </a:endParaRPr>
          </a:p>
          <a:p>
            <a:pPr indent="-311150" lvl="1" marL="914400" rtl="0" algn="l">
              <a:lnSpc>
                <a:spcPct val="95000"/>
              </a:lnSpc>
              <a:spcBef>
                <a:spcPts val="0"/>
              </a:spcBef>
              <a:spcAft>
                <a:spcPts val="0"/>
              </a:spcAft>
              <a:buClr>
                <a:schemeClr val="dk1"/>
              </a:buClr>
              <a:buSzPts val="1300"/>
              <a:buFont typeface="Roboto"/>
              <a:buChar char="○"/>
            </a:pPr>
            <a:r>
              <a:rPr lang="en-US" sz="1300">
                <a:solidFill>
                  <a:schemeClr val="dk1"/>
                </a:solidFill>
              </a:rPr>
              <a:t>Los reportes no están estandarizados, lo que impide consolidar información de manera ágil y confiable.</a:t>
            </a:r>
            <a:br>
              <a:rPr lang="en-US" sz="1300">
                <a:solidFill>
                  <a:schemeClr val="dk1"/>
                </a:solidFill>
              </a:rPr>
            </a:br>
            <a:endParaRPr sz="1300">
              <a:solidFill>
                <a:schemeClr val="dk1"/>
              </a:solidFill>
            </a:endParaRPr>
          </a:p>
          <a:p>
            <a:pPr indent="-311150" lvl="1" marL="914400" rtl="0" algn="l">
              <a:lnSpc>
                <a:spcPct val="95000"/>
              </a:lnSpc>
              <a:spcBef>
                <a:spcPts val="0"/>
              </a:spcBef>
              <a:spcAft>
                <a:spcPts val="0"/>
              </a:spcAft>
              <a:buClr>
                <a:schemeClr val="dk1"/>
              </a:buClr>
              <a:buSzPts val="1300"/>
              <a:buFont typeface="Roboto"/>
              <a:buChar char="○"/>
            </a:pPr>
            <a:r>
              <a:rPr lang="en-US" sz="1300">
                <a:solidFill>
                  <a:schemeClr val="dk1"/>
                </a:solidFill>
              </a:rPr>
              <a:t>Se pierde la visión unificada del rendimiento operativo.</a:t>
            </a:r>
            <a:br>
              <a:rPr lang="en-US" sz="1300">
                <a:solidFill>
                  <a:schemeClr val="dk1"/>
                </a:solidFill>
              </a:rPr>
            </a:br>
            <a:endParaRPr sz="1300">
              <a:solidFill>
                <a:schemeClr val="dk1"/>
              </a:solidFill>
            </a:endParaRPr>
          </a:p>
          <a:p>
            <a:pPr indent="-311150" lvl="0" marL="457200" rtl="0" algn="l">
              <a:lnSpc>
                <a:spcPct val="95000"/>
              </a:lnSpc>
              <a:spcBef>
                <a:spcPts val="0"/>
              </a:spcBef>
              <a:spcAft>
                <a:spcPts val="0"/>
              </a:spcAft>
              <a:buClr>
                <a:schemeClr val="dk1"/>
              </a:buClr>
              <a:buSzPts val="1300"/>
              <a:buFont typeface="Roboto"/>
              <a:buAutoNum type="arabicPeriod"/>
            </a:pPr>
            <a:r>
              <a:rPr b="1" lang="en-US" sz="1300">
                <a:solidFill>
                  <a:schemeClr val="dk1"/>
                </a:solidFill>
              </a:rPr>
              <a:t>Latencia en la Toma de Decisiones</a:t>
            </a:r>
            <a:br>
              <a:rPr b="1" lang="en-US" sz="1300">
                <a:solidFill>
                  <a:schemeClr val="dk1"/>
                </a:solidFill>
              </a:rPr>
            </a:br>
            <a:endParaRPr b="1" sz="1300">
              <a:solidFill>
                <a:schemeClr val="dk1"/>
              </a:solidFill>
            </a:endParaRPr>
          </a:p>
          <a:p>
            <a:pPr indent="-311150" lvl="1" marL="914400" rtl="0" algn="l">
              <a:lnSpc>
                <a:spcPct val="95000"/>
              </a:lnSpc>
              <a:spcBef>
                <a:spcPts val="0"/>
              </a:spcBef>
              <a:spcAft>
                <a:spcPts val="0"/>
              </a:spcAft>
              <a:buClr>
                <a:schemeClr val="dk1"/>
              </a:buClr>
              <a:buSzPts val="1300"/>
              <a:buFont typeface="Roboto"/>
              <a:buChar char="○"/>
            </a:pPr>
            <a:r>
              <a:rPr lang="en-US" sz="1300">
                <a:solidFill>
                  <a:schemeClr val="dk1"/>
                </a:solidFill>
              </a:rPr>
              <a:t>El ciclo manual de extracción, impresión y revisión retrasa la reacción ante eventos de producción.</a:t>
            </a:r>
            <a:br>
              <a:rPr lang="en-US" sz="1300">
                <a:solidFill>
                  <a:schemeClr val="dk1"/>
                </a:solidFill>
              </a:rPr>
            </a:br>
            <a:endParaRPr sz="1300">
              <a:solidFill>
                <a:schemeClr val="dk1"/>
              </a:solidFill>
            </a:endParaRPr>
          </a:p>
          <a:p>
            <a:pPr indent="-311150" lvl="1" marL="914400" rtl="0" algn="l">
              <a:lnSpc>
                <a:spcPct val="95000"/>
              </a:lnSpc>
              <a:spcBef>
                <a:spcPts val="0"/>
              </a:spcBef>
              <a:spcAft>
                <a:spcPts val="0"/>
              </a:spcAft>
              <a:buClr>
                <a:schemeClr val="dk1"/>
              </a:buClr>
              <a:buSzPts val="1300"/>
              <a:buFont typeface="Roboto"/>
              <a:buChar char="○"/>
            </a:pPr>
            <a:r>
              <a:rPr lang="en-US" sz="1300">
                <a:solidFill>
                  <a:schemeClr val="dk1"/>
                </a:solidFill>
              </a:rPr>
              <a:t>La gerencia no cuenta con información oportuna para decisiones estratégicas.</a:t>
            </a:r>
            <a:endParaRPr sz="1300">
              <a:solidFill>
                <a:schemeClr val="dk1"/>
              </a:solidFill>
            </a:endParaRPr>
          </a:p>
        </p:txBody>
      </p:sp>
      <p:sp>
        <p:nvSpPr>
          <p:cNvPr id="190" name="Google Shape;190;p23"/>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191" name="Google Shape;191;p23"/>
          <p:cNvSpPr txBox="1"/>
          <p:nvPr>
            <p:ph type="title"/>
          </p:nvPr>
        </p:nvSpPr>
        <p:spPr>
          <a:xfrm>
            <a:off x="2970450" y="15975"/>
            <a:ext cx="2514300" cy="551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Problema</a:t>
            </a:r>
            <a:endParaRPr b="1" sz="3200" u="none" strike="noStrike">
              <a:solidFill>
                <a:schemeClr val="dk1"/>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4"/>
          <p:cNvSpPr txBox="1"/>
          <p:nvPr>
            <p:ph idx="1" type="body"/>
          </p:nvPr>
        </p:nvSpPr>
        <p:spPr>
          <a:xfrm>
            <a:off x="760025" y="551099"/>
            <a:ext cx="6236700" cy="4689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1200"/>
              </a:spcBef>
              <a:spcAft>
                <a:spcPts val="1200"/>
              </a:spcAft>
              <a:buSzPts val="770"/>
              <a:buNone/>
            </a:pPr>
            <a:r>
              <a:rPr b="1" lang="en-US" sz="1500">
                <a:solidFill>
                  <a:srgbClr val="000000"/>
                </a:solidFill>
              </a:rPr>
              <a:t>Del tiempo perdido a la Fuga de Capital</a:t>
            </a:r>
            <a:endParaRPr b="1" sz="1500">
              <a:solidFill>
                <a:srgbClr val="000000"/>
              </a:solidFill>
            </a:endParaRPr>
          </a:p>
        </p:txBody>
      </p:sp>
      <p:sp>
        <p:nvSpPr>
          <p:cNvPr id="197" name="Google Shape;197;p24"/>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198" name="Google Shape;198;p24"/>
          <p:cNvSpPr txBox="1"/>
          <p:nvPr>
            <p:ph type="title"/>
          </p:nvPr>
        </p:nvSpPr>
        <p:spPr>
          <a:xfrm>
            <a:off x="1366625" y="68000"/>
            <a:ext cx="5630100" cy="5511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US" sz="3200">
                <a:solidFill>
                  <a:schemeClr val="dk1"/>
                </a:solidFill>
                <a:latin typeface="Roboto"/>
                <a:ea typeface="Roboto"/>
                <a:cs typeface="Roboto"/>
                <a:sym typeface="Roboto"/>
              </a:rPr>
              <a:t>IMPACTO EN INTERESADOS</a:t>
            </a:r>
            <a:endParaRPr b="1" sz="3200">
              <a:solidFill>
                <a:schemeClr val="dk1"/>
              </a:solidFill>
              <a:latin typeface="Roboto"/>
              <a:ea typeface="Roboto"/>
              <a:cs typeface="Roboto"/>
              <a:sym typeface="Roboto"/>
            </a:endParaRPr>
          </a:p>
        </p:txBody>
      </p:sp>
      <p:graphicFrame>
        <p:nvGraphicFramePr>
          <p:cNvPr id="199" name="Google Shape;199;p24"/>
          <p:cNvGraphicFramePr/>
          <p:nvPr/>
        </p:nvGraphicFramePr>
        <p:xfrm>
          <a:off x="301675" y="1555525"/>
          <a:ext cx="3000000" cy="3000000"/>
        </p:xfrm>
        <a:graphic>
          <a:graphicData uri="http://schemas.openxmlformats.org/drawingml/2006/table">
            <a:tbl>
              <a:tblPr>
                <a:noFill/>
                <a:tableStyleId>{A2C410A7-45D1-4032-8EF4-01FF531B4DC7}</a:tableStyleId>
              </a:tblPr>
              <a:tblGrid>
                <a:gridCol w="2072725"/>
                <a:gridCol w="2072725"/>
                <a:gridCol w="2269375"/>
              </a:tblGrid>
              <a:tr h="322325">
                <a:tc>
                  <a:txBody>
                    <a:bodyPr/>
                    <a:lstStyle/>
                    <a:p>
                      <a:pPr indent="0" lvl="0" marL="0" rtl="0" algn="l">
                        <a:lnSpc>
                          <a:spcPct val="142857"/>
                        </a:lnSpc>
                        <a:spcBef>
                          <a:spcPts val="0"/>
                        </a:spcBef>
                        <a:spcAft>
                          <a:spcPts val="1200"/>
                        </a:spcAft>
                        <a:buNone/>
                      </a:pPr>
                      <a:r>
                        <a:rPr b="1" lang="en-US" sz="1050">
                          <a:solidFill>
                            <a:schemeClr val="dk1"/>
                          </a:solidFill>
                          <a:highlight>
                            <a:schemeClr val="lt1"/>
                          </a:highlight>
                          <a:latin typeface="Roboto"/>
                          <a:ea typeface="Roboto"/>
                          <a:cs typeface="Roboto"/>
                          <a:sym typeface="Roboto"/>
                        </a:rPr>
                        <a:t>Stakeholder</a:t>
                      </a:r>
                      <a:endParaRPr b="1" sz="1050">
                        <a:solidFill>
                          <a:schemeClr val="dk1"/>
                        </a:solidFill>
                        <a:highlight>
                          <a:schemeClr val="lt1"/>
                        </a:highlight>
                        <a:latin typeface="Roboto"/>
                        <a:ea typeface="Roboto"/>
                        <a:cs typeface="Roboto"/>
                        <a:sym typeface="Roboto"/>
                      </a:endParaRPr>
                    </a:p>
                  </a:txBody>
                  <a:tcPr marT="57150" marB="57150" marR="114300" marL="114300"/>
                </a:tc>
                <a:tc>
                  <a:txBody>
                    <a:bodyPr/>
                    <a:lstStyle/>
                    <a:p>
                      <a:pPr indent="0" lvl="0" marL="0" rtl="0" algn="l">
                        <a:lnSpc>
                          <a:spcPct val="142857"/>
                        </a:lnSpc>
                        <a:spcBef>
                          <a:spcPts val="0"/>
                        </a:spcBef>
                        <a:spcAft>
                          <a:spcPts val="1200"/>
                        </a:spcAft>
                        <a:buNone/>
                      </a:pPr>
                      <a:r>
                        <a:rPr b="1" lang="en-US" sz="1050">
                          <a:solidFill>
                            <a:schemeClr val="dk1"/>
                          </a:solidFill>
                          <a:highlight>
                            <a:schemeClr val="lt1"/>
                          </a:highlight>
                          <a:latin typeface="Roboto"/>
                          <a:ea typeface="Roboto"/>
                          <a:cs typeface="Roboto"/>
                          <a:sym typeface="Roboto"/>
                        </a:rPr>
                        <a:t>El Problema Directo</a:t>
                      </a:r>
                      <a:endParaRPr b="1" sz="1050">
                        <a:solidFill>
                          <a:schemeClr val="dk1"/>
                        </a:solidFill>
                        <a:highlight>
                          <a:schemeClr val="lt1"/>
                        </a:highlight>
                        <a:latin typeface="Roboto"/>
                        <a:ea typeface="Roboto"/>
                        <a:cs typeface="Roboto"/>
                        <a:sym typeface="Roboto"/>
                      </a:endParaRPr>
                    </a:p>
                  </a:txBody>
                  <a:tcPr marT="57150" marB="57150" marR="114300" marL="114300"/>
                </a:tc>
                <a:tc>
                  <a:txBody>
                    <a:bodyPr/>
                    <a:lstStyle/>
                    <a:p>
                      <a:pPr indent="0" lvl="0" marL="0" rtl="0" algn="l">
                        <a:lnSpc>
                          <a:spcPct val="142857"/>
                        </a:lnSpc>
                        <a:spcBef>
                          <a:spcPts val="0"/>
                        </a:spcBef>
                        <a:spcAft>
                          <a:spcPts val="1200"/>
                        </a:spcAft>
                        <a:buNone/>
                      </a:pPr>
                      <a:r>
                        <a:rPr b="1" lang="en-US" sz="1050">
                          <a:solidFill>
                            <a:schemeClr val="dk1"/>
                          </a:solidFill>
                          <a:highlight>
                            <a:schemeClr val="lt1"/>
                          </a:highlight>
                          <a:latin typeface="Roboto"/>
                          <a:ea typeface="Roboto"/>
                          <a:cs typeface="Roboto"/>
                          <a:sym typeface="Roboto"/>
                        </a:rPr>
                        <a:t>La Consecuencia Financiera</a:t>
                      </a:r>
                      <a:endParaRPr b="1" sz="1050">
                        <a:solidFill>
                          <a:schemeClr val="dk1"/>
                        </a:solidFill>
                        <a:highlight>
                          <a:schemeClr val="lt1"/>
                        </a:highlight>
                        <a:latin typeface="Roboto"/>
                        <a:ea typeface="Roboto"/>
                        <a:cs typeface="Roboto"/>
                        <a:sym typeface="Roboto"/>
                      </a:endParaRPr>
                    </a:p>
                  </a:txBody>
                  <a:tcPr marT="57150" marB="57150" marR="114300" marL="114300"/>
                </a:tc>
              </a:tr>
              <a:tr h="425450">
                <a:tc>
                  <a:txBody>
                    <a:bodyPr/>
                    <a:lstStyle/>
                    <a:p>
                      <a:pPr indent="0" lvl="0" marL="0" rtl="0" algn="l">
                        <a:lnSpc>
                          <a:spcPct val="142857"/>
                        </a:lnSpc>
                        <a:spcBef>
                          <a:spcPts val="0"/>
                        </a:spcBef>
                        <a:spcAft>
                          <a:spcPts val="1200"/>
                        </a:spcAft>
                        <a:buNone/>
                      </a:pPr>
                      <a:r>
                        <a:rPr lang="en-US" sz="1050">
                          <a:solidFill>
                            <a:schemeClr val="dk1"/>
                          </a:solidFill>
                          <a:highlight>
                            <a:schemeClr val="lt1"/>
                          </a:highlight>
                          <a:latin typeface="Roboto"/>
                          <a:ea typeface="Roboto"/>
                          <a:cs typeface="Roboto"/>
                          <a:sym typeface="Roboto"/>
                        </a:rPr>
                        <a:t>Jefaturas de Producción</a:t>
                      </a:r>
                      <a:endParaRPr sz="1050">
                        <a:solidFill>
                          <a:schemeClr val="dk1"/>
                        </a:solidFill>
                        <a:highlight>
                          <a:schemeClr val="lt1"/>
                        </a:highlight>
                        <a:latin typeface="Roboto"/>
                        <a:ea typeface="Roboto"/>
                        <a:cs typeface="Roboto"/>
                        <a:sym typeface="Roboto"/>
                      </a:endParaRPr>
                    </a:p>
                  </a:txBody>
                  <a:tcPr marT="57150" marB="57150" marR="114300" marL="114300"/>
                </a:tc>
                <a:tc>
                  <a:txBody>
                    <a:bodyPr/>
                    <a:lstStyle/>
                    <a:p>
                      <a:pPr indent="0" lvl="0" marL="0" rtl="0" algn="l">
                        <a:lnSpc>
                          <a:spcPct val="142857"/>
                        </a:lnSpc>
                        <a:spcBef>
                          <a:spcPts val="0"/>
                        </a:spcBef>
                        <a:spcAft>
                          <a:spcPts val="1200"/>
                        </a:spcAft>
                        <a:buNone/>
                      </a:pPr>
                      <a:r>
                        <a:rPr lang="en-US" sz="1050">
                          <a:solidFill>
                            <a:schemeClr val="dk1"/>
                          </a:solidFill>
                          <a:highlight>
                            <a:schemeClr val="lt1"/>
                          </a:highlight>
                          <a:latin typeface="Roboto"/>
                          <a:ea typeface="Roboto"/>
                          <a:cs typeface="Roboto"/>
                          <a:sym typeface="Roboto"/>
                        </a:rPr>
                        <a:t>Invierten horas de alto valor en tareas manuales y repetitivas.</a:t>
                      </a:r>
                      <a:endParaRPr sz="1050">
                        <a:solidFill>
                          <a:schemeClr val="dk1"/>
                        </a:solidFill>
                        <a:highlight>
                          <a:schemeClr val="lt1"/>
                        </a:highlight>
                        <a:latin typeface="Roboto"/>
                        <a:ea typeface="Roboto"/>
                        <a:cs typeface="Roboto"/>
                        <a:sym typeface="Roboto"/>
                      </a:endParaRPr>
                    </a:p>
                  </a:txBody>
                  <a:tcPr marT="57150" marB="57150" marR="114300" marL="114300"/>
                </a:tc>
                <a:tc>
                  <a:txBody>
                    <a:bodyPr/>
                    <a:lstStyle/>
                    <a:p>
                      <a:pPr indent="0" lvl="0" marL="0" rtl="0" algn="l">
                        <a:lnSpc>
                          <a:spcPct val="142857"/>
                        </a:lnSpc>
                        <a:spcBef>
                          <a:spcPts val="0"/>
                        </a:spcBef>
                        <a:spcAft>
                          <a:spcPts val="1200"/>
                        </a:spcAft>
                        <a:buNone/>
                      </a:pPr>
                      <a:r>
                        <a:rPr lang="en-US" sz="1050">
                          <a:solidFill>
                            <a:schemeClr val="dk1"/>
                          </a:solidFill>
                          <a:highlight>
                            <a:schemeClr val="lt1"/>
                          </a:highlight>
                          <a:latin typeface="Roboto"/>
                          <a:ea typeface="Roboto"/>
                          <a:cs typeface="Roboto"/>
                          <a:sym typeface="Roboto"/>
                        </a:rPr>
                        <a:t>Costo de Oportunidad: Se paga por estrategia, se ejecuta administración.</a:t>
                      </a:r>
                      <a:endParaRPr sz="1050">
                        <a:solidFill>
                          <a:schemeClr val="dk1"/>
                        </a:solidFill>
                        <a:highlight>
                          <a:schemeClr val="lt1"/>
                        </a:highlight>
                        <a:latin typeface="Roboto"/>
                        <a:ea typeface="Roboto"/>
                        <a:cs typeface="Roboto"/>
                        <a:sym typeface="Roboto"/>
                      </a:endParaRPr>
                    </a:p>
                  </a:txBody>
                  <a:tcPr marT="57150" marB="57150" marR="114300" marL="114300"/>
                </a:tc>
              </a:tr>
              <a:tr h="941175">
                <a:tc>
                  <a:txBody>
                    <a:bodyPr/>
                    <a:lstStyle/>
                    <a:p>
                      <a:pPr indent="0" lvl="0" marL="0" rtl="0" algn="l">
                        <a:lnSpc>
                          <a:spcPct val="142857"/>
                        </a:lnSpc>
                        <a:spcBef>
                          <a:spcPts val="0"/>
                        </a:spcBef>
                        <a:spcAft>
                          <a:spcPts val="1200"/>
                        </a:spcAft>
                        <a:buNone/>
                      </a:pPr>
                      <a:r>
                        <a:rPr lang="en-US" sz="1050">
                          <a:solidFill>
                            <a:schemeClr val="dk1"/>
                          </a:solidFill>
                          <a:highlight>
                            <a:schemeClr val="lt1"/>
                          </a:highlight>
                          <a:latin typeface="Roboto"/>
                          <a:ea typeface="Roboto"/>
                          <a:cs typeface="Roboto"/>
                          <a:sym typeface="Roboto"/>
                        </a:rPr>
                        <a:t>Gerencia y Alta Dirección</a:t>
                      </a:r>
                      <a:endParaRPr sz="1050">
                        <a:solidFill>
                          <a:schemeClr val="dk1"/>
                        </a:solidFill>
                        <a:highlight>
                          <a:schemeClr val="lt1"/>
                        </a:highlight>
                        <a:latin typeface="Roboto"/>
                        <a:ea typeface="Roboto"/>
                        <a:cs typeface="Roboto"/>
                        <a:sym typeface="Roboto"/>
                      </a:endParaRPr>
                    </a:p>
                  </a:txBody>
                  <a:tcPr marT="57150" marB="57150" marR="114300" marL="114300"/>
                </a:tc>
                <a:tc>
                  <a:txBody>
                    <a:bodyPr/>
                    <a:lstStyle/>
                    <a:p>
                      <a:pPr indent="0" lvl="0" marL="0" rtl="0" algn="l">
                        <a:lnSpc>
                          <a:spcPct val="142857"/>
                        </a:lnSpc>
                        <a:spcBef>
                          <a:spcPts val="0"/>
                        </a:spcBef>
                        <a:spcAft>
                          <a:spcPts val="1200"/>
                        </a:spcAft>
                        <a:buNone/>
                      </a:pPr>
                      <a:r>
                        <a:rPr lang="en-US" sz="1050">
                          <a:solidFill>
                            <a:schemeClr val="dk1"/>
                          </a:solidFill>
                          <a:highlight>
                            <a:schemeClr val="lt1"/>
                          </a:highlight>
                          <a:latin typeface="Roboto"/>
                          <a:ea typeface="Roboto"/>
                          <a:cs typeface="Roboto"/>
                          <a:sym typeface="Roboto"/>
                        </a:rPr>
                        <a:t>Basan decisiones estratégicas en datos lentos y poco fiables.</a:t>
                      </a:r>
                      <a:endParaRPr sz="1050">
                        <a:solidFill>
                          <a:schemeClr val="dk1"/>
                        </a:solidFill>
                        <a:highlight>
                          <a:schemeClr val="lt1"/>
                        </a:highlight>
                        <a:latin typeface="Roboto"/>
                        <a:ea typeface="Roboto"/>
                        <a:cs typeface="Roboto"/>
                        <a:sym typeface="Roboto"/>
                      </a:endParaRPr>
                    </a:p>
                  </a:txBody>
                  <a:tcPr marT="57150" marB="57150" marR="114300" marL="114300"/>
                </a:tc>
                <a:tc>
                  <a:txBody>
                    <a:bodyPr/>
                    <a:lstStyle/>
                    <a:p>
                      <a:pPr indent="0" lvl="0" marL="0" rtl="0" algn="l">
                        <a:lnSpc>
                          <a:spcPct val="142857"/>
                        </a:lnSpc>
                        <a:spcBef>
                          <a:spcPts val="0"/>
                        </a:spcBef>
                        <a:spcAft>
                          <a:spcPts val="0"/>
                        </a:spcAft>
                        <a:buNone/>
                      </a:pPr>
                      <a:r>
                        <a:rPr lang="en-US" sz="1050">
                          <a:solidFill>
                            <a:schemeClr val="dk1"/>
                          </a:solidFill>
                          <a:highlight>
                            <a:schemeClr val="lt1"/>
                          </a:highlight>
                          <a:latin typeface="Roboto"/>
                          <a:ea typeface="Roboto"/>
                          <a:cs typeface="Roboto"/>
                          <a:sym typeface="Roboto"/>
                        </a:rPr>
                        <a:t>Riesgo Financiero: Cada decisión es una apuesta basada en información obsoleta.</a:t>
                      </a:r>
                      <a:endParaRPr sz="1050">
                        <a:solidFill>
                          <a:schemeClr val="dk1"/>
                        </a:solidFill>
                        <a:highlight>
                          <a:schemeClr val="lt1"/>
                        </a:highlight>
                        <a:latin typeface="Roboto"/>
                        <a:ea typeface="Roboto"/>
                        <a:cs typeface="Roboto"/>
                        <a:sym typeface="Roboto"/>
                      </a:endParaRPr>
                    </a:p>
                    <a:p>
                      <a:pPr indent="0" lvl="0" marL="0" rtl="0" algn="l">
                        <a:lnSpc>
                          <a:spcPct val="142857"/>
                        </a:lnSpc>
                        <a:spcBef>
                          <a:spcPts val="1200"/>
                        </a:spcBef>
                        <a:spcAft>
                          <a:spcPts val="1200"/>
                        </a:spcAft>
                        <a:buNone/>
                      </a:pPr>
                      <a:r>
                        <a:t/>
                      </a:r>
                      <a:endParaRPr sz="1050">
                        <a:solidFill>
                          <a:schemeClr val="dk1"/>
                        </a:solidFill>
                        <a:highlight>
                          <a:schemeClr val="lt1"/>
                        </a:highlight>
                        <a:latin typeface="Roboto"/>
                        <a:ea typeface="Roboto"/>
                        <a:cs typeface="Roboto"/>
                        <a:sym typeface="Roboto"/>
                      </a:endParaRPr>
                    </a:p>
                  </a:txBody>
                  <a:tcPr marT="57150" marB="57150" marR="114300" marL="114300"/>
                </a:tc>
              </a:tr>
            </a:tbl>
          </a:graphicData>
        </a:graphic>
      </p:graphicFrame>
      <p:pic>
        <p:nvPicPr>
          <p:cNvPr id="200" name="Google Shape;200;p24"/>
          <p:cNvPicPr preferRelativeResize="0"/>
          <p:nvPr/>
        </p:nvPicPr>
        <p:blipFill>
          <a:blip r:embed="rId3">
            <a:alphaModFix/>
          </a:blip>
          <a:stretch>
            <a:fillRect/>
          </a:stretch>
        </p:blipFill>
        <p:spPr>
          <a:xfrm>
            <a:off x="6945125" y="1555525"/>
            <a:ext cx="1611651" cy="1611651"/>
          </a:xfrm>
          <a:prstGeom prst="rect">
            <a:avLst/>
          </a:prstGeom>
          <a:noFill/>
          <a:ln>
            <a:noFill/>
          </a:ln>
        </p:spPr>
      </p:pic>
      <p:sp>
        <p:nvSpPr>
          <p:cNvPr id="201" name="Google Shape;201;p24"/>
          <p:cNvSpPr txBox="1"/>
          <p:nvPr/>
        </p:nvSpPr>
        <p:spPr>
          <a:xfrm>
            <a:off x="6855250" y="3206550"/>
            <a:ext cx="1956900" cy="105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300">
                <a:solidFill>
                  <a:schemeClr val="dk1"/>
                </a:solidFill>
                <a:latin typeface="Roboto"/>
                <a:ea typeface="Roboto"/>
                <a:cs typeface="Roboto"/>
                <a:sym typeface="Roboto"/>
              </a:rPr>
              <a:t>* Pérdida Cuantificada:</a:t>
            </a:r>
            <a:endParaRPr b="1" sz="1300">
              <a:solidFill>
                <a:schemeClr val="dk1"/>
              </a:solidFill>
              <a:latin typeface="Roboto"/>
              <a:ea typeface="Roboto"/>
              <a:cs typeface="Roboto"/>
              <a:sym typeface="Roboto"/>
            </a:endParaRPr>
          </a:p>
          <a:p>
            <a:pPr indent="0" lvl="0" marL="0" rtl="0" algn="ctr">
              <a:spcBef>
                <a:spcPts val="0"/>
              </a:spcBef>
              <a:spcAft>
                <a:spcPts val="0"/>
              </a:spcAft>
              <a:buNone/>
            </a:pPr>
            <a:r>
              <a:rPr b="1" lang="en-US" sz="1300">
                <a:solidFill>
                  <a:schemeClr val="dk1"/>
                </a:solidFill>
                <a:latin typeface="Roboto"/>
                <a:ea typeface="Roboto"/>
                <a:cs typeface="Roboto"/>
                <a:sym typeface="Roboto"/>
              </a:rPr>
              <a:t>$6.666.640 de pesos mensuales en Horas-Hombre (H.H.)</a:t>
            </a:r>
            <a:endParaRPr b="1" sz="1300">
              <a:solidFill>
                <a:schemeClr val="dk1"/>
              </a:solidFill>
              <a:latin typeface="Roboto"/>
              <a:ea typeface="Roboto"/>
              <a:cs typeface="Roboto"/>
              <a:sym typeface="Roboto"/>
            </a:endParaRPr>
          </a:p>
        </p:txBody>
      </p:sp>
      <p:sp>
        <p:nvSpPr>
          <p:cNvPr id="202" name="Google Shape;202;p24"/>
          <p:cNvSpPr txBox="1"/>
          <p:nvPr/>
        </p:nvSpPr>
        <p:spPr>
          <a:xfrm>
            <a:off x="760025" y="4658275"/>
            <a:ext cx="59664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US" sz="1100">
                <a:solidFill>
                  <a:schemeClr val="dk1"/>
                </a:solidFill>
                <a:highlight>
                  <a:schemeClr val="lt1"/>
                </a:highlight>
                <a:latin typeface="Roboto"/>
                <a:ea typeface="Roboto"/>
                <a:cs typeface="Roboto"/>
                <a:sym typeface="Roboto"/>
              </a:rPr>
              <a:t>*Estimación basada en 28 horas semanales invertidas por 4 jefaturas en tareas administrativas. Fuente </a:t>
            </a:r>
            <a:r>
              <a:rPr i="1" lang="en-US" sz="1100">
                <a:solidFill>
                  <a:schemeClr val="dk1"/>
                </a:solidFill>
                <a:highlight>
                  <a:schemeClr val="lt1"/>
                </a:highlight>
                <a:latin typeface="Roboto"/>
                <a:ea typeface="Roboto"/>
                <a:cs typeface="Roboto"/>
                <a:sym typeface="Roboto"/>
              </a:rPr>
              <a:t>Product</a:t>
            </a:r>
            <a:r>
              <a:rPr i="1" lang="en-US" sz="1100">
                <a:solidFill>
                  <a:schemeClr val="dk1"/>
                </a:solidFill>
                <a:highlight>
                  <a:schemeClr val="lt1"/>
                </a:highlight>
                <a:latin typeface="Roboto"/>
                <a:ea typeface="Roboto"/>
                <a:cs typeface="Roboto"/>
                <a:sym typeface="Roboto"/>
              </a:rPr>
              <a:t> Owner*</a:t>
            </a:r>
            <a:endParaRPr sz="1100">
              <a:solidFill>
                <a:schemeClr val="dk1"/>
              </a:solidFill>
              <a:highlight>
                <a:schemeClr val="lt1"/>
              </a:highlight>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grpSp>
        <p:nvGrpSpPr>
          <p:cNvPr id="207" name="Google Shape;207;p25"/>
          <p:cNvGrpSpPr/>
          <p:nvPr/>
        </p:nvGrpSpPr>
        <p:grpSpPr>
          <a:xfrm>
            <a:off x="3978720" y="6840"/>
            <a:ext cx="5164200" cy="5143200"/>
            <a:chOff x="3978720" y="6840"/>
            <a:chExt cx="5164200" cy="5143200"/>
          </a:xfrm>
        </p:grpSpPr>
        <p:sp>
          <p:nvSpPr>
            <p:cNvPr id="208" name="Google Shape;208;p25"/>
            <p:cNvSpPr/>
            <p:nvPr/>
          </p:nvSpPr>
          <p:spPr>
            <a:xfrm flipH="1">
              <a:off x="3978720" y="6840"/>
              <a:ext cx="5164200" cy="51432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09" name="Google Shape;209;p25"/>
            <p:cNvSpPr/>
            <p:nvPr/>
          </p:nvSpPr>
          <p:spPr>
            <a:xfrm rot="-2699590">
              <a:off x="4520886" y="36474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0" name="Google Shape;210;p25"/>
            <p:cNvSpPr/>
            <p:nvPr/>
          </p:nvSpPr>
          <p:spPr>
            <a:xfrm rot="-2699590">
              <a:off x="7184166" y="22452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1" name="Google Shape;211;p25"/>
            <p:cNvSpPr/>
            <p:nvPr/>
          </p:nvSpPr>
          <p:spPr>
            <a:xfrm rot="-2699590">
              <a:off x="6716478" y="11666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2" name="Google Shape;212;p25"/>
            <p:cNvSpPr/>
            <p:nvPr/>
          </p:nvSpPr>
          <p:spPr>
            <a:xfrm rot="-2699590">
              <a:off x="5940318" y="35714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3" name="Google Shape;213;p25"/>
            <p:cNvSpPr/>
            <p:nvPr/>
          </p:nvSpPr>
          <p:spPr>
            <a:xfrm>
              <a:off x="6778080" y="2891160"/>
              <a:ext cx="1596300" cy="1596300"/>
            </a:xfrm>
            <a:prstGeom prst="ellipse">
              <a:avLst/>
            </a:prstGeom>
            <a:noFill/>
            <a:ln cap="flat" cmpd="sng" w="9525">
              <a:solidFill>
                <a:srgbClr val="F8F8F8"/>
              </a:solidFill>
              <a:prstDash val="lg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214" name="Google Shape;214;p25"/>
          <p:cNvSpPr txBox="1"/>
          <p:nvPr>
            <p:ph type="title"/>
          </p:nvPr>
        </p:nvSpPr>
        <p:spPr>
          <a:xfrm>
            <a:off x="733325" y="2121825"/>
            <a:ext cx="4409700" cy="551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Necesidad</a:t>
            </a:r>
            <a:endParaRPr b="1" sz="3200" u="none" strike="noStrike">
              <a:solidFill>
                <a:schemeClr val="dk1"/>
              </a:solidFill>
              <a:latin typeface="Roboto"/>
              <a:ea typeface="Roboto"/>
              <a:cs typeface="Roboto"/>
              <a:sym typeface="Roboto"/>
            </a:endParaRPr>
          </a:p>
        </p:txBody>
      </p:sp>
      <p:sp>
        <p:nvSpPr>
          <p:cNvPr id="215" name="Google Shape;215;p25"/>
          <p:cNvSpPr/>
          <p:nvPr/>
        </p:nvSpPr>
        <p:spPr>
          <a:xfrm>
            <a:off x="5397480" y="1055160"/>
            <a:ext cx="3033000" cy="3033000"/>
          </a:xfrm>
          <a:prstGeom prst="ellipse">
            <a:avLst/>
          </a:prstGeom>
          <a:blipFill rotWithShape="1">
            <a:blip r:embed="rId3">
              <a:alphaModFix/>
            </a:blip>
            <a:stretch>
              <a:fillRect b="0" l="0" r="0" t="0"/>
            </a:stretch>
          </a:blipFill>
          <a:ln cap="flat" cmpd="sng" w="38100">
            <a:solidFill>
              <a:srgbClr val="F8F8F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216" name="Google Shape;216;p25"/>
          <p:cNvGrpSpPr/>
          <p:nvPr/>
        </p:nvGrpSpPr>
        <p:grpSpPr>
          <a:xfrm>
            <a:off x="5405271" y="1044240"/>
            <a:ext cx="3160020" cy="3290700"/>
            <a:chOff x="5405271" y="1044240"/>
            <a:chExt cx="3160020" cy="3290700"/>
          </a:xfrm>
        </p:grpSpPr>
        <p:sp>
          <p:nvSpPr>
            <p:cNvPr id="217" name="Google Shape;217;p25"/>
            <p:cNvSpPr/>
            <p:nvPr/>
          </p:nvSpPr>
          <p:spPr>
            <a:xfrm rot="-2700000">
              <a:off x="7674867" y="13795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8" name="Google Shape;218;p25"/>
            <p:cNvSpPr/>
            <p:nvPr/>
          </p:nvSpPr>
          <p:spPr>
            <a:xfrm rot="-2700000">
              <a:off x="5299947" y="38851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219" name="Google Shape;219;p25"/>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220" name="Google Shape;220;p25"/>
          <p:cNvPicPr preferRelativeResize="0"/>
          <p:nvPr/>
        </p:nvPicPr>
        <p:blipFill>
          <a:blip r:embed="rId4">
            <a:alphaModFix/>
          </a:blip>
          <a:stretch>
            <a:fillRect/>
          </a:stretch>
        </p:blipFill>
        <p:spPr>
          <a:xfrm>
            <a:off x="2776975" y="1211075"/>
            <a:ext cx="2620511" cy="21657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6"/>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226" name="Google Shape;226;p26"/>
          <p:cNvSpPr txBox="1"/>
          <p:nvPr>
            <p:ph type="title"/>
          </p:nvPr>
        </p:nvSpPr>
        <p:spPr>
          <a:xfrm>
            <a:off x="589450" y="183175"/>
            <a:ext cx="5328900" cy="551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Necesidad</a:t>
            </a:r>
            <a:endParaRPr b="1" sz="3200">
              <a:solidFill>
                <a:schemeClr val="dk1"/>
              </a:solidFill>
              <a:latin typeface="Roboto"/>
              <a:ea typeface="Roboto"/>
              <a:cs typeface="Roboto"/>
              <a:sym typeface="Roboto"/>
            </a:endParaRPr>
          </a:p>
        </p:txBody>
      </p:sp>
      <p:sp>
        <p:nvSpPr>
          <p:cNvPr id="227" name="Google Shape;227;p26"/>
          <p:cNvSpPr txBox="1"/>
          <p:nvPr/>
        </p:nvSpPr>
        <p:spPr>
          <a:xfrm>
            <a:off x="501600" y="1267725"/>
            <a:ext cx="6815400" cy="1285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US" sz="1300">
                <a:solidFill>
                  <a:srgbClr val="1F1F1F"/>
                </a:solidFill>
                <a:highlight>
                  <a:srgbClr val="FFFFFF"/>
                </a:highlight>
                <a:latin typeface="Roboto"/>
                <a:ea typeface="Roboto"/>
                <a:cs typeface="Roboto"/>
                <a:sym typeface="Roboto"/>
              </a:rPr>
              <a:t>La necesidad principal de Cambiaso es transformar su modelo de gestión operativa: pasar de </a:t>
            </a:r>
            <a:r>
              <a:rPr b="1" lang="en-US" sz="1300">
                <a:solidFill>
                  <a:srgbClr val="1F1F1F"/>
                </a:solidFill>
                <a:highlight>
                  <a:srgbClr val="FFFFFF"/>
                </a:highlight>
                <a:latin typeface="Roboto"/>
                <a:ea typeface="Roboto"/>
                <a:cs typeface="Roboto"/>
                <a:sym typeface="Roboto"/>
              </a:rPr>
              <a:t>reaccionar</a:t>
            </a:r>
            <a:r>
              <a:rPr lang="en-US" sz="1300">
                <a:solidFill>
                  <a:srgbClr val="1F1F1F"/>
                </a:solidFill>
                <a:highlight>
                  <a:srgbClr val="FFFFFF"/>
                </a:highlight>
                <a:latin typeface="Roboto"/>
                <a:ea typeface="Roboto"/>
                <a:cs typeface="Roboto"/>
                <a:sym typeface="Roboto"/>
              </a:rPr>
              <a:t> a eventos con datos fragmentados y obsoletos, </a:t>
            </a:r>
            <a:r>
              <a:rPr b="1" lang="en-US" sz="1300">
                <a:solidFill>
                  <a:srgbClr val="1F1F1F"/>
                </a:solidFill>
                <a:highlight>
                  <a:srgbClr val="FFFFFF"/>
                </a:highlight>
                <a:latin typeface="Roboto"/>
                <a:ea typeface="Roboto"/>
                <a:cs typeface="Roboto"/>
                <a:sym typeface="Roboto"/>
              </a:rPr>
              <a:t>a dirigir el negocio de forma proactiva</a:t>
            </a:r>
            <a:r>
              <a:rPr lang="en-US" sz="1300">
                <a:solidFill>
                  <a:srgbClr val="1F1F1F"/>
                </a:solidFill>
                <a:highlight>
                  <a:srgbClr val="FFFFFF"/>
                </a:highlight>
                <a:latin typeface="Roboto"/>
                <a:ea typeface="Roboto"/>
                <a:cs typeface="Roboto"/>
                <a:sym typeface="Roboto"/>
              </a:rPr>
              <a:t> con una visión clara y consolidada de lo que sucede en sus plantas, asegurando así la </a:t>
            </a:r>
            <a:r>
              <a:rPr b="1" lang="en-US" sz="1300">
                <a:solidFill>
                  <a:srgbClr val="1F1F1F"/>
                </a:solidFill>
                <a:highlight>
                  <a:srgbClr val="FFFFFF"/>
                </a:highlight>
                <a:latin typeface="Roboto"/>
                <a:ea typeface="Roboto"/>
                <a:cs typeface="Roboto"/>
                <a:sym typeface="Roboto"/>
              </a:rPr>
              <a:t>agilidad competitiva</a:t>
            </a:r>
            <a:r>
              <a:rPr lang="en-US" sz="1300">
                <a:solidFill>
                  <a:srgbClr val="1F1F1F"/>
                </a:solidFill>
                <a:highlight>
                  <a:srgbClr val="FFFFFF"/>
                </a:highlight>
                <a:latin typeface="Roboto"/>
                <a:ea typeface="Roboto"/>
                <a:cs typeface="Roboto"/>
                <a:sym typeface="Roboto"/>
              </a:rPr>
              <a:t> en el mercado.</a:t>
            </a:r>
            <a:endParaRPr sz="1300">
              <a:solidFill>
                <a:srgbClr val="1F1F1F"/>
              </a:solidFill>
              <a:highlight>
                <a:srgbClr val="FFFFFF"/>
              </a:highlight>
              <a:latin typeface="Roboto"/>
              <a:ea typeface="Roboto"/>
              <a:cs typeface="Roboto"/>
              <a:sym typeface="Roboto"/>
            </a:endParaRPr>
          </a:p>
        </p:txBody>
      </p:sp>
      <p:pic>
        <p:nvPicPr>
          <p:cNvPr id="228" name="Google Shape;228;p26"/>
          <p:cNvPicPr preferRelativeResize="0"/>
          <p:nvPr/>
        </p:nvPicPr>
        <p:blipFill>
          <a:blip r:embed="rId3">
            <a:alphaModFix/>
          </a:blip>
          <a:stretch>
            <a:fillRect/>
          </a:stretch>
        </p:blipFill>
        <p:spPr>
          <a:xfrm>
            <a:off x="7205675" y="3543725"/>
            <a:ext cx="1495975" cy="1477208"/>
          </a:xfrm>
          <a:prstGeom prst="rect">
            <a:avLst/>
          </a:prstGeom>
          <a:noFill/>
          <a:ln>
            <a:noFill/>
          </a:ln>
        </p:spPr>
      </p:pic>
      <p:pic>
        <p:nvPicPr>
          <p:cNvPr id="229" name="Google Shape;229;p26"/>
          <p:cNvPicPr preferRelativeResize="0"/>
          <p:nvPr/>
        </p:nvPicPr>
        <p:blipFill>
          <a:blip r:embed="rId4">
            <a:alphaModFix/>
          </a:blip>
          <a:stretch>
            <a:fillRect/>
          </a:stretch>
        </p:blipFill>
        <p:spPr>
          <a:xfrm>
            <a:off x="271825" y="3864275"/>
            <a:ext cx="4784074" cy="1047200"/>
          </a:xfrm>
          <a:prstGeom prst="rect">
            <a:avLst/>
          </a:prstGeom>
          <a:noFill/>
          <a:ln>
            <a:noFill/>
          </a:ln>
        </p:spPr>
      </p:pic>
      <p:pic>
        <p:nvPicPr>
          <p:cNvPr id="230" name="Google Shape;230;p26"/>
          <p:cNvPicPr preferRelativeResize="0"/>
          <p:nvPr/>
        </p:nvPicPr>
        <p:blipFill rotWithShape="1">
          <a:blip r:embed="rId5">
            <a:alphaModFix/>
          </a:blip>
          <a:srcRect b="0" l="1129" r="41246" t="0"/>
          <a:stretch/>
        </p:blipFill>
        <p:spPr>
          <a:xfrm>
            <a:off x="5055900" y="4214225"/>
            <a:ext cx="2149775" cy="3473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7"/>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236" name="Google Shape;236;p27"/>
          <p:cNvSpPr txBox="1"/>
          <p:nvPr>
            <p:ph type="title"/>
          </p:nvPr>
        </p:nvSpPr>
        <p:spPr>
          <a:xfrm>
            <a:off x="1512075" y="15975"/>
            <a:ext cx="5337600" cy="551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HISTORIAS DE USUARIO</a:t>
            </a:r>
            <a:endParaRPr b="1" sz="3200" u="none" strike="noStrike">
              <a:solidFill>
                <a:schemeClr val="dk1"/>
              </a:solidFill>
              <a:latin typeface="Roboto"/>
              <a:ea typeface="Roboto"/>
              <a:cs typeface="Roboto"/>
              <a:sym typeface="Roboto"/>
            </a:endParaRPr>
          </a:p>
        </p:txBody>
      </p:sp>
      <p:sp>
        <p:nvSpPr>
          <p:cNvPr id="237" name="Google Shape;237;p27"/>
          <p:cNvSpPr txBox="1"/>
          <p:nvPr/>
        </p:nvSpPr>
        <p:spPr>
          <a:xfrm>
            <a:off x="1051650" y="1201100"/>
            <a:ext cx="7040700" cy="334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100">
                <a:solidFill>
                  <a:srgbClr val="1B1C1D"/>
                </a:solidFill>
                <a:latin typeface="Roboto"/>
                <a:ea typeface="Roboto"/>
                <a:cs typeface="Roboto"/>
                <a:sym typeface="Roboto"/>
              </a:rPr>
              <a:t>1. Historia de Usuario </a:t>
            </a:r>
            <a:r>
              <a:rPr b="1" lang="en-US" sz="1100">
                <a:solidFill>
                  <a:srgbClr val="1B1C1D"/>
                </a:solidFill>
                <a:latin typeface="Roboto"/>
                <a:ea typeface="Roboto"/>
                <a:cs typeface="Roboto"/>
                <a:sym typeface="Roboto"/>
              </a:rPr>
              <a:t>Crítica</a:t>
            </a:r>
            <a:r>
              <a:rPr b="1" lang="en-US" sz="1100">
                <a:solidFill>
                  <a:srgbClr val="1B1C1D"/>
                </a:solidFill>
                <a:latin typeface="Roboto"/>
                <a:ea typeface="Roboto"/>
                <a:cs typeface="Roboto"/>
                <a:sym typeface="Roboto"/>
              </a:rPr>
              <a:t>: IOC-006 - Visualizar Dashboard de Producción</a:t>
            </a:r>
            <a:endParaRPr b="1" sz="1100">
              <a:solidFill>
                <a:srgbClr val="1B1C1D"/>
              </a:solidFill>
              <a:latin typeface="Roboto"/>
              <a:ea typeface="Roboto"/>
              <a:cs typeface="Roboto"/>
              <a:sym typeface="Roboto"/>
            </a:endParaRPr>
          </a:p>
          <a:p>
            <a:pPr indent="-298450" lvl="0" marL="457200" rtl="0" algn="l">
              <a:lnSpc>
                <a:spcPct val="115000"/>
              </a:lnSpc>
              <a:spcBef>
                <a:spcPts val="600"/>
              </a:spcBef>
              <a:spcAft>
                <a:spcPts val="0"/>
              </a:spcAft>
              <a:buClr>
                <a:srgbClr val="1B1C1D"/>
              </a:buClr>
              <a:buSzPts val="1100"/>
              <a:buChar char="●"/>
            </a:pPr>
            <a:r>
              <a:rPr b="1" lang="en-US" sz="1100">
                <a:solidFill>
                  <a:srgbClr val="1B1C1D"/>
                </a:solidFill>
                <a:latin typeface="Roboto"/>
                <a:ea typeface="Roboto"/>
                <a:cs typeface="Roboto"/>
                <a:sym typeface="Roboto"/>
              </a:rPr>
              <a:t>Como:</a:t>
            </a:r>
            <a:r>
              <a:rPr lang="en-US" sz="1100">
                <a:solidFill>
                  <a:srgbClr val="1B1C1D"/>
                </a:solidFill>
                <a:latin typeface="Roboto"/>
                <a:ea typeface="Roboto"/>
                <a:cs typeface="Roboto"/>
                <a:sym typeface="Roboto"/>
              </a:rPr>
              <a:t> Gerente</a:t>
            </a:r>
            <a:endParaRPr sz="1100">
              <a:solidFill>
                <a:srgbClr val="1B1C1D"/>
              </a:solidFill>
              <a:latin typeface="Roboto"/>
              <a:ea typeface="Roboto"/>
              <a:cs typeface="Roboto"/>
              <a:sym typeface="Roboto"/>
            </a:endParaRPr>
          </a:p>
          <a:p>
            <a:pPr indent="-298450" lvl="0" marL="457200" rtl="0" algn="l">
              <a:lnSpc>
                <a:spcPct val="115000"/>
              </a:lnSpc>
              <a:spcBef>
                <a:spcPts val="0"/>
              </a:spcBef>
              <a:spcAft>
                <a:spcPts val="0"/>
              </a:spcAft>
              <a:buClr>
                <a:srgbClr val="1B1C1D"/>
              </a:buClr>
              <a:buSzPts val="1100"/>
              <a:buChar char="●"/>
            </a:pPr>
            <a:r>
              <a:rPr b="1" lang="en-US" sz="1100">
                <a:solidFill>
                  <a:srgbClr val="1B1C1D"/>
                </a:solidFill>
                <a:latin typeface="Roboto"/>
                <a:ea typeface="Roboto"/>
                <a:cs typeface="Roboto"/>
                <a:sym typeface="Roboto"/>
              </a:rPr>
              <a:t>Quiero:</a:t>
            </a:r>
            <a:r>
              <a:rPr lang="en-US" sz="1100">
                <a:solidFill>
                  <a:srgbClr val="1B1C1D"/>
                </a:solidFill>
                <a:latin typeface="Roboto"/>
                <a:ea typeface="Roboto"/>
                <a:cs typeface="Roboto"/>
                <a:sym typeface="Roboto"/>
              </a:rPr>
              <a:t> Visualizar un dashboard con KPIs actualizados.</a:t>
            </a:r>
            <a:endParaRPr sz="1100">
              <a:solidFill>
                <a:srgbClr val="1B1C1D"/>
              </a:solidFill>
              <a:latin typeface="Roboto"/>
              <a:ea typeface="Roboto"/>
              <a:cs typeface="Roboto"/>
              <a:sym typeface="Roboto"/>
            </a:endParaRPr>
          </a:p>
          <a:p>
            <a:pPr indent="-298450" lvl="0" marL="457200" rtl="0" algn="l">
              <a:lnSpc>
                <a:spcPct val="115000"/>
              </a:lnSpc>
              <a:spcBef>
                <a:spcPts val="0"/>
              </a:spcBef>
              <a:spcAft>
                <a:spcPts val="0"/>
              </a:spcAft>
              <a:buClr>
                <a:srgbClr val="1B1C1D"/>
              </a:buClr>
              <a:buSzPts val="1100"/>
              <a:buChar char="●"/>
            </a:pPr>
            <a:r>
              <a:rPr b="1" lang="en-US" sz="1100">
                <a:solidFill>
                  <a:srgbClr val="1B1C1D"/>
                </a:solidFill>
                <a:latin typeface="Roboto"/>
                <a:ea typeface="Roboto"/>
                <a:cs typeface="Roboto"/>
                <a:sym typeface="Roboto"/>
              </a:rPr>
              <a:t>Para:</a:t>
            </a:r>
            <a:r>
              <a:rPr lang="en-US" sz="1100">
                <a:solidFill>
                  <a:srgbClr val="1B1C1D"/>
                </a:solidFill>
                <a:latin typeface="Roboto"/>
                <a:ea typeface="Roboto"/>
                <a:cs typeface="Roboto"/>
                <a:sym typeface="Roboto"/>
              </a:rPr>
              <a:t> Tomar decisiones informadas sobre la operación de manera rápida y eficiente.</a:t>
            </a:r>
            <a:endParaRPr sz="1100">
              <a:solidFill>
                <a:srgbClr val="1B1C1D"/>
              </a:solidFill>
              <a:latin typeface="Roboto"/>
              <a:ea typeface="Roboto"/>
              <a:cs typeface="Roboto"/>
              <a:sym typeface="Roboto"/>
            </a:endParaRPr>
          </a:p>
          <a:p>
            <a:pPr indent="0" lvl="0" marL="0" rtl="0" algn="l">
              <a:lnSpc>
                <a:spcPct val="115000"/>
              </a:lnSpc>
              <a:spcBef>
                <a:spcPts val="1800"/>
              </a:spcBef>
              <a:spcAft>
                <a:spcPts val="0"/>
              </a:spcAft>
              <a:buNone/>
            </a:pPr>
            <a:r>
              <a:rPr b="1" lang="en-US" sz="1100">
                <a:solidFill>
                  <a:srgbClr val="1B1C1D"/>
                </a:solidFill>
                <a:latin typeface="Roboto"/>
                <a:ea typeface="Roboto"/>
                <a:cs typeface="Roboto"/>
                <a:sym typeface="Roboto"/>
              </a:rPr>
              <a:t>Criterios de Aceptación (Funcionales):</a:t>
            </a:r>
            <a:endParaRPr b="1" sz="1100">
              <a:solidFill>
                <a:srgbClr val="1B1C1D"/>
              </a:solidFill>
              <a:latin typeface="Roboto"/>
              <a:ea typeface="Roboto"/>
              <a:cs typeface="Roboto"/>
              <a:sym typeface="Roboto"/>
            </a:endParaRPr>
          </a:p>
          <a:p>
            <a:pPr indent="-298450" lvl="0" marL="457200" rtl="0" algn="l">
              <a:lnSpc>
                <a:spcPct val="115000"/>
              </a:lnSpc>
              <a:spcBef>
                <a:spcPts val="600"/>
              </a:spcBef>
              <a:spcAft>
                <a:spcPts val="0"/>
              </a:spcAft>
              <a:buClr>
                <a:srgbClr val="1B1C1D"/>
              </a:buClr>
              <a:buSzPts val="1100"/>
              <a:buFont typeface="Roboto"/>
              <a:buChar char="●"/>
            </a:pPr>
            <a:r>
              <a:rPr lang="en-US" sz="1100">
                <a:solidFill>
                  <a:srgbClr val="1B1C1D"/>
                </a:solidFill>
                <a:latin typeface="Roboto"/>
                <a:ea typeface="Roboto"/>
                <a:cs typeface="Roboto"/>
                <a:sym typeface="Roboto"/>
              </a:rPr>
              <a:t>Dado que accedo al dashboard con datos correctos, se deben mostrar los gráficos y métricas vigentes.</a:t>
            </a:r>
            <a:endParaRPr sz="1100">
              <a:solidFill>
                <a:srgbClr val="1B1C1D"/>
              </a:solidFill>
              <a:latin typeface="Roboto"/>
              <a:ea typeface="Roboto"/>
              <a:cs typeface="Roboto"/>
              <a:sym typeface="Roboto"/>
            </a:endParaRPr>
          </a:p>
          <a:p>
            <a:pPr indent="-298450" lvl="0" marL="457200" rtl="0" algn="l">
              <a:lnSpc>
                <a:spcPct val="115000"/>
              </a:lnSpc>
              <a:spcBef>
                <a:spcPts val="0"/>
              </a:spcBef>
              <a:spcAft>
                <a:spcPts val="0"/>
              </a:spcAft>
              <a:buClr>
                <a:srgbClr val="1B1C1D"/>
              </a:buClr>
              <a:buSzPts val="1100"/>
              <a:buFont typeface="Roboto"/>
              <a:buChar char="●"/>
            </a:pPr>
            <a:r>
              <a:rPr lang="en-US" sz="1100">
                <a:solidFill>
                  <a:srgbClr val="1B1C1D"/>
                </a:solidFill>
                <a:latin typeface="Roboto"/>
                <a:ea typeface="Roboto"/>
                <a:cs typeface="Roboto"/>
                <a:sym typeface="Roboto"/>
              </a:rPr>
              <a:t>Cuando selecciono diferentes filtros (por ejemplo, por fecha o línea de producción), el dashboard debe actualizar la visualización para reflejar solo los datos que cumplen con esos criterios.</a:t>
            </a:r>
            <a:endParaRPr sz="1100">
              <a:solidFill>
                <a:srgbClr val="1B1C1D"/>
              </a:solidFill>
              <a:latin typeface="Roboto"/>
              <a:ea typeface="Roboto"/>
              <a:cs typeface="Roboto"/>
              <a:sym typeface="Roboto"/>
            </a:endParaRPr>
          </a:p>
          <a:p>
            <a:pPr indent="0" lvl="0" marL="0" rtl="0" algn="l">
              <a:lnSpc>
                <a:spcPct val="115000"/>
              </a:lnSpc>
              <a:spcBef>
                <a:spcPts val="1800"/>
              </a:spcBef>
              <a:spcAft>
                <a:spcPts val="0"/>
              </a:spcAft>
              <a:buNone/>
            </a:pPr>
            <a:r>
              <a:rPr b="1" lang="en-US" sz="1100">
                <a:solidFill>
                  <a:srgbClr val="1B1C1D"/>
                </a:solidFill>
                <a:latin typeface="Roboto"/>
                <a:ea typeface="Roboto"/>
                <a:cs typeface="Roboto"/>
                <a:sym typeface="Roboto"/>
              </a:rPr>
              <a:t>Requisitos No Funcionales:</a:t>
            </a:r>
            <a:endParaRPr b="1" sz="1100">
              <a:solidFill>
                <a:srgbClr val="1B1C1D"/>
              </a:solidFill>
              <a:latin typeface="Roboto"/>
              <a:ea typeface="Roboto"/>
              <a:cs typeface="Roboto"/>
              <a:sym typeface="Roboto"/>
            </a:endParaRPr>
          </a:p>
          <a:p>
            <a:pPr indent="-298450" lvl="0" marL="457200" rtl="0" algn="l">
              <a:lnSpc>
                <a:spcPct val="115000"/>
              </a:lnSpc>
              <a:spcBef>
                <a:spcPts val="600"/>
              </a:spcBef>
              <a:spcAft>
                <a:spcPts val="0"/>
              </a:spcAft>
              <a:buClr>
                <a:srgbClr val="1B1C1D"/>
              </a:buClr>
              <a:buSzPts val="1100"/>
              <a:buChar char="●"/>
            </a:pPr>
            <a:r>
              <a:rPr b="1" lang="en-US" sz="1100">
                <a:solidFill>
                  <a:srgbClr val="1B1C1D"/>
                </a:solidFill>
                <a:latin typeface="Roboto"/>
                <a:ea typeface="Roboto"/>
                <a:cs typeface="Roboto"/>
                <a:sym typeface="Roboto"/>
              </a:rPr>
              <a:t>Rendimiento/Actualización:</a:t>
            </a:r>
            <a:r>
              <a:rPr lang="en-US" sz="1100">
                <a:solidFill>
                  <a:srgbClr val="1B1C1D"/>
                </a:solidFill>
                <a:latin typeface="Roboto"/>
                <a:ea typeface="Roboto"/>
                <a:cs typeface="Roboto"/>
                <a:sym typeface="Roboto"/>
              </a:rPr>
              <a:t> El dashboard debe ser capaz de refrescarse automáticamente para reflejar los datos en tiempo real sin necesidad de intervención manual.</a:t>
            </a:r>
            <a:endParaRPr sz="1100">
              <a:solidFill>
                <a:srgbClr val="1B1C1D"/>
              </a:solidFill>
              <a:latin typeface="Roboto"/>
              <a:ea typeface="Roboto"/>
              <a:cs typeface="Roboto"/>
              <a:sym typeface="Roboto"/>
            </a:endParaRPr>
          </a:p>
          <a:p>
            <a:pPr indent="-298450" lvl="0" marL="457200" rtl="0" algn="l">
              <a:lnSpc>
                <a:spcPct val="115000"/>
              </a:lnSpc>
              <a:spcBef>
                <a:spcPts val="0"/>
              </a:spcBef>
              <a:spcAft>
                <a:spcPts val="0"/>
              </a:spcAft>
              <a:buClr>
                <a:srgbClr val="1B1C1D"/>
              </a:buClr>
              <a:buSzPts val="1100"/>
              <a:buChar char="●"/>
            </a:pPr>
            <a:r>
              <a:rPr b="1" lang="en-US" sz="1100">
                <a:solidFill>
                  <a:srgbClr val="1B1C1D"/>
                </a:solidFill>
                <a:latin typeface="Roboto"/>
                <a:ea typeface="Roboto"/>
                <a:cs typeface="Roboto"/>
                <a:sym typeface="Roboto"/>
              </a:rPr>
              <a:t>Usabilidad:</a:t>
            </a:r>
            <a:r>
              <a:rPr lang="en-US" sz="1100">
                <a:solidFill>
                  <a:srgbClr val="1B1C1D"/>
                </a:solidFill>
                <a:latin typeface="Roboto"/>
                <a:ea typeface="Roboto"/>
                <a:cs typeface="Roboto"/>
                <a:sym typeface="Roboto"/>
              </a:rPr>
              <a:t> Si existen datos incompletos o erróneos que impiden la carga de un gráfico, el sistema debe mostrar un mensaje de error claro y amigable para el usuario.</a:t>
            </a:r>
            <a:endParaRPr b="1" sz="1100">
              <a:solidFill>
                <a:srgbClr val="1B1C1D"/>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8"/>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243" name="Google Shape;243;p28"/>
          <p:cNvSpPr txBox="1"/>
          <p:nvPr>
            <p:ph type="title"/>
          </p:nvPr>
        </p:nvSpPr>
        <p:spPr>
          <a:xfrm>
            <a:off x="1512075" y="15975"/>
            <a:ext cx="5337600" cy="551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HISTORIAS DE USUARIO</a:t>
            </a:r>
            <a:endParaRPr b="1" sz="3200" u="none" strike="noStrike">
              <a:solidFill>
                <a:schemeClr val="dk1"/>
              </a:solidFill>
              <a:latin typeface="Roboto"/>
              <a:ea typeface="Roboto"/>
              <a:cs typeface="Roboto"/>
              <a:sym typeface="Roboto"/>
            </a:endParaRPr>
          </a:p>
        </p:txBody>
      </p:sp>
      <p:sp>
        <p:nvSpPr>
          <p:cNvPr id="244" name="Google Shape;244;p28"/>
          <p:cNvSpPr txBox="1"/>
          <p:nvPr/>
        </p:nvSpPr>
        <p:spPr>
          <a:xfrm>
            <a:off x="1051650" y="1201100"/>
            <a:ext cx="7040700" cy="334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100">
                <a:solidFill>
                  <a:srgbClr val="1B1C1D"/>
                </a:solidFill>
                <a:latin typeface="Roboto"/>
                <a:ea typeface="Roboto"/>
                <a:cs typeface="Roboto"/>
                <a:sym typeface="Roboto"/>
              </a:rPr>
              <a:t>2. Historia de Usuario: IOC-014 - Descargar reportes en PDF o Excel</a:t>
            </a:r>
            <a:endParaRPr b="1" sz="1100">
              <a:solidFill>
                <a:srgbClr val="1B1C1D"/>
              </a:solidFill>
              <a:latin typeface="Roboto"/>
              <a:ea typeface="Roboto"/>
              <a:cs typeface="Roboto"/>
              <a:sym typeface="Roboto"/>
            </a:endParaRPr>
          </a:p>
          <a:p>
            <a:pPr indent="-298450" lvl="0" marL="457200" rtl="0" algn="l">
              <a:lnSpc>
                <a:spcPct val="115000"/>
              </a:lnSpc>
              <a:spcBef>
                <a:spcPts val="600"/>
              </a:spcBef>
              <a:spcAft>
                <a:spcPts val="0"/>
              </a:spcAft>
              <a:buClr>
                <a:srgbClr val="1B1C1D"/>
              </a:buClr>
              <a:buSzPts val="1100"/>
              <a:buChar char="●"/>
            </a:pPr>
            <a:r>
              <a:rPr b="1" lang="en-US" sz="1100">
                <a:solidFill>
                  <a:srgbClr val="1B1C1D"/>
                </a:solidFill>
                <a:latin typeface="Roboto"/>
                <a:ea typeface="Roboto"/>
                <a:cs typeface="Roboto"/>
                <a:sym typeface="Roboto"/>
              </a:rPr>
              <a:t>Como:</a:t>
            </a:r>
            <a:r>
              <a:rPr lang="en-US" sz="1100">
                <a:solidFill>
                  <a:srgbClr val="1B1C1D"/>
                </a:solidFill>
                <a:latin typeface="Roboto"/>
                <a:ea typeface="Roboto"/>
                <a:cs typeface="Roboto"/>
                <a:sym typeface="Roboto"/>
              </a:rPr>
              <a:t> Supervisor-Analista</a:t>
            </a:r>
            <a:endParaRPr sz="1100">
              <a:solidFill>
                <a:srgbClr val="1B1C1D"/>
              </a:solidFill>
              <a:latin typeface="Roboto"/>
              <a:ea typeface="Roboto"/>
              <a:cs typeface="Roboto"/>
              <a:sym typeface="Roboto"/>
            </a:endParaRPr>
          </a:p>
          <a:p>
            <a:pPr indent="-298450" lvl="0" marL="457200" rtl="0" algn="l">
              <a:lnSpc>
                <a:spcPct val="115000"/>
              </a:lnSpc>
              <a:spcBef>
                <a:spcPts val="0"/>
              </a:spcBef>
              <a:spcAft>
                <a:spcPts val="0"/>
              </a:spcAft>
              <a:buClr>
                <a:srgbClr val="1B1C1D"/>
              </a:buClr>
              <a:buSzPts val="1100"/>
              <a:buChar char="●"/>
            </a:pPr>
            <a:r>
              <a:rPr b="1" lang="en-US" sz="1100">
                <a:solidFill>
                  <a:srgbClr val="1B1C1D"/>
                </a:solidFill>
                <a:latin typeface="Roboto"/>
                <a:ea typeface="Roboto"/>
                <a:cs typeface="Roboto"/>
                <a:sym typeface="Roboto"/>
              </a:rPr>
              <a:t>Quiero:</a:t>
            </a:r>
            <a:r>
              <a:rPr lang="en-US" sz="1100">
                <a:solidFill>
                  <a:srgbClr val="1B1C1D"/>
                </a:solidFill>
                <a:latin typeface="Roboto"/>
                <a:ea typeface="Roboto"/>
                <a:cs typeface="Roboto"/>
                <a:sym typeface="Roboto"/>
              </a:rPr>
              <a:t> Descargar reportes en PDF o Excel.</a:t>
            </a:r>
            <a:endParaRPr sz="1100">
              <a:solidFill>
                <a:srgbClr val="1B1C1D"/>
              </a:solidFill>
              <a:latin typeface="Roboto"/>
              <a:ea typeface="Roboto"/>
              <a:cs typeface="Roboto"/>
              <a:sym typeface="Roboto"/>
            </a:endParaRPr>
          </a:p>
          <a:p>
            <a:pPr indent="-298450" lvl="0" marL="457200" rtl="0" algn="l">
              <a:lnSpc>
                <a:spcPct val="115000"/>
              </a:lnSpc>
              <a:spcBef>
                <a:spcPts val="0"/>
              </a:spcBef>
              <a:spcAft>
                <a:spcPts val="0"/>
              </a:spcAft>
              <a:buClr>
                <a:srgbClr val="1B1C1D"/>
              </a:buClr>
              <a:buSzPts val="1100"/>
              <a:buChar char="●"/>
            </a:pPr>
            <a:r>
              <a:rPr b="1" lang="en-US" sz="1100">
                <a:solidFill>
                  <a:srgbClr val="1B1C1D"/>
                </a:solidFill>
                <a:latin typeface="Roboto"/>
                <a:ea typeface="Roboto"/>
                <a:cs typeface="Roboto"/>
                <a:sym typeface="Roboto"/>
              </a:rPr>
              <a:t>Para:</a:t>
            </a:r>
            <a:r>
              <a:rPr lang="en-US" sz="1100">
                <a:solidFill>
                  <a:srgbClr val="1B1C1D"/>
                </a:solidFill>
                <a:latin typeface="Roboto"/>
                <a:ea typeface="Roboto"/>
                <a:cs typeface="Roboto"/>
                <a:sym typeface="Roboto"/>
              </a:rPr>
              <a:t> Compartir información con otras áreas.</a:t>
            </a:r>
            <a:endParaRPr sz="1100">
              <a:solidFill>
                <a:srgbClr val="1B1C1D"/>
              </a:solidFill>
              <a:latin typeface="Roboto"/>
              <a:ea typeface="Roboto"/>
              <a:cs typeface="Roboto"/>
              <a:sym typeface="Roboto"/>
            </a:endParaRPr>
          </a:p>
          <a:p>
            <a:pPr indent="0" lvl="0" marL="0" rtl="0" algn="l">
              <a:lnSpc>
                <a:spcPct val="115000"/>
              </a:lnSpc>
              <a:spcBef>
                <a:spcPts val="1800"/>
              </a:spcBef>
              <a:spcAft>
                <a:spcPts val="0"/>
              </a:spcAft>
              <a:buNone/>
            </a:pPr>
            <a:r>
              <a:rPr b="1" lang="en-US" sz="1100">
                <a:solidFill>
                  <a:srgbClr val="1B1C1D"/>
                </a:solidFill>
                <a:latin typeface="Roboto"/>
                <a:ea typeface="Roboto"/>
                <a:cs typeface="Roboto"/>
                <a:sym typeface="Roboto"/>
              </a:rPr>
              <a:t>Criterios de Aceptación (Funcionales):</a:t>
            </a:r>
            <a:endParaRPr b="1" sz="1100">
              <a:solidFill>
                <a:srgbClr val="1B1C1D"/>
              </a:solidFill>
              <a:latin typeface="Roboto"/>
              <a:ea typeface="Roboto"/>
              <a:cs typeface="Roboto"/>
              <a:sym typeface="Roboto"/>
            </a:endParaRPr>
          </a:p>
          <a:p>
            <a:pPr indent="-298450" lvl="0" marL="457200" rtl="0" algn="l">
              <a:lnSpc>
                <a:spcPct val="115000"/>
              </a:lnSpc>
              <a:spcBef>
                <a:spcPts val="600"/>
              </a:spcBef>
              <a:spcAft>
                <a:spcPts val="0"/>
              </a:spcAft>
              <a:buClr>
                <a:srgbClr val="1B1C1D"/>
              </a:buClr>
              <a:buSzPts val="1100"/>
              <a:buFont typeface="Roboto"/>
              <a:buChar char="●"/>
            </a:pPr>
            <a:r>
              <a:rPr lang="en-US" sz="1100">
                <a:solidFill>
                  <a:srgbClr val="1B1C1D"/>
                </a:solidFill>
                <a:latin typeface="Roboto"/>
                <a:ea typeface="Roboto"/>
                <a:cs typeface="Roboto"/>
                <a:sym typeface="Roboto"/>
              </a:rPr>
              <a:t>Reporte generado correctamente: Al descargar un reporte, el archivo se genera en el formato y rango seleccionados.</a:t>
            </a:r>
            <a:endParaRPr sz="1100">
              <a:solidFill>
                <a:srgbClr val="1B1C1D"/>
              </a:solidFill>
              <a:latin typeface="Roboto"/>
              <a:ea typeface="Roboto"/>
              <a:cs typeface="Roboto"/>
              <a:sym typeface="Roboto"/>
            </a:endParaRPr>
          </a:p>
          <a:p>
            <a:pPr indent="0" lvl="0" marL="0" rtl="0" algn="l">
              <a:lnSpc>
                <a:spcPct val="115000"/>
              </a:lnSpc>
              <a:spcBef>
                <a:spcPts val="1800"/>
              </a:spcBef>
              <a:spcAft>
                <a:spcPts val="0"/>
              </a:spcAft>
              <a:buNone/>
            </a:pPr>
            <a:r>
              <a:rPr b="1" lang="en-US" sz="1100">
                <a:solidFill>
                  <a:srgbClr val="1B1C1D"/>
                </a:solidFill>
                <a:latin typeface="Roboto"/>
                <a:ea typeface="Roboto"/>
                <a:cs typeface="Roboto"/>
                <a:sym typeface="Roboto"/>
              </a:rPr>
              <a:t>Requisitos No Funcionales:</a:t>
            </a:r>
            <a:endParaRPr b="1" sz="1100">
              <a:solidFill>
                <a:srgbClr val="1B1C1D"/>
              </a:solidFill>
              <a:latin typeface="Roboto"/>
              <a:ea typeface="Roboto"/>
              <a:cs typeface="Roboto"/>
              <a:sym typeface="Roboto"/>
            </a:endParaRPr>
          </a:p>
          <a:p>
            <a:pPr indent="-298450" lvl="0" marL="457200" rtl="0" algn="l">
              <a:lnSpc>
                <a:spcPct val="115000"/>
              </a:lnSpc>
              <a:spcBef>
                <a:spcPts val="600"/>
              </a:spcBef>
              <a:spcAft>
                <a:spcPts val="0"/>
              </a:spcAft>
              <a:buClr>
                <a:srgbClr val="1B1C1D"/>
              </a:buClr>
              <a:buSzPts val="1100"/>
              <a:buChar char="●"/>
            </a:pPr>
            <a:r>
              <a:rPr b="1" lang="en-US" sz="1100">
                <a:solidFill>
                  <a:srgbClr val="1B1C1D"/>
                </a:solidFill>
                <a:latin typeface="Roboto"/>
                <a:ea typeface="Roboto"/>
                <a:cs typeface="Roboto"/>
                <a:sym typeface="Roboto"/>
              </a:rPr>
              <a:t>Fiabilidad</a:t>
            </a:r>
            <a:r>
              <a:rPr b="1" lang="en-US" sz="1100">
                <a:solidFill>
                  <a:srgbClr val="1B1C1D"/>
                </a:solidFill>
                <a:latin typeface="Roboto"/>
                <a:ea typeface="Roboto"/>
                <a:cs typeface="Roboto"/>
                <a:sym typeface="Roboto"/>
              </a:rPr>
              <a:t>:</a:t>
            </a:r>
            <a:r>
              <a:rPr lang="en-US" sz="1100">
                <a:solidFill>
                  <a:srgbClr val="1B1C1D"/>
                </a:solidFill>
                <a:latin typeface="Roboto"/>
                <a:ea typeface="Roboto"/>
                <a:cs typeface="Roboto"/>
                <a:sym typeface="Roboto"/>
              </a:rPr>
              <a:t> Si se elige un formato no válido, el sistema bloquea la descarga y alerta.</a:t>
            </a:r>
            <a:endParaRPr sz="1100">
              <a:solidFill>
                <a:srgbClr val="1B1C1D"/>
              </a:solidFill>
              <a:latin typeface="Roboto"/>
              <a:ea typeface="Roboto"/>
              <a:cs typeface="Roboto"/>
              <a:sym typeface="Roboto"/>
            </a:endParaRPr>
          </a:p>
          <a:p>
            <a:pPr indent="-298450" lvl="0" marL="457200" rtl="0" algn="l">
              <a:lnSpc>
                <a:spcPct val="115000"/>
              </a:lnSpc>
              <a:spcBef>
                <a:spcPts val="0"/>
              </a:spcBef>
              <a:spcAft>
                <a:spcPts val="0"/>
              </a:spcAft>
              <a:buClr>
                <a:srgbClr val="1B1C1D"/>
              </a:buClr>
              <a:buSzPts val="1100"/>
              <a:buChar char="●"/>
            </a:pPr>
            <a:r>
              <a:rPr b="1" lang="en-US" sz="1100">
                <a:solidFill>
                  <a:srgbClr val="1B1C1D"/>
                </a:solidFill>
                <a:latin typeface="Roboto"/>
                <a:ea typeface="Roboto"/>
                <a:cs typeface="Roboto"/>
                <a:sym typeface="Roboto"/>
              </a:rPr>
              <a:t>Fiabilidad:</a:t>
            </a:r>
            <a:r>
              <a:rPr lang="en-US" sz="1100">
                <a:solidFill>
                  <a:srgbClr val="1B1C1D"/>
                </a:solidFill>
                <a:latin typeface="Roboto"/>
                <a:ea typeface="Roboto"/>
                <a:cs typeface="Roboto"/>
                <a:sym typeface="Roboto"/>
              </a:rPr>
              <a:t> Si hay un problema en la generación, se muestra un error y se sugiere reintentar.</a:t>
            </a:r>
            <a:endParaRPr b="1" sz="1100">
              <a:solidFill>
                <a:srgbClr val="1B1C1D"/>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9"/>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250" name="Google Shape;250;p29"/>
          <p:cNvSpPr txBox="1"/>
          <p:nvPr>
            <p:ph type="title"/>
          </p:nvPr>
        </p:nvSpPr>
        <p:spPr>
          <a:xfrm>
            <a:off x="1512075" y="15975"/>
            <a:ext cx="5337600" cy="551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HISTORIAS DE USUARIO</a:t>
            </a:r>
            <a:endParaRPr b="1" sz="3200" u="none" strike="noStrike">
              <a:solidFill>
                <a:schemeClr val="dk1"/>
              </a:solidFill>
              <a:latin typeface="Roboto"/>
              <a:ea typeface="Roboto"/>
              <a:cs typeface="Roboto"/>
              <a:sym typeface="Roboto"/>
            </a:endParaRPr>
          </a:p>
        </p:txBody>
      </p:sp>
      <p:sp>
        <p:nvSpPr>
          <p:cNvPr id="251" name="Google Shape;251;p29"/>
          <p:cNvSpPr txBox="1"/>
          <p:nvPr/>
        </p:nvSpPr>
        <p:spPr>
          <a:xfrm>
            <a:off x="1051650" y="1201100"/>
            <a:ext cx="7593600" cy="334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100">
                <a:solidFill>
                  <a:srgbClr val="1B1C1D"/>
                </a:solidFill>
                <a:latin typeface="Roboto"/>
                <a:ea typeface="Roboto"/>
                <a:cs typeface="Roboto"/>
                <a:sym typeface="Roboto"/>
              </a:rPr>
              <a:t>3. Historia de Usuario: IOC-001 - Cargar Archivo de Datos de Producción</a:t>
            </a:r>
            <a:endParaRPr b="1" sz="1100">
              <a:solidFill>
                <a:srgbClr val="1B1C1D"/>
              </a:solidFill>
              <a:latin typeface="Roboto"/>
              <a:ea typeface="Roboto"/>
              <a:cs typeface="Roboto"/>
              <a:sym typeface="Roboto"/>
            </a:endParaRPr>
          </a:p>
          <a:p>
            <a:pPr indent="-298450" lvl="0" marL="457200" rtl="0" algn="l">
              <a:lnSpc>
                <a:spcPct val="115000"/>
              </a:lnSpc>
              <a:spcBef>
                <a:spcPts val="600"/>
              </a:spcBef>
              <a:spcAft>
                <a:spcPts val="0"/>
              </a:spcAft>
              <a:buClr>
                <a:srgbClr val="1B1C1D"/>
              </a:buClr>
              <a:buSzPts val="1100"/>
              <a:buChar char="●"/>
            </a:pPr>
            <a:r>
              <a:rPr b="1" lang="en-US" sz="1100">
                <a:solidFill>
                  <a:srgbClr val="1B1C1D"/>
                </a:solidFill>
                <a:latin typeface="Roboto"/>
                <a:ea typeface="Roboto"/>
                <a:cs typeface="Roboto"/>
                <a:sym typeface="Roboto"/>
              </a:rPr>
              <a:t>Como:</a:t>
            </a:r>
            <a:r>
              <a:rPr lang="en-US" sz="1100">
                <a:solidFill>
                  <a:srgbClr val="1B1C1D"/>
                </a:solidFill>
                <a:latin typeface="Roboto"/>
                <a:ea typeface="Roboto"/>
                <a:cs typeface="Roboto"/>
                <a:sym typeface="Roboto"/>
              </a:rPr>
              <a:t> Administrador</a:t>
            </a:r>
            <a:endParaRPr sz="1100">
              <a:solidFill>
                <a:srgbClr val="1B1C1D"/>
              </a:solidFill>
              <a:latin typeface="Roboto"/>
              <a:ea typeface="Roboto"/>
              <a:cs typeface="Roboto"/>
              <a:sym typeface="Roboto"/>
            </a:endParaRPr>
          </a:p>
          <a:p>
            <a:pPr indent="-298450" lvl="0" marL="457200" rtl="0" algn="l">
              <a:lnSpc>
                <a:spcPct val="115000"/>
              </a:lnSpc>
              <a:spcBef>
                <a:spcPts val="0"/>
              </a:spcBef>
              <a:spcAft>
                <a:spcPts val="0"/>
              </a:spcAft>
              <a:buClr>
                <a:srgbClr val="1B1C1D"/>
              </a:buClr>
              <a:buSzPts val="1100"/>
              <a:buChar char="●"/>
            </a:pPr>
            <a:r>
              <a:rPr b="1" lang="en-US" sz="1100">
                <a:solidFill>
                  <a:srgbClr val="1B1C1D"/>
                </a:solidFill>
                <a:latin typeface="Roboto"/>
                <a:ea typeface="Roboto"/>
                <a:cs typeface="Roboto"/>
                <a:sym typeface="Roboto"/>
              </a:rPr>
              <a:t>Quiero:</a:t>
            </a:r>
            <a:r>
              <a:rPr lang="en-US" sz="1100">
                <a:solidFill>
                  <a:srgbClr val="1B1C1D"/>
                </a:solidFill>
                <a:latin typeface="Roboto"/>
                <a:ea typeface="Roboto"/>
                <a:cs typeface="Roboto"/>
                <a:sym typeface="Roboto"/>
              </a:rPr>
              <a:t> Cargar y validar archivos de producción.</a:t>
            </a:r>
            <a:endParaRPr sz="1100">
              <a:solidFill>
                <a:srgbClr val="1B1C1D"/>
              </a:solidFill>
              <a:latin typeface="Roboto"/>
              <a:ea typeface="Roboto"/>
              <a:cs typeface="Roboto"/>
              <a:sym typeface="Roboto"/>
            </a:endParaRPr>
          </a:p>
          <a:p>
            <a:pPr indent="-298450" lvl="0" marL="457200" rtl="0" algn="l">
              <a:lnSpc>
                <a:spcPct val="115000"/>
              </a:lnSpc>
              <a:spcBef>
                <a:spcPts val="0"/>
              </a:spcBef>
              <a:spcAft>
                <a:spcPts val="0"/>
              </a:spcAft>
              <a:buClr>
                <a:srgbClr val="1B1C1D"/>
              </a:buClr>
              <a:buSzPts val="1100"/>
              <a:buChar char="●"/>
            </a:pPr>
            <a:r>
              <a:rPr b="1" lang="en-US" sz="1100">
                <a:solidFill>
                  <a:srgbClr val="1B1C1D"/>
                </a:solidFill>
                <a:latin typeface="Roboto"/>
                <a:ea typeface="Roboto"/>
                <a:cs typeface="Roboto"/>
                <a:sym typeface="Roboto"/>
              </a:rPr>
              <a:t>Para:</a:t>
            </a:r>
            <a:r>
              <a:rPr lang="en-US" sz="1100">
                <a:solidFill>
                  <a:srgbClr val="1B1C1D"/>
                </a:solidFill>
                <a:latin typeface="Roboto"/>
                <a:ea typeface="Roboto"/>
                <a:cs typeface="Roboto"/>
                <a:sym typeface="Roboto"/>
              </a:rPr>
              <a:t> Asegurar que solo datos fiables y de alta calidad se carguen en la base de datos</a:t>
            </a:r>
            <a:endParaRPr sz="1100">
              <a:solidFill>
                <a:srgbClr val="1B1C1D"/>
              </a:solidFill>
              <a:latin typeface="Roboto"/>
              <a:ea typeface="Roboto"/>
              <a:cs typeface="Roboto"/>
              <a:sym typeface="Roboto"/>
            </a:endParaRPr>
          </a:p>
          <a:p>
            <a:pPr indent="0" lvl="0" marL="0" rtl="0" algn="l">
              <a:lnSpc>
                <a:spcPct val="115000"/>
              </a:lnSpc>
              <a:spcBef>
                <a:spcPts val="1800"/>
              </a:spcBef>
              <a:spcAft>
                <a:spcPts val="0"/>
              </a:spcAft>
              <a:buNone/>
            </a:pPr>
            <a:r>
              <a:rPr b="1" lang="en-US" sz="1100">
                <a:solidFill>
                  <a:srgbClr val="1B1C1D"/>
                </a:solidFill>
                <a:latin typeface="Roboto"/>
                <a:ea typeface="Roboto"/>
                <a:cs typeface="Roboto"/>
                <a:sym typeface="Roboto"/>
              </a:rPr>
              <a:t>Criterios de Aceptación (Funcionales):</a:t>
            </a:r>
            <a:endParaRPr b="1" sz="1100">
              <a:solidFill>
                <a:srgbClr val="1B1C1D"/>
              </a:solidFill>
              <a:latin typeface="Roboto"/>
              <a:ea typeface="Roboto"/>
              <a:cs typeface="Roboto"/>
              <a:sym typeface="Roboto"/>
            </a:endParaRPr>
          </a:p>
          <a:p>
            <a:pPr indent="-298450" lvl="0" marL="457200" rtl="0" algn="l">
              <a:lnSpc>
                <a:spcPct val="115000"/>
              </a:lnSpc>
              <a:spcBef>
                <a:spcPts val="600"/>
              </a:spcBef>
              <a:spcAft>
                <a:spcPts val="0"/>
              </a:spcAft>
              <a:buClr>
                <a:srgbClr val="1B1C1D"/>
              </a:buClr>
              <a:buSzPts val="1100"/>
              <a:buChar char="●"/>
            </a:pPr>
            <a:r>
              <a:rPr lang="en-US" sz="1100">
                <a:solidFill>
                  <a:srgbClr val="1B1C1D"/>
                </a:solidFill>
                <a:latin typeface="Roboto"/>
                <a:ea typeface="Roboto"/>
                <a:cs typeface="Roboto"/>
                <a:sym typeface="Roboto"/>
              </a:rPr>
              <a:t>Archivo CSV válido: Dado un archivo con formato correcto, al cargarlo, el sistema lo procesa sin error.</a:t>
            </a:r>
            <a:endParaRPr sz="1100">
              <a:solidFill>
                <a:srgbClr val="1B1C1D"/>
              </a:solidFill>
              <a:latin typeface="Roboto"/>
              <a:ea typeface="Roboto"/>
              <a:cs typeface="Roboto"/>
              <a:sym typeface="Roboto"/>
            </a:endParaRPr>
          </a:p>
          <a:p>
            <a:pPr indent="-298450" lvl="0" marL="457200" rtl="0" algn="l">
              <a:lnSpc>
                <a:spcPct val="115000"/>
              </a:lnSpc>
              <a:spcBef>
                <a:spcPts val="0"/>
              </a:spcBef>
              <a:spcAft>
                <a:spcPts val="0"/>
              </a:spcAft>
              <a:buClr>
                <a:srgbClr val="1B1C1D"/>
              </a:buClr>
              <a:buSzPts val="1100"/>
              <a:buChar char="●"/>
            </a:pPr>
            <a:r>
              <a:rPr lang="en-US" sz="1100">
                <a:solidFill>
                  <a:srgbClr val="1B1C1D"/>
                </a:solidFill>
                <a:latin typeface="Roboto"/>
                <a:ea typeface="Roboto"/>
                <a:cs typeface="Roboto"/>
                <a:sym typeface="Roboto"/>
              </a:rPr>
              <a:t>Archivo incorrecto: Dado un archivo con formato incorrecto, al intentar cargarlo, el sistema muestra un error claro.</a:t>
            </a:r>
            <a:endParaRPr sz="1100">
              <a:solidFill>
                <a:srgbClr val="1B1C1D"/>
              </a:solidFill>
              <a:latin typeface="Roboto"/>
              <a:ea typeface="Roboto"/>
              <a:cs typeface="Roboto"/>
              <a:sym typeface="Roboto"/>
            </a:endParaRPr>
          </a:p>
          <a:p>
            <a:pPr indent="-298450" lvl="0" marL="457200" rtl="0" algn="l">
              <a:lnSpc>
                <a:spcPct val="115000"/>
              </a:lnSpc>
              <a:spcBef>
                <a:spcPts val="0"/>
              </a:spcBef>
              <a:spcAft>
                <a:spcPts val="0"/>
              </a:spcAft>
              <a:buClr>
                <a:srgbClr val="1B1C1D"/>
              </a:buClr>
              <a:buSzPts val="1100"/>
              <a:buChar char="●"/>
            </a:pPr>
            <a:r>
              <a:rPr lang="en-US" sz="1100">
                <a:solidFill>
                  <a:srgbClr val="1B1C1D"/>
                </a:solidFill>
                <a:latin typeface="Roboto"/>
                <a:ea typeface="Roboto"/>
                <a:cs typeface="Roboto"/>
                <a:sym typeface="Roboto"/>
              </a:rPr>
              <a:t>Archivo duplicado: Dado un archivo ya cargado, al intentar cargarlo de nuevo, el sistema notifica al usuario y no lo procesa.</a:t>
            </a:r>
            <a:endParaRPr sz="1100">
              <a:solidFill>
                <a:srgbClr val="1B1C1D"/>
              </a:solidFill>
              <a:latin typeface="Roboto"/>
              <a:ea typeface="Roboto"/>
              <a:cs typeface="Roboto"/>
              <a:sym typeface="Roboto"/>
            </a:endParaRPr>
          </a:p>
          <a:p>
            <a:pPr indent="-298450" lvl="0" marL="457200" rtl="0" algn="l">
              <a:lnSpc>
                <a:spcPct val="115000"/>
              </a:lnSpc>
              <a:spcBef>
                <a:spcPts val="0"/>
              </a:spcBef>
              <a:spcAft>
                <a:spcPts val="0"/>
              </a:spcAft>
              <a:buClr>
                <a:srgbClr val="1B1C1D"/>
              </a:buClr>
              <a:buSzPts val="1100"/>
              <a:buChar char="●"/>
            </a:pPr>
            <a:r>
              <a:rPr lang="en-US" sz="1100">
                <a:solidFill>
                  <a:srgbClr val="1B1C1D"/>
                </a:solidFill>
                <a:latin typeface="Roboto"/>
                <a:ea typeface="Roboto"/>
                <a:cs typeface="Roboto"/>
                <a:sym typeface="Roboto"/>
              </a:rPr>
              <a:t>Archivo vacío: Dado un archivo CSV sin datos, al cargarlo, se notifica que está vacío y no se procesa.</a:t>
            </a:r>
            <a:endParaRPr sz="1100">
              <a:solidFill>
                <a:srgbClr val="1B1C1D"/>
              </a:solidFill>
              <a:latin typeface="Roboto"/>
              <a:ea typeface="Roboto"/>
              <a:cs typeface="Roboto"/>
              <a:sym typeface="Roboto"/>
            </a:endParaRPr>
          </a:p>
          <a:p>
            <a:pPr indent="0" lvl="0" marL="0" rtl="0" algn="l">
              <a:lnSpc>
                <a:spcPct val="115000"/>
              </a:lnSpc>
              <a:spcBef>
                <a:spcPts val="1800"/>
              </a:spcBef>
              <a:spcAft>
                <a:spcPts val="0"/>
              </a:spcAft>
              <a:buNone/>
            </a:pPr>
            <a:r>
              <a:rPr b="1" lang="en-US" sz="1100">
                <a:solidFill>
                  <a:srgbClr val="1B1C1D"/>
                </a:solidFill>
                <a:latin typeface="Roboto"/>
                <a:ea typeface="Roboto"/>
                <a:cs typeface="Roboto"/>
                <a:sym typeface="Roboto"/>
              </a:rPr>
              <a:t>Requisitos No Funcionales:</a:t>
            </a:r>
            <a:endParaRPr b="1" sz="1100">
              <a:solidFill>
                <a:srgbClr val="1B1C1D"/>
              </a:solidFill>
              <a:latin typeface="Roboto"/>
              <a:ea typeface="Roboto"/>
              <a:cs typeface="Roboto"/>
              <a:sym typeface="Roboto"/>
            </a:endParaRPr>
          </a:p>
          <a:p>
            <a:pPr indent="-298450" lvl="0" marL="457200" rtl="0" algn="l">
              <a:lnSpc>
                <a:spcPct val="115000"/>
              </a:lnSpc>
              <a:spcBef>
                <a:spcPts val="600"/>
              </a:spcBef>
              <a:spcAft>
                <a:spcPts val="0"/>
              </a:spcAft>
              <a:buClr>
                <a:srgbClr val="1B1C1D"/>
              </a:buClr>
              <a:buSzPts val="1100"/>
              <a:buChar char="●"/>
            </a:pPr>
            <a:r>
              <a:rPr lang="en-US" sz="1100">
                <a:solidFill>
                  <a:srgbClr val="1B1C1D"/>
                </a:solidFill>
                <a:latin typeface="Roboto"/>
                <a:ea typeface="Roboto"/>
                <a:cs typeface="Roboto"/>
                <a:sym typeface="Roboto"/>
              </a:rPr>
              <a:t>Tiempo de carga &lt; 30 segundos por cada 1000 registros.</a:t>
            </a:r>
            <a:endParaRPr sz="1100">
              <a:solidFill>
                <a:srgbClr val="1B1C1D"/>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grpSp>
        <p:nvGrpSpPr>
          <p:cNvPr id="256" name="Google Shape;256;p30"/>
          <p:cNvGrpSpPr/>
          <p:nvPr/>
        </p:nvGrpSpPr>
        <p:grpSpPr>
          <a:xfrm>
            <a:off x="3978720" y="6840"/>
            <a:ext cx="5164200" cy="5143200"/>
            <a:chOff x="3978720" y="6840"/>
            <a:chExt cx="5164200" cy="5143200"/>
          </a:xfrm>
        </p:grpSpPr>
        <p:sp>
          <p:nvSpPr>
            <p:cNvPr id="257" name="Google Shape;257;p30"/>
            <p:cNvSpPr/>
            <p:nvPr/>
          </p:nvSpPr>
          <p:spPr>
            <a:xfrm flipH="1">
              <a:off x="3978720" y="6840"/>
              <a:ext cx="5164200" cy="51432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58" name="Google Shape;258;p30"/>
            <p:cNvSpPr/>
            <p:nvPr/>
          </p:nvSpPr>
          <p:spPr>
            <a:xfrm rot="-2699590">
              <a:off x="4520886" y="36474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59" name="Google Shape;259;p30"/>
            <p:cNvSpPr/>
            <p:nvPr/>
          </p:nvSpPr>
          <p:spPr>
            <a:xfrm rot="-2699590">
              <a:off x="7184166" y="22452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60" name="Google Shape;260;p30"/>
            <p:cNvSpPr/>
            <p:nvPr/>
          </p:nvSpPr>
          <p:spPr>
            <a:xfrm rot="-2699590">
              <a:off x="6716478" y="11666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61" name="Google Shape;261;p30"/>
            <p:cNvSpPr/>
            <p:nvPr/>
          </p:nvSpPr>
          <p:spPr>
            <a:xfrm rot="-2699590">
              <a:off x="5940318" y="35714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62" name="Google Shape;262;p30"/>
            <p:cNvSpPr/>
            <p:nvPr/>
          </p:nvSpPr>
          <p:spPr>
            <a:xfrm>
              <a:off x="6778080" y="2891160"/>
              <a:ext cx="1596300" cy="1596300"/>
            </a:xfrm>
            <a:prstGeom prst="ellipse">
              <a:avLst/>
            </a:prstGeom>
            <a:noFill/>
            <a:ln cap="flat" cmpd="sng" w="9525">
              <a:solidFill>
                <a:srgbClr val="F8F8F8"/>
              </a:solidFill>
              <a:prstDash val="lg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263" name="Google Shape;263;p30"/>
          <p:cNvSpPr txBox="1"/>
          <p:nvPr>
            <p:ph type="title"/>
          </p:nvPr>
        </p:nvSpPr>
        <p:spPr>
          <a:xfrm>
            <a:off x="312775" y="2139725"/>
            <a:ext cx="4554600" cy="551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Requisitos Funcionales</a:t>
            </a:r>
            <a:endParaRPr b="1" sz="3200" u="none" strike="noStrike">
              <a:solidFill>
                <a:schemeClr val="dk1"/>
              </a:solidFill>
              <a:latin typeface="Roboto"/>
              <a:ea typeface="Roboto"/>
              <a:cs typeface="Roboto"/>
              <a:sym typeface="Roboto"/>
            </a:endParaRPr>
          </a:p>
        </p:txBody>
      </p:sp>
      <p:sp>
        <p:nvSpPr>
          <p:cNvPr id="264" name="Google Shape;264;p30"/>
          <p:cNvSpPr/>
          <p:nvPr/>
        </p:nvSpPr>
        <p:spPr>
          <a:xfrm>
            <a:off x="5397480" y="1055160"/>
            <a:ext cx="3033000" cy="3033000"/>
          </a:xfrm>
          <a:prstGeom prst="ellipse">
            <a:avLst/>
          </a:prstGeom>
          <a:blipFill rotWithShape="1">
            <a:blip r:embed="rId3">
              <a:alphaModFix/>
            </a:blip>
            <a:stretch>
              <a:fillRect b="0" l="0" r="0" t="0"/>
            </a:stretch>
          </a:blipFill>
          <a:ln cap="flat" cmpd="sng" w="38100">
            <a:solidFill>
              <a:srgbClr val="F8F8F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265" name="Google Shape;265;p30"/>
          <p:cNvGrpSpPr/>
          <p:nvPr/>
        </p:nvGrpSpPr>
        <p:grpSpPr>
          <a:xfrm>
            <a:off x="5405271" y="1044240"/>
            <a:ext cx="3160020" cy="3290700"/>
            <a:chOff x="5405271" y="1044240"/>
            <a:chExt cx="3160020" cy="3290700"/>
          </a:xfrm>
        </p:grpSpPr>
        <p:sp>
          <p:nvSpPr>
            <p:cNvPr id="266" name="Google Shape;266;p30"/>
            <p:cNvSpPr/>
            <p:nvPr/>
          </p:nvSpPr>
          <p:spPr>
            <a:xfrm rot="-2700000">
              <a:off x="7674867" y="13795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67" name="Google Shape;267;p30"/>
            <p:cNvSpPr/>
            <p:nvPr/>
          </p:nvSpPr>
          <p:spPr>
            <a:xfrm rot="-2700000">
              <a:off x="5299947" y="38851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268" name="Google Shape;268;p30"/>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269" name="Google Shape;269;p30"/>
          <p:cNvPicPr preferRelativeResize="0"/>
          <p:nvPr/>
        </p:nvPicPr>
        <p:blipFill>
          <a:blip r:embed="rId4">
            <a:alphaModFix/>
          </a:blip>
          <a:stretch>
            <a:fillRect/>
          </a:stretch>
        </p:blipFill>
        <p:spPr>
          <a:xfrm>
            <a:off x="1378150" y="329050"/>
            <a:ext cx="1978201" cy="17645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1"/>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275" name="Google Shape;275;p31"/>
          <p:cNvSpPr txBox="1"/>
          <p:nvPr>
            <p:ph type="title"/>
          </p:nvPr>
        </p:nvSpPr>
        <p:spPr>
          <a:xfrm>
            <a:off x="1816275" y="0"/>
            <a:ext cx="4713000" cy="551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Requisitos Funcionales</a:t>
            </a:r>
            <a:endParaRPr b="1" sz="3200" u="none" strike="noStrike">
              <a:solidFill>
                <a:schemeClr val="dk1"/>
              </a:solidFill>
              <a:latin typeface="Roboto"/>
              <a:ea typeface="Roboto"/>
              <a:cs typeface="Roboto"/>
              <a:sym typeface="Roboto"/>
            </a:endParaRPr>
          </a:p>
        </p:txBody>
      </p:sp>
      <p:sp>
        <p:nvSpPr>
          <p:cNvPr id="276" name="Google Shape;276;p31"/>
          <p:cNvSpPr/>
          <p:nvPr/>
        </p:nvSpPr>
        <p:spPr>
          <a:xfrm>
            <a:off x="4402175" y="894963"/>
            <a:ext cx="3018900" cy="669000"/>
          </a:xfrm>
          <a:prstGeom prst="chevron">
            <a:avLst>
              <a:gd fmla="val 50000" name="adj"/>
            </a:avLst>
          </a:prstGeom>
          <a:solidFill>
            <a:srgbClr val="3D85C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300">
                <a:solidFill>
                  <a:srgbClr val="FFFFFF"/>
                </a:solidFill>
                <a:latin typeface="Roboto"/>
                <a:ea typeface="Roboto"/>
                <a:cs typeface="Roboto"/>
                <a:sym typeface="Roboto"/>
              </a:rPr>
              <a:t> Administración de Contenido Analítico</a:t>
            </a:r>
            <a:endParaRPr sz="1300">
              <a:solidFill>
                <a:srgbClr val="FFFFFF"/>
              </a:solidFill>
              <a:latin typeface="Roboto"/>
              <a:ea typeface="Roboto"/>
              <a:cs typeface="Roboto"/>
              <a:sym typeface="Roboto"/>
            </a:endParaRPr>
          </a:p>
        </p:txBody>
      </p:sp>
      <p:grpSp>
        <p:nvGrpSpPr>
          <p:cNvPr id="277" name="Google Shape;277;p31"/>
          <p:cNvGrpSpPr/>
          <p:nvPr/>
        </p:nvGrpSpPr>
        <p:grpSpPr>
          <a:xfrm>
            <a:off x="0" y="895052"/>
            <a:ext cx="3546900" cy="3482836"/>
            <a:chOff x="0" y="1189989"/>
            <a:chExt cx="3546900" cy="3482836"/>
          </a:xfrm>
        </p:grpSpPr>
        <p:sp>
          <p:nvSpPr>
            <p:cNvPr id="278" name="Google Shape;278;p31"/>
            <p:cNvSpPr/>
            <p:nvPr/>
          </p:nvSpPr>
          <p:spPr>
            <a:xfrm>
              <a:off x="0" y="1189989"/>
              <a:ext cx="3546900" cy="669000"/>
            </a:xfrm>
            <a:prstGeom prst="homePlate">
              <a:avLst>
                <a:gd fmla="val 50000" name="adj"/>
              </a:avLst>
            </a:prstGeom>
            <a:solidFill>
              <a:srgbClr val="073763"/>
            </a:solid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None/>
              </a:pPr>
              <a:r>
                <a:rPr lang="en-US" sz="1100">
                  <a:solidFill>
                    <a:srgbClr val="FFFFFF"/>
                  </a:solidFill>
                  <a:latin typeface="Roboto"/>
                  <a:ea typeface="Roboto"/>
                  <a:cs typeface="Roboto"/>
                  <a:sym typeface="Roboto"/>
                </a:rPr>
                <a:t>Gestión de Acceso y Seguridad</a:t>
              </a:r>
              <a:endParaRPr sz="1100">
                <a:solidFill>
                  <a:srgbClr val="FFFFFF"/>
                </a:solidFill>
                <a:latin typeface="Roboto"/>
                <a:ea typeface="Roboto"/>
                <a:cs typeface="Roboto"/>
                <a:sym typeface="Roboto"/>
              </a:endParaRPr>
            </a:p>
          </p:txBody>
        </p:sp>
        <p:sp>
          <p:nvSpPr>
            <p:cNvPr id="279" name="Google Shape;279;p31"/>
            <p:cNvSpPr txBox="1"/>
            <p:nvPr/>
          </p:nvSpPr>
          <p:spPr>
            <a:xfrm>
              <a:off x="412875" y="2057125"/>
              <a:ext cx="18837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100">
                  <a:solidFill>
                    <a:schemeClr val="dk1"/>
                  </a:solidFill>
                  <a:highlight>
                    <a:schemeClr val="lt1"/>
                  </a:highlight>
                  <a:latin typeface="Roboto"/>
                  <a:ea typeface="Roboto"/>
                  <a:cs typeface="Roboto"/>
                  <a:sym typeface="Roboto"/>
                </a:rPr>
                <a:t>Implementar un sistema de login seguro y una gestión de roles que garantice que cada usuario acceda únicamente a la información y funcionalidades permitidas.</a:t>
              </a:r>
              <a:endParaRPr sz="1100">
                <a:solidFill>
                  <a:schemeClr val="dk1"/>
                </a:solidFill>
                <a:highlight>
                  <a:schemeClr val="lt1"/>
                </a:highlight>
                <a:latin typeface="Roboto"/>
                <a:ea typeface="Roboto"/>
                <a:cs typeface="Roboto"/>
                <a:sym typeface="Roboto"/>
              </a:endParaRPr>
            </a:p>
          </p:txBody>
        </p:sp>
      </p:grpSp>
      <p:sp>
        <p:nvSpPr>
          <p:cNvPr id="280" name="Google Shape;280;p31"/>
          <p:cNvSpPr/>
          <p:nvPr/>
        </p:nvSpPr>
        <p:spPr>
          <a:xfrm>
            <a:off x="2296775" y="894963"/>
            <a:ext cx="2675400" cy="669000"/>
          </a:xfrm>
          <a:prstGeom prst="chevron">
            <a:avLst>
              <a:gd fmla="val 50000" name="adj"/>
            </a:avLst>
          </a:prstGeom>
          <a:solidFill>
            <a:srgbClr val="0B539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300">
                <a:solidFill>
                  <a:srgbClr val="FFFFFF"/>
                </a:solidFill>
                <a:latin typeface="Roboto"/>
                <a:ea typeface="Roboto"/>
                <a:cs typeface="Roboto"/>
                <a:sym typeface="Roboto"/>
              </a:rPr>
              <a:t>Ingesta de Datos</a:t>
            </a:r>
            <a:endParaRPr sz="1300">
              <a:solidFill>
                <a:srgbClr val="FFFFFF"/>
              </a:solidFill>
              <a:latin typeface="Roboto"/>
              <a:ea typeface="Roboto"/>
              <a:cs typeface="Roboto"/>
              <a:sym typeface="Roboto"/>
            </a:endParaRPr>
          </a:p>
        </p:txBody>
      </p:sp>
      <p:sp>
        <p:nvSpPr>
          <p:cNvPr id="281" name="Google Shape;281;p31"/>
          <p:cNvSpPr/>
          <p:nvPr/>
        </p:nvSpPr>
        <p:spPr>
          <a:xfrm>
            <a:off x="6810661" y="895013"/>
            <a:ext cx="2294700" cy="669000"/>
          </a:xfrm>
          <a:prstGeom prst="chevron">
            <a:avLst>
              <a:gd fmla="val 50000" name="adj"/>
            </a:avLst>
          </a:prstGeom>
          <a:solidFill>
            <a:srgbClr val="6FA8D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300">
                <a:solidFill>
                  <a:srgbClr val="FFFFFF"/>
                </a:solidFill>
                <a:latin typeface="Roboto"/>
                <a:ea typeface="Roboto"/>
                <a:cs typeface="Roboto"/>
                <a:sym typeface="Roboto"/>
              </a:rPr>
              <a:t>Visualización de Dashboards Interactivos</a:t>
            </a:r>
            <a:endParaRPr sz="1300">
              <a:solidFill>
                <a:srgbClr val="FFFFFF"/>
              </a:solidFill>
              <a:latin typeface="Roboto"/>
              <a:ea typeface="Roboto"/>
              <a:cs typeface="Roboto"/>
              <a:sym typeface="Roboto"/>
            </a:endParaRPr>
          </a:p>
        </p:txBody>
      </p:sp>
      <p:sp>
        <p:nvSpPr>
          <p:cNvPr id="282" name="Google Shape;282;p31"/>
          <p:cNvSpPr txBox="1"/>
          <p:nvPr/>
        </p:nvSpPr>
        <p:spPr>
          <a:xfrm>
            <a:off x="2612550" y="1790288"/>
            <a:ext cx="18837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100">
                <a:solidFill>
                  <a:schemeClr val="dk1"/>
                </a:solidFill>
                <a:highlight>
                  <a:schemeClr val="lt1"/>
                </a:highlight>
                <a:latin typeface="Roboto"/>
                <a:ea typeface="Roboto"/>
                <a:cs typeface="Roboto"/>
                <a:sym typeface="Roboto"/>
              </a:rPr>
              <a:t>Automatizar la carga y validación de reportes CSV de producción para centralizar los datos y crear una fuente centralizada de información, eliminando el proceso manual.</a:t>
            </a:r>
            <a:endParaRPr sz="1100">
              <a:solidFill>
                <a:schemeClr val="dk1"/>
              </a:solidFill>
              <a:highlight>
                <a:schemeClr val="lt1"/>
              </a:highlight>
              <a:latin typeface="Roboto"/>
              <a:ea typeface="Roboto"/>
              <a:cs typeface="Roboto"/>
              <a:sym typeface="Roboto"/>
            </a:endParaRPr>
          </a:p>
        </p:txBody>
      </p:sp>
      <p:sp>
        <p:nvSpPr>
          <p:cNvPr id="283" name="Google Shape;283;p31"/>
          <p:cNvSpPr txBox="1"/>
          <p:nvPr/>
        </p:nvSpPr>
        <p:spPr>
          <a:xfrm>
            <a:off x="4969700" y="1790288"/>
            <a:ext cx="18837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100">
                <a:solidFill>
                  <a:schemeClr val="dk1"/>
                </a:solidFill>
                <a:highlight>
                  <a:schemeClr val="lt1"/>
                </a:highlight>
                <a:latin typeface="Roboto"/>
                <a:ea typeface="Roboto"/>
                <a:cs typeface="Roboto"/>
                <a:sym typeface="Roboto"/>
              </a:rPr>
              <a:t>Proveer a los administradores las herramientas para definir y configurar los KPIs, gráficos y la disposición del dashboard principal que verán los usuarios finales.</a:t>
            </a:r>
            <a:endParaRPr sz="1100">
              <a:solidFill>
                <a:schemeClr val="dk1"/>
              </a:solidFill>
              <a:highlight>
                <a:schemeClr val="lt1"/>
              </a:highlight>
              <a:latin typeface="Roboto"/>
              <a:ea typeface="Roboto"/>
              <a:cs typeface="Roboto"/>
              <a:sym typeface="Roboto"/>
            </a:endParaRPr>
          </a:p>
        </p:txBody>
      </p:sp>
      <p:sp>
        <p:nvSpPr>
          <p:cNvPr id="284" name="Google Shape;284;p31"/>
          <p:cNvSpPr txBox="1"/>
          <p:nvPr/>
        </p:nvSpPr>
        <p:spPr>
          <a:xfrm>
            <a:off x="7143200" y="1790288"/>
            <a:ext cx="18837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100">
                <a:solidFill>
                  <a:schemeClr val="dk1"/>
                </a:solidFill>
                <a:highlight>
                  <a:schemeClr val="lt1"/>
                </a:highlight>
                <a:latin typeface="Roboto"/>
                <a:ea typeface="Roboto"/>
                <a:cs typeface="Roboto"/>
                <a:sym typeface="Roboto"/>
              </a:rPr>
              <a:t>Presentar a los gerentes dashboards dinámicos que reflejen el estado más reciente de la producción, eliminando la latencia de los reportes manuales y permitiendo el análisis interactivo para la toma de decisiones oportunas.</a:t>
            </a:r>
            <a:endParaRPr sz="1100">
              <a:solidFill>
                <a:schemeClr val="dk1"/>
              </a:solidFill>
              <a:highlight>
                <a:schemeClr val="lt1"/>
              </a:highlight>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grpSp>
        <p:nvGrpSpPr>
          <p:cNvPr id="289" name="Google Shape;289;p32"/>
          <p:cNvGrpSpPr/>
          <p:nvPr/>
        </p:nvGrpSpPr>
        <p:grpSpPr>
          <a:xfrm>
            <a:off x="3978720" y="6840"/>
            <a:ext cx="5164200" cy="5143200"/>
            <a:chOff x="3978720" y="6840"/>
            <a:chExt cx="5164200" cy="5143200"/>
          </a:xfrm>
        </p:grpSpPr>
        <p:sp>
          <p:nvSpPr>
            <p:cNvPr id="290" name="Google Shape;290;p32"/>
            <p:cNvSpPr/>
            <p:nvPr/>
          </p:nvSpPr>
          <p:spPr>
            <a:xfrm flipH="1">
              <a:off x="3978720" y="6840"/>
              <a:ext cx="5164200" cy="51432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91" name="Google Shape;291;p32"/>
            <p:cNvSpPr/>
            <p:nvPr/>
          </p:nvSpPr>
          <p:spPr>
            <a:xfrm rot="-2699590">
              <a:off x="4520886" y="36474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92" name="Google Shape;292;p32"/>
            <p:cNvSpPr/>
            <p:nvPr/>
          </p:nvSpPr>
          <p:spPr>
            <a:xfrm rot="-2699590">
              <a:off x="7184166" y="22452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93" name="Google Shape;293;p32"/>
            <p:cNvSpPr/>
            <p:nvPr/>
          </p:nvSpPr>
          <p:spPr>
            <a:xfrm rot="-2699590">
              <a:off x="6716478" y="11666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94" name="Google Shape;294;p32"/>
            <p:cNvSpPr/>
            <p:nvPr/>
          </p:nvSpPr>
          <p:spPr>
            <a:xfrm rot="-2699590">
              <a:off x="5940318" y="35714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95" name="Google Shape;295;p32"/>
            <p:cNvSpPr/>
            <p:nvPr/>
          </p:nvSpPr>
          <p:spPr>
            <a:xfrm>
              <a:off x="6778080" y="2891160"/>
              <a:ext cx="1596300" cy="1596300"/>
            </a:xfrm>
            <a:prstGeom prst="ellipse">
              <a:avLst/>
            </a:prstGeom>
            <a:noFill/>
            <a:ln cap="flat" cmpd="sng" w="9525">
              <a:solidFill>
                <a:srgbClr val="F8F8F8"/>
              </a:solidFill>
              <a:prstDash val="lg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296" name="Google Shape;296;p32"/>
          <p:cNvSpPr txBox="1"/>
          <p:nvPr>
            <p:ph type="title"/>
          </p:nvPr>
        </p:nvSpPr>
        <p:spPr>
          <a:xfrm>
            <a:off x="318125" y="2121825"/>
            <a:ext cx="5164200" cy="551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Requisitos No Funcionales</a:t>
            </a:r>
            <a:endParaRPr b="1" sz="3200" u="none" strike="noStrike">
              <a:solidFill>
                <a:schemeClr val="dk1"/>
              </a:solidFill>
              <a:latin typeface="Roboto"/>
              <a:ea typeface="Roboto"/>
              <a:cs typeface="Roboto"/>
              <a:sym typeface="Roboto"/>
            </a:endParaRPr>
          </a:p>
        </p:txBody>
      </p:sp>
      <p:sp>
        <p:nvSpPr>
          <p:cNvPr id="297" name="Google Shape;297;p32"/>
          <p:cNvSpPr/>
          <p:nvPr/>
        </p:nvSpPr>
        <p:spPr>
          <a:xfrm>
            <a:off x="5397480" y="1055160"/>
            <a:ext cx="3033000" cy="3033000"/>
          </a:xfrm>
          <a:prstGeom prst="ellipse">
            <a:avLst/>
          </a:prstGeom>
          <a:blipFill rotWithShape="1">
            <a:blip r:embed="rId3">
              <a:alphaModFix/>
            </a:blip>
            <a:stretch>
              <a:fillRect b="0" l="0" r="0" t="0"/>
            </a:stretch>
          </a:blipFill>
          <a:ln cap="flat" cmpd="sng" w="38100">
            <a:solidFill>
              <a:srgbClr val="F8F8F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298" name="Google Shape;298;p32"/>
          <p:cNvGrpSpPr/>
          <p:nvPr/>
        </p:nvGrpSpPr>
        <p:grpSpPr>
          <a:xfrm>
            <a:off x="5405271" y="1044240"/>
            <a:ext cx="3160020" cy="3290700"/>
            <a:chOff x="5405271" y="1044240"/>
            <a:chExt cx="3160020" cy="3290700"/>
          </a:xfrm>
        </p:grpSpPr>
        <p:sp>
          <p:nvSpPr>
            <p:cNvPr id="299" name="Google Shape;299;p32"/>
            <p:cNvSpPr/>
            <p:nvPr/>
          </p:nvSpPr>
          <p:spPr>
            <a:xfrm rot="-2700000">
              <a:off x="7674867" y="13795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00" name="Google Shape;300;p32"/>
            <p:cNvSpPr/>
            <p:nvPr/>
          </p:nvSpPr>
          <p:spPr>
            <a:xfrm rot="-2700000">
              <a:off x="5299947" y="38851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301" name="Google Shape;301;p32"/>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302" name="Google Shape;302;p32"/>
          <p:cNvPicPr preferRelativeResize="0"/>
          <p:nvPr/>
        </p:nvPicPr>
        <p:blipFill>
          <a:blip r:embed="rId4">
            <a:alphaModFix/>
          </a:blip>
          <a:stretch>
            <a:fillRect/>
          </a:stretch>
        </p:blipFill>
        <p:spPr>
          <a:xfrm>
            <a:off x="1458700" y="393675"/>
            <a:ext cx="1937392" cy="17281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3"/>
          <p:cNvSpPr txBox="1"/>
          <p:nvPr>
            <p:ph idx="12" type="sldNum"/>
          </p:nvPr>
        </p:nvSpPr>
        <p:spPr>
          <a:xfrm>
            <a:off x="8547510"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308" name="Google Shape;308;p33"/>
          <p:cNvSpPr txBox="1"/>
          <p:nvPr>
            <p:ph type="title"/>
          </p:nvPr>
        </p:nvSpPr>
        <p:spPr>
          <a:xfrm>
            <a:off x="1825225" y="0"/>
            <a:ext cx="5108700" cy="551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Requisitos No Funcionales</a:t>
            </a:r>
            <a:endParaRPr b="1" sz="3200" u="none" strike="noStrike">
              <a:solidFill>
                <a:schemeClr val="dk1"/>
              </a:solidFill>
              <a:latin typeface="Roboto"/>
              <a:ea typeface="Roboto"/>
              <a:cs typeface="Roboto"/>
              <a:sym typeface="Roboto"/>
            </a:endParaRPr>
          </a:p>
        </p:txBody>
      </p:sp>
      <p:sp>
        <p:nvSpPr>
          <p:cNvPr id="309" name="Google Shape;309;p33"/>
          <p:cNvSpPr/>
          <p:nvPr/>
        </p:nvSpPr>
        <p:spPr>
          <a:xfrm>
            <a:off x="5638425" y="915200"/>
            <a:ext cx="3565800" cy="669000"/>
          </a:xfrm>
          <a:prstGeom prst="chevron">
            <a:avLst>
              <a:gd fmla="val 50000" name="adj"/>
            </a:avLst>
          </a:prstGeom>
          <a:solidFill>
            <a:srgbClr val="3D85C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FFFFFF"/>
                </a:solidFill>
                <a:latin typeface="Roboto"/>
                <a:ea typeface="Roboto"/>
                <a:cs typeface="Roboto"/>
                <a:sym typeface="Roboto"/>
              </a:rPr>
              <a:t>Usabilidad</a:t>
            </a:r>
            <a:endParaRPr b="1" sz="1300">
              <a:solidFill>
                <a:srgbClr val="FFFFFF"/>
              </a:solidFill>
              <a:latin typeface="Roboto"/>
              <a:ea typeface="Roboto"/>
              <a:cs typeface="Roboto"/>
              <a:sym typeface="Roboto"/>
            </a:endParaRPr>
          </a:p>
        </p:txBody>
      </p:sp>
      <p:grpSp>
        <p:nvGrpSpPr>
          <p:cNvPr id="310" name="Google Shape;310;p33"/>
          <p:cNvGrpSpPr/>
          <p:nvPr/>
        </p:nvGrpSpPr>
        <p:grpSpPr>
          <a:xfrm>
            <a:off x="0" y="915300"/>
            <a:ext cx="3565954" cy="3482825"/>
            <a:chOff x="0" y="1189994"/>
            <a:chExt cx="4841100" cy="3482825"/>
          </a:xfrm>
        </p:grpSpPr>
        <p:sp>
          <p:nvSpPr>
            <p:cNvPr id="311" name="Google Shape;311;p33"/>
            <p:cNvSpPr/>
            <p:nvPr/>
          </p:nvSpPr>
          <p:spPr>
            <a:xfrm>
              <a:off x="0" y="1189994"/>
              <a:ext cx="4841100" cy="669000"/>
            </a:xfrm>
            <a:prstGeom prst="homePlate">
              <a:avLst>
                <a:gd fmla="val 50000" name="adj"/>
              </a:avLst>
            </a:prstGeom>
            <a:solidFill>
              <a:srgbClr val="073763"/>
            </a:solidFill>
            <a:ln>
              <a:noFill/>
            </a:ln>
          </p:spPr>
          <p:txBody>
            <a:bodyPr anchorCtr="0" anchor="ctr" bIns="91425" lIns="91425" spcFirstLastPara="1" rIns="91425" wrap="square" tIns="91425">
              <a:noAutofit/>
            </a:bodyPr>
            <a:lstStyle/>
            <a:p>
              <a:pPr indent="0" lvl="0" marL="0" rtl="0" algn="ctr">
                <a:lnSpc>
                  <a:spcPct val="115000"/>
                </a:lnSpc>
                <a:spcBef>
                  <a:spcPts val="1200"/>
                </a:spcBef>
                <a:spcAft>
                  <a:spcPts val="1200"/>
                </a:spcAft>
                <a:buNone/>
              </a:pPr>
              <a:r>
                <a:rPr b="1" lang="en-US" sz="1300">
                  <a:solidFill>
                    <a:srgbClr val="FFFFFF"/>
                  </a:solidFill>
                  <a:latin typeface="Roboto"/>
                  <a:ea typeface="Roboto"/>
                  <a:cs typeface="Roboto"/>
                  <a:sym typeface="Roboto"/>
                </a:rPr>
                <a:t>Rendimiento</a:t>
              </a:r>
              <a:endParaRPr b="1" sz="1300">
                <a:solidFill>
                  <a:srgbClr val="FFFFFF"/>
                </a:solidFill>
                <a:latin typeface="Roboto"/>
                <a:ea typeface="Roboto"/>
                <a:cs typeface="Roboto"/>
                <a:sym typeface="Roboto"/>
              </a:endParaRPr>
            </a:p>
          </p:txBody>
        </p:sp>
        <p:sp>
          <p:nvSpPr>
            <p:cNvPr id="312" name="Google Shape;312;p33"/>
            <p:cNvSpPr txBox="1"/>
            <p:nvPr/>
          </p:nvSpPr>
          <p:spPr>
            <a:xfrm>
              <a:off x="412878" y="2057119"/>
              <a:ext cx="33450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050">
                  <a:solidFill>
                    <a:schemeClr val="dk1"/>
                  </a:solidFill>
                  <a:highlight>
                    <a:schemeClr val="lt1"/>
                  </a:highlight>
                  <a:latin typeface="Roboto"/>
                  <a:ea typeface="Roboto"/>
                  <a:cs typeface="Roboto"/>
                  <a:sym typeface="Roboto"/>
                </a:rPr>
                <a:t>Garantizar una experiencia fluida: Carga de dashboard en </a:t>
              </a:r>
              <a:r>
                <a:rPr b="1" lang="en-US" sz="1050">
                  <a:solidFill>
                    <a:schemeClr val="dk1"/>
                  </a:solidFill>
                  <a:highlight>
                    <a:schemeClr val="lt1"/>
                  </a:highlight>
                  <a:latin typeface="Roboto"/>
                  <a:ea typeface="Roboto"/>
                  <a:cs typeface="Roboto"/>
                  <a:sym typeface="Roboto"/>
                </a:rPr>
                <a:t>&lt; 3 segundos</a:t>
              </a:r>
              <a:r>
                <a:rPr lang="en-US" sz="1050">
                  <a:solidFill>
                    <a:schemeClr val="dk1"/>
                  </a:solidFill>
                  <a:highlight>
                    <a:schemeClr val="lt1"/>
                  </a:highlight>
                  <a:latin typeface="Roboto"/>
                  <a:ea typeface="Roboto"/>
                  <a:cs typeface="Roboto"/>
                  <a:sym typeface="Roboto"/>
                </a:rPr>
                <a:t> y aplicación de filtros en </a:t>
              </a:r>
              <a:r>
                <a:rPr b="1" lang="en-US" sz="1050">
                  <a:solidFill>
                    <a:schemeClr val="dk1"/>
                  </a:solidFill>
                  <a:highlight>
                    <a:schemeClr val="lt1"/>
                  </a:highlight>
                  <a:latin typeface="Roboto"/>
                  <a:ea typeface="Roboto"/>
                  <a:cs typeface="Roboto"/>
                  <a:sym typeface="Roboto"/>
                </a:rPr>
                <a:t>&lt; 2 segundos</a:t>
              </a:r>
              <a:r>
                <a:rPr lang="en-US" sz="1050">
                  <a:solidFill>
                    <a:schemeClr val="dk1"/>
                  </a:solidFill>
                  <a:highlight>
                    <a:schemeClr val="lt1"/>
                  </a:highlight>
                  <a:latin typeface="Roboto"/>
                  <a:ea typeface="Roboto"/>
                  <a:cs typeface="Roboto"/>
                  <a:sym typeface="Roboto"/>
                </a:rPr>
                <a:t> bajo carga simulada.</a:t>
              </a:r>
              <a:endParaRPr b="1" sz="1050">
                <a:solidFill>
                  <a:schemeClr val="dk1"/>
                </a:solidFill>
                <a:highlight>
                  <a:schemeClr val="lt1"/>
                </a:highlight>
                <a:latin typeface="Roboto"/>
                <a:ea typeface="Roboto"/>
                <a:cs typeface="Roboto"/>
                <a:sym typeface="Roboto"/>
              </a:endParaRPr>
            </a:p>
          </p:txBody>
        </p:sp>
      </p:grpSp>
      <p:sp>
        <p:nvSpPr>
          <p:cNvPr id="313" name="Google Shape;313;p33"/>
          <p:cNvSpPr/>
          <p:nvPr/>
        </p:nvSpPr>
        <p:spPr>
          <a:xfrm>
            <a:off x="2768050" y="915200"/>
            <a:ext cx="3440400" cy="669000"/>
          </a:xfrm>
          <a:prstGeom prst="chevron">
            <a:avLst>
              <a:gd fmla="val 50000" name="adj"/>
            </a:avLst>
          </a:prstGeom>
          <a:solidFill>
            <a:srgbClr val="0B539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FFFFFF"/>
                </a:solidFill>
                <a:latin typeface="Roboto"/>
                <a:ea typeface="Roboto"/>
                <a:cs typeface="Roboto"/>
                <a:sym typeface="Roboto"/>
              </a:rPr>
              <a:t>Seguridad</a:t>
            </a:r>
            <a:endParaRPr b="1" sz="1300">
              <a:solidFill>
                <a:srgbClr val="FFFFFF"/>
              </a:solidFill>
              <a:latin typeface="Roboto"/>
              <a:ea typeface="Roboto"/>
              <a:cs typeface="Roboto"/>
              <a:sym typeface="Roboto"/>
            </a:endParaRPr>
          </a:p>
        </p:txBody>
      </p:sp>
      <p:sp>
        <p:nvSpPr>
          <p:cNvPr id="314" name="Google Shape;314;p33"/>
          <p:cNvSpPr txBox="1"/>
          <p:nvPr/>
        </p:nvSpPr>
        <p:spPr>
          <a:xfrm>
            <a:off x="3256301" y="1782425"/>
            <a:ext cx="24639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050">
                <a:solidFill>
                  <a:schemeClr val="dk1"/>
                </a:solidFill>
                <a:highlight>
                  <a:schemeClr val="lt1"/>
                </a:highlight>
                <a:latin typeface="Roboto"/>
                <a:ea typeface="Roboto"/>
                <a:cs typeface="Roboto"/>
                <a:sym typeface="Roboto"/>
              </a:rPr>
              <a:t>Proteger el sistema: </a:t>
            </a:r>
            <a:r>
              <a:rPr b="1" lang="en-US" sz="1050">
                <a:solidFill>
                  <a:schemeClr val="dk1"/>
                </a:solidFill>
                <a:highlight>
                  <a:schemeClr val="lt1"/>
                </a:highlight>
                <a:latin typeface="Roboto"/>
                <a:ea typeface="Roboto"/>
                <a:cs typeface="Roboto"/>
                <a:sym typeface="Roboto"/>
              </a:rPr>
              <a:t>Cero vulnerabilidades críticas en dependencias</a:t>
            </a:r>
            <a:r>
              <a:rPr lang="en-US" sz="1050">
                <a:solidFill>
                  <a:schemeClr val="dk1"/>
                </a:solidFill>
                <a:highlight>
                  <a:schemeClr val="lt1"/>
                </a:highlight>
                <a:latin typeface="Roboto"/>
                <a:ea typeface="Roboto"/>
                <a:cs typeface="Roboto"/>
                <a:sym typeface="Roboto"/>
              </a:rPr>
              <a:t> y endpoints de administración inaccesibles para usuarios y roles no autorizados.</a:t>
            </a:r>
            <a:endParaRPr sz="1050">
              <a:solidFill>
                <a:schemeClr val="dk1"/>
              </a:solidFill>
              <a:highlight>
                <a:schemeClr val="lt1"/>
              </a:highlight>
              <a:latin typeface="Roboto"/>
              <a:ea typeface="Roboto"/>
              <a:cs typeface="Roboto"/>
              <a:sym typeface="Roboto"/>
            </a:endParaRPr>
          </a:p>
          <a:p>
            <a:pPr indent="0" lvl="0" marL="0" rtl="0" algn="l">
              <a:lnSpc>
                <a:spcPct val="115000"/>
              </a:lnSpc>
              <a:spcBef>
                <a:spcPts val="0"/>
              </a:spcBef>
              <a:spcAft>
                <a:spcPts val="0"/>
              </a:spcAft>
              <a:buNone/>
            </a:pPr>
            <a:r>
              <a:t/>
            </a:r>
            <a:endParaRPr sz="1050">
              <a:solidFill>
                <a:schemeClr val="dk1"/>
              </a:solidFill>
              <a:highlight>
                <a:schemeClr val="lt1"/>
              </a:highlight>
              <a:latin typeface="Roboto"/>
              <a:ea typeface="Roboto"/>
              <a:cs typeface="Roboto"/>
              <a:sym typeface="Roboto"/>
            </a:endParaRPr>
          </a:p>
        </p:txBody>
      </p:sp>
      <p:sp>
        <p:nvSpPr>
          <p:cNvPr id="315" name="Google Shape;315;p33"/>
          <p:cNvSpPr txBox="1"/>
          <p:nvPr/>
        </p:nvSpPr>
        <p:spPr>
          <a:xfrm>
            <a:off x="6189376" y="1782425"/>
            <a:ext cx="24639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050">
                <a:solidFill>
                  <a:schemeClr val="dk1"/>
                </a:solidFill>
                <a:highlight>
                  <a:schemeClr val="lt1"/>
                </a:highlight>
                <a:latin typeface="Roboto"/>
                <a:ea typeface="Roboto"/>
                <a:cs typeface="Roboto"/>
                <a:sym typeface="Roboto"/>
              </a:rPr>
              <a:t>Asegurar una interfaz intuitiva: Tasa de éxito de </a:t>
            </a:r>
            <a:r>
              <a:rPr b="1" lang="en-US" sz="1050">
                <a:solidFill>
                  <a:schemeClr val="dk1"/>
                </a:solidFill>
                <a:highlight>
                  <a:schemeClr val="lt1"/>
                </a:highlight>
                <a:latin typeface="Roboto"/>
                <a:ea typeface="Roboto"/>
                <a:cs typeface="Roboto"/>
                <a:sym typeface="Roboto"/>
              </a:rPr>
              <a:t>&gt;80% en tareas clave</a:t>
            </a:r>
            <a:r>
              <a:rPr lang="en-US" sz="1050">
                <a:solidFill>
                  <a:schemeClr val="dk1"/>
                </a:solidFill>
                <a:highlight>
                  <a:schemeClr val="lt1"/>
                </a:highlight>
                <a:latin typeface="Roboto"/>
                <a:ea typeface="Roboto"/>
                <a:cs typeface="Roboto"/>
                <a:sym typeface="Roboto"/>
              </a:rPr>
              <a:t> durante las pruebas de usuario (UAT) sin necesidad de asistencia.</a:t>
            </a:r>
            <a:endParaRPr sz="1050">
              <a:solidFill>
                <a:schemeClr val="dk1"/>
              </a:solidFill>
              <a:highlight>
                <a:schemeClr val="lt1"/>
              </a:highlight>
              <a:latin typeface="Roboto"/>
              <a:ea typeface="Roboto"/>
              <a:cs typeface="Roboto"/>
              <a:sym typeface="Roboto"/>
            </a:endParaRPr>
          </a:p>
        </p:txBody>
      </p:sp>
      <p:sp>
        <p:nvSpPr>
          <p:cNvPr id="316" name="Google Shape;316;p33"/>
          <p:cNvSpPr/>
          <p:nvPr/>
        </p:nvSpPr>
        <p:spPr>
          <a:xfrm>
            <a:off x="5638425" y="2892475"/>
            <a:ext cx="3565800" cy="669000"/>
          </a:xfrm>
          <a:prstGeom prst="chevron">
            <a:avLst>
              <a:gd fmla="val 50000" name="adj"/>
            </a:avLst>
          </a:prstGeom>
          <a:solidFill>
            <a:srgbClr val="3D85C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FFFFFF"/>
                </a:solidFill>
                <a:latin typeface="Roboto"/>
                <a:ea typeface="Roboto"/>
                <a:cs typeface="Roboto"/>
                <a:sym typeface="Roboto"/>
              </a:rPr>
              <a:t>Escalabilidad</a:t>
            </a:r>
            <a:endParaRPr b="1" sz="1300">
              <a:solidFill>
                <a:srgbClr val="FFFFFF"/>
              </a:solidFill>
              <a:latin typeface="Roboto"/>
              <a:ea typeface="Roboto"/>
              <a:cs typeface="Roboto"/>
              <a:sym typeface="Roboto"/>
            </a:endParaRPr>
          </a:p>
        </p:txBody>
      </p:sp>
      <p:grpSp>
        <p:nvGrpSpPr>
          <p:cNvPr id="317" name="Google Shape;317;p33"/>
          <p:cNvGrpSpPr/>
          <p:nvPr/>
        </p:nvGrpSpPr>
        <p:grpSpPr>
          <a:xfrm>
            <a:off x="0" y="2892575"/>
            <a:ext cx="3565954" cy="3482825"/>
            <a:chOff x="0" y="1189994"/>
            <a:chExt cx="4841100" cy="3482825"/>
          </a:xfrm>
        </p:grpSpPr>
        <p:sp>
          <p:nvSpPr>
            <p:cNvPr id="318" name="Google Shape;318;p33"/>
            <p:cNvSpPr/>
            <p:nvPr/>
          </p:nvSpPr>
          <p:spPr>
            <a:xfrm>
              <a:off x="0" y="1189994"/>
              <a:ext cx="4841100" cy="669000"/>
            </a:xfrm>
            <a:prstGeom prst="homePlate">
              <a:avLst>
                <a:gd fmla="val 50000" name="adj"/>
              </a:avLst>
            </a:prstGeom>
            <a:solidFill>
              <a:srgbClr val="073763"/>
            </a:solidFill>
            <a:ln>
              <a:noFill/>
            </a:ln>
          </p:spPr>
          <p:txBody>
            <a:bodyPr anchorCtr="0" anchor="ctr" bIns="91425" lIns="91425" spcFirstLastPara="1" rIns="91425" wrap="square" tIns="91425">
              <a:noAutofit/>
            </a:bodyPr>
            <a:lstStyle/>
            <a:p>
              <a:pPr indent="0" lvl="0" marL="0" rtl="0" algn="ctr">
                <a:lnSpc>
                  <a:spcPct val="115000"/>
                </a:lnSpc>
                <a:spcBef>
                  <a:spcPts val="1200"/>
                </a:spcBef>
                <a:spcAft>
                  <a:spcPts val="1200"/>
                </a:spcAft>
                <a:buNone/>
              </a:pPr>
              <a:r>
                <a:rPr b="1" lang="en-US" sz="1300">
                  <a:solidFill>
                    <a:srgbClr val="FFFFFF"/>
                  </a:solidFill>
                  <a:latin typeface="Roboto"/>
                  <a:ea typeface="Roboto"/>
                  <a:cs typeface="Roboto"/>
                  <a:sym typeface="Roboto"/>
                </a:rPr>
                <a:t>Fiabilidad</a:t>
              </a:r>
              <a:endParaRPr b="1" sz="1300">
                <a:solidFill>
                  <a:srgbClr val="FFFFFF"/>
                </a:solidFill>
                <a:latin typeface="Roboto"/>
                <a:ea typeface="Roboto"/>
                <a:cs typeface="Roboto"/>
                <a:sym typeface="Roboto"/>
              </a:endParaRPr>
            </a:p>
          </p:txBody>
        </p:sp>
        <p:sp>
          <p:nvSpPr>
            <p:cNvPr id="319" name="Google Shape;319;p33"/>
            <p:cNvSpPr txBox="1"/>
            <p:nvPr/>
          </p:nvSpPr>
          <p:spPr>
            <a:xfrm>
              <a:off x="412878" y="2057119"/>
              <a:ext cx="33450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050">
                  <a:solidFill>
                    <a:schemeClr val="dk1"/>
                  </a:solidFill>
                  <a:highlight>
                    <a:schemeClr val="lt1"/>
                  </a:highlight>
                  <a:latin typeface="Roboto"/>
                  <a:ea typeface="Roboto"/>
                  <a:cs typeface="Roboto"/>
                  <a:sym typeface="Roboto"/>
                </a:rPr>
                <a:t>Construir un sistema robusto: </a:t>
              </a:r>
              <a:r>
                <a:rPr b="1" lang="en-US" sz="1050">
                  <a:solidFill>
                    <a:schemeClr val="dk1"/>
                  </a:solidFill>
                  <a:highlight>
                    <a:schemeClr val="lt1"/>
                  </a:highlight>
                  <a:latin typeface="Roboto"/>
                  <a:ea typeface="Roboto"/>
                  <a:cs typeface="Roboto"/>
                  <a:sym typeface="Roboto"/>
                </a:rPr>
                <a:t>Rechazo del 100% de archivos CSV malformados</a:t>
              </a:r>
              <a:r>
                <a:rPr lang="en-US" sz="1050">
                  <a:solidFill>
                    <a:schemeClr val="dk1"/>
                  </a:solidFill>
                  <a:highlight>
                    <a:schemeClr val="lt1"/>
                  </a:highlight>
                  <a:latin typeface="Roboto"/>
                  <a:ea typeface="Roboto"/>
                  <a:cs typeface="Roboto"/>
                  <a:sym typeface="Roboto"/>
                </a:rPr>
                <a:t> durante la carga, con notificaciones de error claras y sin corrupción de datos.</a:t>
              </a:r>
              <a:endParaRPr b="1" sz="1050">
                <a:solidFill>
                  <a:schemeClr val="dk1"/>
                </a:solidFill>
                <a:highlight>
                  <a:schemeClr val="lt1"/>
                </a:highlight>
                <a:latin typeface="Roboto"/>
                <a:ea typeface="Roboto"/>
                <a:cs typeface="Roboto"/>
                <a:sym typeface="Roboto"/>
              </a:endParaRPr>
            </a:p>
          </p:txBody>
        </p:sp>
      </p:grpSp>
      <p:sp>
        <p:nvSpPr>
          <p:cNvPr id="320" name="Google Shape;320;p33"/>
          <p:cNvSpPr/>
          <p:nvPr/>
        </p:nvSpPr>
        <p:spPr>
          <a:xfrm>
            <a:off x="2768050" y="2892475"/>
            <a:ext cx="3440400" cy="669000"/>
          </a:xfrm>
          <a:prstGeom prst="chevron">
            <a:avLst>
              <a:gd fmla="val 50000" name="adj"/>
            </a:avLst>
          </a:prstGeom>
          <a:solidFill>
            <a:srgbClr val="0B539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FFFFFF"/>
                </a:solidFill>
                <a:latin typeface="Roboto"/>
                <a:ea typeface="Roboto"/>
                <a:cs typeface="Roboto"/>
                <a:sym typeface="Roboto"/>
              </a:rPr>
              <a:t>Compatibilidad</a:t>
            </a:r>
            <a:endParaRPr b="1" sz="1300">
              <a:solidFill>
                <a:srgbClr val="FFFFFF"/>
              </a:solidFill>
              <a:latin typeface="Roboto"/>
              <a:ea typeface="Roboto"/>
              <a:cs typeface="Roboto"/>
              <a:sym typeface="Roboto"/>
            </a:endParaRPr>
          </a:p>
        </p:txBody>
      </p:sp>
      <p:sp>
        <p:nvSpPr>
          <p:cNvPr id="321" name="Google Shape;321;p33"/>
          <p:cNvSpPr txBox="1"/>
          <p:nvPr/>
        </p:nvSpPr>
        <p:spPr>
          <a:xfrm>
            <a:off x="3256301" y="3759700"/>
            <a:ext cx="24639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050">
                <a:solidFill>
                  <a:schemeClr val="dk1"/>
                </a:solidFill>
                <a:highlight>
                  <a:schemeClr val="lt1"/>
                </a:highlight>
                <a:latin typeface="Roboto"/>
                <a:ea typeface="Roboto"/>
                <a:cs typeface="Roboto"/>
                <a:sym typeface="Roboto"/>
              </a:rPr>
              <a:t>Garantizar el acceso: 100% de funcionalidad en las últimas 2 versiones mayores de Chrome, Firefox y Edge para escritorio antes de la entrega.</a:t>
            </a:r>
            <a:endParaRPr sz="1050">
              <a:solidFill>
                <a:schemeClr val="dk1"/>
              </a:solidFill>
              <a:highlight>
                <a:schemeClr val="lt1"/>
              </a:highlight>
              <a:latin typeface="Roboto"/>
              <a:ea typeface="Roboto"/>
              <a:cs typeface="Roboto"/>
              <a:sym typeface="Roboto"/>
            </a:endParaRPr>
          </a:p>
        </p:txBody>
      </p:sp>
      <p:sp>
        <p:nvSpPr>
          <p:cNvPr id="322" name="Google Shape;322;p33"/>
          <p:cNvSpPr txBox="1"/>
          <p:nvPr/>
        </p:nvSpPr>
        <p:spPr>
          <a:xfrm>
            <a:off x="6189376" y="3759700"/>
            <a:ext cx="24639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050">
                <a:solidFill>
                  <a:schemeClr val="dk1"/>
                </a:solidFill>
                <a:highlight>
                  <a:schemeClr val="lt1"/>
                </a:highlight>
                <a:latin typeface="Roboto"/>
                <a:ea typeface="Roboto"/>
                <a:cs typeface="Roboto"/>
                <a:sym typeface="Roboto"/>
              </a:rPr>
              <a:t>Diseñar para el crecimiento: La arquitectura debe </a:t>
            </a:r>
            <a:r>
              <a:rPr b="1" lang="en-US" sz="1050">
                <a:solidFill>
                  <a:schemeClr val="dk1"/>
                </a:solidFill>
                <a:highlight>
                  <a:schemeClr val="lt1"/>
                </a:highlight>
                <a:latin typeface="Roboto"/>
                <a:ea typeface="Roboto"/>
                <a:cs typeface="Roboto"/>
                <a:sym typeface="Roboto"/>
              </a:rPr>
              <a:t>soportar 50 usuarios concurrentes</a:t>
            </a:r>
            <a:r>
              <a:rPr lang="en-US" sz="1050">
                <a:solidFill>
                  <a:schemeClr val="dk1"/>
                </a:solidFill>
                <a:highlight>
                  <a:schemeClr val="lt1"/>
                </a:highlight>
                <a:latin typeface="Roboto"/>
                <a:ea typeface="Roboto"/>
                <a:cs typeface="Roboto"/>
                <a:sym typeface="Roboto"/>
              </a:rPr>
              <a:t> y estar preparada para </a:t>
            </a:r>
            <a:r>
              <a:rPr b="1" lang="en-US" sz="1050">
                <a:solidFill>
                  <a:schemeClr val="dk1"/>
                </a:solidFill>
                <a:highlight>
                  <a:schemeClr val="lt1"/>
                </a:highlight>
                <a:latin typeface="Roboto"/>
                <a:ea typeface="Roboto"/>
                <a:cs typeface="Roboto"/>
                <a:sym typeface="Roboto"/>
              </a:rPr>
              <a:t>incorporar datos de múltiples plantas</a:t>
            </a:r>
            <a:r>
              <a:rPr lang="en-US" sz="1050">
                <a:solidFill>
                  <a:schemeClr val="dk1"/>
                </a:solidFill>
                <a:highlight>
                  <a:schemeClr val="lt1"/>
                </a:highlight>
                <a:latin typeface="Roboto"/>
                <a:ea typeface="Roboto"/>
                <a:cs typeface="Roboto"/>
                <a:sym typeface="Roboto"/>
              </a:rPr>
              <a:t> y sucursales sin requerir un rediseño fundamental.</a:t>
            </a:r>
            <a:endParaRPr sz="1050">
              <a:solidFill>
                <a:schemeClr val="dk1"/>
              </a:solidFill>
              <a:highlight>
                <a:schemeClr val="lt1"/>
              </a:highlight>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grpSp>
        <p:nvGrpSpPr>
          <p:cNvPr id="327" name="Google Shape;327;p34"/>
          <p:cNvGrpSpPr/>
          <p:nvPr/>
        </p:nvGrpSpPr>
        <p:grpSpPr>
          <a:xfrm>
            <a:off x="3978720" y="6840"/>
            <a:ext cx="5164200" cy="5143200"/>
            <a:chOff x="3978720" y="6840"/>
            <a:chExt cx="5164200" cy="5143200"/>
          </a:xfrm>
        </p:grpSpPr>
        <p:sp>
          <p:nvSpPr>
            <p:cNvPr id="328" name="Google Shape;328;p34"/>
            <p:cNvSpPr/>
            <p:nvPr/>
          </p:nvSpPr>
          <p:spPr>
            <a:xfrm flipH="1">
              <a:off x="3978720" y="6840"/>
              <a:ext cx="5164200" cy="51432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29" name="Google Shape;329;p34"/>
            <p:cNvSpPr/>
            <p:nvPr/>
          </p:nvSpPr>
          <p:spPr>
            <a:xfrm rot="-2699590">
              <a:off x="4520886" y="36474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30" name="Google Shape;330;p34"/>
            <p:cNvSpPr/>
            <p:nvPr/>
          </p:nvSpPr>
          <p:spPr>
            <a:xfrm rot="-2699590">
              <a:off x="7184166" y="22452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31" name="Google Shape;331;p34"/>
            <p:cNvSpPr/>
            <p:nvPr/>
          </p:nvSpPr>
          <p:spPr>
            <a:xfrm rot="-2699590">
              <a:off x="6716478" y="11666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32" name="Google Shape;332;p34"/>
            <p:cNvSpPr/>
            <p:nvPr/>
          </p:nvSpPr>
          <p:spPr>
            <a:xfrm rot="-2699590">
              <a:off x="5940318" y="35714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33" name="Google Shape;333;p34"/>
            <p:cNvSpPr/>
            <p:nvPr/>
          </p:nvSpPr>
          <p:spPr>
            <a:xfrm>
              <a:off x="6778080" y="2891160"/>
              <a:ext cx="1596300" cy="1596300"/>
            </a:xfrm>
            <a:prstGeom prst="ellipse">
              <a:avLst/>
            </a:prstGeom>
            <a:noFill/>
            <a:ln cap="flat" cmpd="sng" w="9525">
              <a:solidFill>
                <a:srgbClr val="F8F8F8"/>
              </a:solidFill>
              <a:prstDash val="lg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334" name="Google Shape;334;p34"/>
          <p:cNvSpPr txBox="1"/>
          <p:nvPr>
            <p:ph type="title"/>
          </p:nvPr>
        </p:nvSpPr>
        <p:spPr>
          <a:xfrm>
            <a:off x="733325" y="2121825"/>
            <a:ext cx="4749000" cy="551100"/>
          </a:xfrm>
          <a:prstGeom prst="rect">
            <a:avLst/>
          </a:prstGeom>
          <a:noFill/>
          <a:ln>
            <a:noFill/>
          </a:ln>
        </p:spPr>
        <p:txBody>
          <a:bodyPr anchorCtr="0" anchor="b"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100000"/>
              <a:buFont typeface="Archivo Black"/>
              <a:buNone/>
            </a:pPr>
            <a:r>
              <a:rPr b="1" lang="en-US" sz="3200">
                <a:solidFill>
                  <a:schemeClr val="dk1"/>
                </a:solidFill>
                <a:latin typeface="Roboto"/>
                <a:ea typeface="Roboto"/>
                <a:cs typeface="Roboto"/>
                <a:sym typeface="Roboto"/>
              </a:rPr>
              <a:t>Solución</a:t>
            </a:r>
            <a:endParaRPr b="1" sz="3200" u="none" strike="noStrike">
              <a:solidFill>
                <a:schemeClr val="dk1"/>
              </a:solidFill>
              <a:latin typeface="Roboto"/>
              <a:ea typeface="Roboto"/>
              <a:cs typeface="Roboto"/>
              <a:sym typeface="Roboto"/>
            </a:endParaRPr>
          </a:p>
        </p:txBody>
      </p:sp>
      <p:sp>
        <p:nvSpPr>
          <p:cNvPr id="335" name="Google Shape;335;p34"/>
          <p:cNvSpPr/>
          <p:nvPr/>
        </p:nvSpPr>
        <p:spPr>
          <a:xfrm>
            <a:off x="5397480" y="1055160"/>
            <a:ext cx="3033000" cy="3033000"/>
          </a:xfrm>
          <a:prstGeom prst="ellipse">
            <a:avLst/>
          </a:prstGeom>
          <a:blipFill rotWithShape="1">
            <a:blip r:embed="rId3">
              <a:alphaModFix/>
            </a:blip>
            <a:stretch>
              <a:fillRect b="0" l="0" r="0" t="0"/>
            </a:stretch>
          </a:blipFill>
          <a:ln cap="flat" cmpd="sng" w="38100">
            <a:solidFill>
              <a:srgbClr val="F8F8F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336" name="Google Shape;336;p34"/>
          <p:cNvGrpSpPr/>
          <p:nvPr/>
        </p:nvGrpSpPr>
        <p:grpSpPr>
          <a:xfrm>
            <a:off x="5405271" y="1044240"/>
            <a:ext cx="3160020" cy="3290700"/>
            <a:chOff x="5405271" y="1044240"/>
            <a:chExt cx="3160020" cy="3290700"/>
          </a:xfrm>
        </p:grpSpPr>
        <p:sp>
          <p:nvSpPr>
            <p:cNvPr id="337" name="Google Shape;337;p34"/>
            <p:cNvSpPr/>
            <p:nvPr/>
          </p:nvSpPr>
          <p:spPr>
            <a:xfrm rot="-2700000">
              <a:off x="7674867" y="13795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38" name="Google Shape;338;p34"/>
            <p:cNvSpPr/>
            <p:nvPr/>
          </p:nvSpPr>
          <p:spPr>
            <a:xfrm rot="-2700000">
              <a:off x="5299947" y="38851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339" name="Google Shape;339;p34"/>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340" name="Google Shape;340;p34"/>
          <p:cNvPicPr preferRelativeResize="0"/>
          <p:nvPr/>
        </p:nvPicPr>
        <p:blipFill>
          <a:blip r:embed="rId4">
            <a:alphaModFix/>
          </a:blip>
          <a:stretch>
            <a:fillRect/>
          </a:stretch>
        </p:blipFill>
        <p:spPr>
          <a:xfrm>
            <a:off x="2523400" y="1314488"/>
            <a:ext cx="2788534" cy="21657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5"/>
          <p:cNvSpPr/>
          <p:nvPr/>
        </p:nvSpPr>
        <p:spPr>
          <a:xfrm>
            <a:off x="831973" y="2762262"/>
            <a:ext cx="730500" cy="730500"/>
          </a:xfrm>
          <a:prstGeom prst="rtTriangle">
            <a:avLst/>
          </a:prstGeom>
          <a:solidFill>
            <a:srgbClr val="0E63F0"/>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sp>
        <p:nvSpPr>
          <p:cNvPr id="346" name="Google Shape;346;p35"/>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347" name="Google Shape;347;p35"/>
          <p:cNvSpPr txBox="1"/>
          <p:nvPr>
            <p:ph type="title"/>
          </p:nvPr>
        </p:nvSpPr>
        <p:spPr>
          <a:xfrm>
            <a:off x="56850" y="94950"/>
            <a:ext cx="7636200" cy="12819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SOLUCIÓN: </a:t>
            </a:r>
            <a:endParaRPr b="1" sz="3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Inteligencia Operacional Cambiaso (IOC)</a:t>
            </a:r>
            <a:endParaRPr b="1" sz="3200" u="none" strike="noStrike">
              <a:solidFill>
                <a:schemeClr val="dk1"/>
              </a:solidFill>
              <a:latin typeface="Roboto"/>
              <a:ea typeface="Roboto"/>
              <a:cs typeface="Roboto"/>
              <a:sym typeface="Roboto"/>
            </a:endParaRPr>
          </a:p>
        </p:txBody>
      </p:sp>
      <p:sp>
        <p:nvSpPr>
          <p:cNvPr id="348" name="Google Shape;348;p35"/>
          <p:cNvSpPr/>
          <p:nvPr/>
        </p:nvSpPr>
        <p:spPr>
          <a:xfrm>
            <a:off x="2647375" y="1683075"/>
            <a:ext cx="5270100" cy="325200"/>
          </a:xfrm>
          <a:prstGeom prst="rect">
            <a:avLst/>
          </a:prstGeom>
          <a:solidFill>
            <a:srgbClr val="073763"/>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ctr">
              <a:lnSpc>
                <a:spcPct val="115000"/>
              </a:lnSpc>
              <a:spcBef>
                <a:spcPts val="0"/>
              </a:spcBef>
              <a:spcAft>
                <a:spcPts val="0"/>
              </a:spcAft>
              <a:buNone/>
            </a:pPr>
            <a:r>
              <a:rPr lang="en-US" sz="1600">
                <a:solidFill>
                  <a:srgbClr val="FFFFFF"/>
                </a:solidFill>
                <a:latin typeface="Roboto"/>
                <a:ea typeface="Roboto"/>
                <a:cs typeface="Roboto"/>
                <a:sym typeface="Roboto"/>
              </a:rPr>
              <a:t>Descripción de la Capacidad</a:t>
            </a:r>
            <a:endParaRPr sz="1600">
              <a:solidFill>
                <a:srgbClr val="FFFFFF"/>
              </a:solidFill>
              <a:latin typeface="Roboto"/>
              <a:ea typeface="Roboto"/>
              <a:cs typeface="Roboto"/>
              <a:sym typeface="Roboto"/>
            </a:endParaRPr>
          </a:p>
        </p:txBody>
      </p:sp>
      <p:sp>
        <p:nvSpPr>
          <p:cNvPr id="349" name="Google Shape;349;p35"/>
          <p:cNvSpPr/>
          <p:nvPr/>
        </p:nvSpPr>
        <p:spPr>
          <a:xfrm>
            <a:off x="55826" y="1683076"/>
            <a:ext cx="2578800" cy="325200"/>
          </a:xfrm>
          <a:prstGeom prst="rect">
            <a:avLst/>
          </a:prstGeom>
          <a:solidFill>
            <a:srgbClr val="073763"/>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ctr">
              <a:spcBef>
                <a:spcPts val="0"/>
              </a:spcBef>
              <a:spcAft>
                <a:spcPts val="0"/>
              </a:spcAft>
              <a:buNone/>
            </a:pPr>
            <a:r>
              <a:rPr lang="en-US" sz="1616">
                <a:solidFill>
                  <a:schemeClr val="lt1"/>
                </a:solidFill>
                <a:latin typeface="Roboto"/>
                <a:ea typeface="Roboto"/>
                <a:cs typeface="Roboto"/>
                <a:sym typeface="Roboto"/>
              </a:rPr>
              <a:t>Pilar </a:t>
            </a:r>
            <a:endParaRPr sz="1616">
              <a:solidFill>
                <a:schemeClr val="lt1"/>
              </a:solidFill>
              <a:latin typeface="Roboto"/>
              <a:ea typeface="Roboto"/>
              <a:cs typeface="Roboto"/>
              <a:sym typeface="Roboto"/>
            </a:endParaRPr>
          </a:p>
        </p:txBody>
      </p:sp>
      <p:grpSp>
        <p:nvGrpSpPr>
          <p:cNvPr id="350" name="Google Shape;350;p35"/>
          <p:cNvGrpSpPr/>
          <p:nvPr/>
        </p:nvGrpSpPr>
        <p:grpSpPr>
          <a:xfrm>
            <a:off x="56831" y="2762255"/>
            <a:ext cx="7860586" cy="730497"/>
            <a:chOff x="943723" y="3783775"/>
            <a:chExt cx="7257489" cy="674450"/>
          </a:xfrm>
        </p:grpSpPr>
        <p:sp>
          <p:nvSpPr>
            <p:cNvPr id="351" name="Google Shape;351;p35"/>
            <p:cNvSpPr/>
            <p:nvPr/>
          </p:nvSpPr>
          <p:spPr>
            <a:xfrm>
              <a:off x="5373412" y="3783788"/>
              <a:ext cx="2827800" cy="674400"/>
            </a:xfrm>
            <a:prstGeom prst="rect">
              <a:avLst/>
            </a:prstGeom>
            <a:solidFill>
              <a:srgbClr val="073763"/>
            </a:solidFill>
            <a:ln>
              <a:noFill/>
            </a:ln>
            <a:effectLst>
              <a:outerShdw blurRad="61900" rotWithShape="0" algn="bl" dir="5400000" dist="20633">
                <a:srgbClr val="000000">
                  <a:alpha val="50000"/>
                </a:srgbClr>
              </a:outerShdw>
            </a:effectLst>
          </p:spPr>
          <p:txBody>
            <a:bodyPr anchorCtr="0" anchor="t" bIns="99025" lIns="99025" spcFirstLastPara="1" rIns="99025" wrap="square" tIns="99025">
              <a:noAutofit/>
            </a:bodyPr>
            <a:lstStyle/>
            <a:p>
              <a:pPr indent="0" lvl="0" marL="0" rtl="0" algn="l">
                <a:lnSpc>
                  <a:spcPct val="115000"/>
                </a:lnSpc>
                <a:spcBef>
                  <a:spcPts val="0"/>
                </a:spcBef>
                <a:spcAft>
                  <a:spcPts val="0"/>
                </a:spcAft>
                <a:buNone/>
              </a:pPr>
              <a:r>
                <a:rPr lang="en-US" sz="866">
                  <a:solidFill>
                    <a:srgbClr val="FFFFFF"/>
                  </a:solidFill>
                  <a:latin typeface="Roboto"/>
                  <a:ea typeface="Roboto"/>
                  <a:cs typeface="Roboto"/>
                  <a:sym typeface="Roboto"/>
                </a:rPr>
                <a:t>con dashboards interactivos y personalizables que presentan los KPIs (Indicadores Clave de Rendimiento) de forma gráfica e intuitiva, permitiendo un análisis dinámico y profundo.</a:t>
              </a:r>
              <a:endParaRPr sz="866">
                <a:solidFill>
                  <a:srgbClr val="FFFFFF"/>
                </a:solidFill>
                <a:latin typeface="Roboto"/>
                <a:ea typeface="Roboto"/>
                <a:cs typeface="Roboto"/>
                <a:sym typeface="Roboto"/>
              </a:endParaRPr>
            </a:p>
          </p:txBody>
        </p:sp>
        <p:sp>
          <p:nvSpPr>
            <p:cNvPr id="352" name="Google Shape;352;p35"/>
            <p:cNvSpPr/>
            <p:nvPr/>
          </p:nvSpPr>
          <p:spPr>
            <a:xfrm>
              <a:off x="943723" y="3783775"/>
              <a:ext cx="2379900" cy="674400"/>
            </a:xfrm>
            <a:prstGeom prst="rect">
              <a:avLst/>
            </a:prstGeom>
            <a:solidFill>
              <a:srgbClr val="073763"/>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sp>
          <p:nvSpPr>
            <p:cNvPr id="353" name="Google Shape;353;p35"/>
            <p:cNvSpPr/>
            <p:nvPr/>
          </p:nvSpPr>
          <p:spPr>
            <a:xfrm>
              <a:off x="943723" y="3783788"/>
              <a:ext cx="687600" cy="674400"/>
            </a:xfrm>
            <a:prstGeom prst="rtTriangle">
              <a:avLst/>
            </a:prstGeom>
            <a:solidFill>
              <a:srgbClr val="1C4587"/>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sp>
          <p:nvSpPr>
            <p:cNvPr id="354" name="Google Shape;354;p35"/>
            <p:cNvSpPr/>
            <p:nvPr/>
          </p:nvSpPr>
          <p:spPr>
            <a:xfrm>
              <a:off x="3335474" y="3783775"/>
              <a:ext cx="2025900" cy="674400"/>
            </a:xfrm>
            <a:prstGeom prst="rect">
              <a:avLst/>
            </a:prstGeom>
            <a:solidFill>
              <a:srgbClr val="073763"/>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sp>
          <p:nvSpPr>
            <p:cNvPr id="355" name="Google Shape;355;p35"/>
            <p:cNvSpPr/>
            <p:nvPr/>
          </p:nvSpPr>
          <p:spPr>
            <a:xfrm>
              <a:off x="1210848" y="3783832"/>
              <a:ext cx="425700" cy="409200"/>
            </a:xfrm>
            <a:prstGeom prst="rect">
              <a:avLst/>
            </a:prstGeom>
            <a:solidFill>
              <a:srgbClr val="073763"/>
            </a:solidFill>
            <a:ln>
              <a:noFill/>
            </a:ln>
          </p:spPr>
          <p:txBody>
            <a:bodyPr anchorCtr="0" anchor="b" bIns="99025" lIns="99025" spcFirstLastPara="1" rIns="99025" wrap="square" tIns="99025">
              <a:noAutofit/>
            </a:bodyPr>
            <a:lstStyle/>
            <a:p>
              <a:pPr indent="0" lvl="0" marL="0" rtl="0" algn="ctr">
                <a:spcBef>
                  <a:spcPts val="0"/>
                </a:spcBef>
                <a:spcAft>
                  <a:spcPts val="0"/>
                </a:spcAft>
                <a:buNone/>
              </a:pPr>
              <a:r>
                <a:rPr lang="en-US" sz="1732">
                  <a:solidFill>
                    <a:srgbClr val="FFFFFF"/>
                  </a:solidFill>
                  <a:latin typeface="Roboto"/>
                  <a:ea typeface="Roboto"/>
                  <a:cs typeface="Roboto"/>
                  <a:sym typeface="Roboto"/>
                </a:rPr>
                <a:t>2</a:t>
              </a:r>
              <a:endParaRPr sz="1732">
                <a:solidFill>
                  <a:srgbClr val="FFFFFF"/>
                </a:solidFill>
                <a:latin typeface="Roboto"/>
                <a:ea typeface="Roboto"/>
                <a:cs typeface="Roboto"/>
                <a:sym typeface="Roboto"/>
              </a:endParaRPr>
            </a:p>
          </p:txBody>
        </p:sp>
        <p:sp>
          <p:nvSpPr>
            <p:cNvPr id="356" name="Google Shape;356;p35"/>
            <p:cNvSpPr/>
            <p:nvPr/>
          </p:nvSpPr>
          <p:spPr>
            <a:xfrm>
              <a:off x="1704725" y="3783825"/>
              <a:ext cx="1488600" cy="674400"/>
            </a:xfrm>
            <a:prstGeom prst="rect">
              <a:avLst/>
            </a:prstGeom>
            <a:solidFill>
              <a:srgbClr val="073763"/>
            </a:solidFill>
            <a:ln>
              <a:noFill/>
            </a:ln>
          </p:spPr>
          <p:txBody>
            <a:bodyPr anchorCtr="0" anchor="t" bIns="99025" lIns="99025" spcFirstLastPara="1" rIns="99025" wrap="square" tIns="99025">
              <a:noAutofit/>
            </a:bodyPr>
            <a:lstStyle/>
            <a:p>
              <a:pPr indent="0" lvl="0" marL="0" rtl="0" algn="l">
                <a:spcBef>
                  <a:spcPts val="0"/>
                </a:spcBef>
                <a:spcAft>
                  <a:spcPts val="0"/>
                </a:spcAft>
                <a:buNone/>
              </a:pPr>
              <a:r>
                <a:rPr b="1" lang="en-US" sz="1299">
                  <a:solidFill>
                    <a:srgbClr val="FFFFFF"/>
                  </a:solidFill>
                  <a:latin typeface="Roboto"/>
                  <a:ea typeface="Roboto"/>
                  <a:cs typeface="Roboto"/>
                  <a:sym typeface="Roboto"/>
                </a:rPr>
                <a:t>VISUALIZACIÓN</a:t>
              </a:r>
              <a:endParaRPr b="1" sz="1299">
                <a:solidFill>
                  <a:srgbClr val="FFFFFF"/>
                </a:solidFill>
                <a:latin typeface="Roboto"/>
                <a:ea typeface="Roboto"/>
                <a:cs typeface="Roboto"/>
                <a:sym typeface="Roboto"/>
              </a:endParaRPr>
            </a:p>
          </p:txBody>
        </p:sp>
      </p:grpSp>
      <p:grpSp>
        <p:nvGrpSpPr>
          <p:cNvPr id="357" name="Google Shape;357;p35"/>
          <p:cNvGrpSpPr/>
          <p:nvPr/>
        </p:nvGrpSpPr>
        <p:grpSpPr>
          <a:xfrm>
            <a:off x="56831" y="3504477"/>
            <a:ext cx="7860586" cy="730497"/>
            <a:chOff x="943723" y="4469050"/>
            <a:chExt cx="7257489" cy="674450"/>
          </a:xfrm>
        </p:grpSpPr>
        <p:sp>
          <p:nvSpPr>
            <p:cNvPr id="358" name="Google Shape;358;p35"/>
            <p:cNvSpPr/>
            <p:nvPr/>
          </p:nvSpPr>
          <p:spPr>
            <a:xfrm>
              <a:off x="5373412" y="4469063"/>
              <a:ext cx="2827800" cy="674400"/>
            </a:xfrm>
            <a:prstGeom prst="rect">
              <a:avLst/>
            </a:prstGeom>
            <a:solidFill>
              <a:srgbClr val="073763"/>
            </a:solidFill>
            <a:ln>
              <a:noFill/>
            </a:ln>
            <a:effectLst>
              <a:outerShdw blurRad="61900" rotWithShape="0" algn="bl" dir="5400000" dist="20633">
                <a:srgbClr val="000000">
                  <a:alpha val="50000"/>
                </a:srgbClr>
              </a:outerShdw>
            </a:effectLst>
          </p:spPr>
          <p:txBody>
            <a:bodyPr anchorCtr="0" anchor="t" bIns="99025" lIns="99025" spcFirstLastPara="1" rIns="99025" wrap="square" tIns="99025">
              <a:noAutofit/>
            </a:bodyPr>
            <a:lstStyle/>
            <a:p>
              <a:pPr indent="0" lvl="0" marL="0" rtl="0" algn="l">
                <a:lnSpc>
                  <a:spcPct val="115000"/>
                </a:lnSpc>
                <a:spcBef>
                  <a:spcPts val="0"/>
                </a:spcBef>
                <a:spcAft>
                  <a:spcPts val="0"/>
                </a:spcAft>
                <a:buNone/>
              </a:pPr>
              <a:r>
                <a:rPr lang="en-US" sz="866">
                  <a:solidFill>
                    <a:srgbClr val="FFFFFF"/>
                  </a:solidFill>
                  <a:latin typeface="Roboto"/>
                  <a:ea typeface="Roboto"/>
                  <a:cs typeface="Roboto"/>
                  <a:sym typeface="Roboto"/>
                </a:rPr>
                <a:t>para la toma de decisiones ágil y basada en evidencia, reemplazando los reportes manuales y la latencia de información con acceso instantáneo a una visión operativa actualizada</a:t>
              </a:r>
              <a:endParaRPr sz="866">
                <a:solidFill>
                  <a:srgbClr val="FFFFFF"/>
                </a:solidFill>
                <a:latin typeface="Roboto"/>
                <a:ea typeface="Roboto"/>
                <a:cs typeface="Roboto"/>
                <a:sym typeface="Roboto"/>
              </a:endParaRPr>
            </a:p>
          </p:txBody>
        </p:sp>
        <p:sp>
          <p:nvSpPr>
            <p:cNvPr id="359" name="Google Shape;359;p35"/>
            <p:cNvSpPr/>
            <p:nvPr/>
          </p:nvSpPr>
          <p:spPr>
            <a:xfrm>
              <a:off x="943723" y="4469050"/>
              <a:ext cx="2379900" cy="674400"/>
            </a:xfrm>
            <a:prstGeom prst="rect">
              <a:avLst/>
            </a:prstGeom>
            <a:solidFill>
              <a:srgbClr val="073763"/>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sp>
          <p:nvSpPr>
            <p:cNvPr id="360" name="Google Shape;360;p35"/>
            <p:cNvSpPr/>
            <p:nvPr/>
          </p:nvSpPr>
          <p:spPr>
            <a:xfrm>
              <a:off x="943723" y="4469063"/>
              <a:ext cx="687600" cy="674400"/>
            </a:xfrm>
            <a:prstGeom prst="rtTriangle">
              <a:avLst/>
            </a:prstGeom>
            <a:solidFill>
              <a:srgbClr val="307AF3"/>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sp>
          <p:nvSpPr>
            <p:cNvPr id="361" name="Google Shape;361;p35"/>
            <p:cNvSpPr/>
            <p:nvPr/>
          </p:nvSpPr>
          <p:spPr>
            <a:xfrm>
              <a:off x="3335463" y="4469063"/>
              <a:ext cx="1007100" cy="674400"/>
            </a:xfrm>
            <a:prstGeom prst="rect">
              <a:avLst/>
            </a:prstGeom>
            <a:solidFill>
              <a:srgbClr val="0C57D3"/>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sp>
          <p:nvSpPr>
            <p:cNvPr id="362" name="Google Shape;362;p35"/>
            <p:cNvSpPr/>
            <p:nvPr/>
          </p:nvSpPr>
          <p:spPr>
            <a:xfrm>
              <a:off x="4354429" y="4469063"/>
              <a:ext cx="1007100" cy="674400"/>
            </a:xfrm>
            <a:prstGeom prst="rect">
              <a:avLst/>
            </a:prstGeom>
            <a:solidFill>
              <a:srgbClr val="0C57D3"/>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sp>
          <p:nvSpPr>
            <p:cNvPr id="363" name="Google Shape;363;p35"/>
            <p:cNvSpPr/>
            <p:nvPr/>
          </p:nvSpPr>
          <p:spPr>
            <a:xfrm>
              <a:off x="1210848" y="4469107"/>
              <a:ext cx="425700" cy="409200"/>
            </a:xfrm>
            <a:prstGeom prst="rect">
              <a:avLst/>
            </a:prstGeom>
            <a:noFill/>
            <a:ln>
              <a:noFill/>
            </a:ln>
            <a:effectLst>
              <a:outerShdw blurRad="61900" rotWithShape="0" algn="bl" dir="5400000" dist="20633">
                <a:srgbClr val="000000">
                  <a:alpha val="50000"/>
                </a:srgbClr>
              </a:outerShdw>
            </a:effectLst>
          </p:spPr>
          <p:txBody>
            <a:bodyPr anchorCtr="0" anchor="b" bIns="99025" lIns="99025" spcFirstLastPara="1" rIns="99025" wrap="square" tIns="99025">
              <a:noAutofit/>
            </a:bodyPr>
            <a:lstStyle/>
            <a:p>
              <a:pPr indent="0" lvl="0" marL="0" rtl="0" algn="ctr">
                <a:spcBef>
                  <a:spcPts val="0"/>
                </a:spcBef>
                <a:spcAft>
                  <a:spcPts val="0"/>
                </a:spcAft>
                <a:buNone/>
              </a:pPr>
              <a:r>
                <a:rPr lang="en-US" sz="1732">
                  <a:solidFill>
                    <a:srgbClr val="FFFFFF"/>
                  </a:solidFill>
                  <a:latin typeface="Roboto"/>
                  <a:ea typeface="Roboto"/>
                  <a:cs typeface="Roboto"/>
                  <a:sym typeface="Roboto"/>
                </a:rPr>
                <a:t>3</a:t>
              </a:r>
              <a:endParaRPr sz="1732">
                <a:solidFill>
                  <a:srgbClr val="FFFFFF"/>
                </a:solidFill>
                <a:latin typeface="Roboto"/>
                <a:ea typeface="Roboto"/>
                <a:cs typeface="Roboto"/>
                <a:sym typeface="Roboto"/>
              </a:endParaRPr>
            </a:p>
          </p:txBody>
        </p:sp>
        <p:sp>
          <p:nvSpPr>
            <p:cNvPr id="364" name="Google Shape;364;p35"/>
            <p:cNvSpPr/>
            <p:nvPr/>
          </p:nvSpPr>
          <p:spPr>
            <a:xfrm rot="-2700000">
              <a:off x="4705031" y="4706942"/>
              <a:ext cx="305894" cy="116673"/>
            </a:xfrm>
            <a:prstGeom prst="corner">
              <a:avLst>
                <a:gd fmla="val 18804" name="adj1"/>
                <a:gd fmla="val 18145" name="adj2"/>
              </a:avLst>
            </a:prstGeom>
            <a:solidFill>
              <a:srgbClr val="FFFFFF"/>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sp>
          <p:nvSpPr>
            <p:cNvPr id="365" name="Google Shape;365;p35"/>
            <p:cNvSpPr/>
            <p:nvPr/>
          </p:nvSpPr>
          <p:spPr>
            <a:xfrm>
              <a:off x="3633813" y="4601063"/>
              <a:ext cx="410400" cy="410400"/>
            </a:xfrm>
            <a:prstGeom prst="mathMultiply">
              <a:avLst>
                <a:gd fmla="val 5080" name="adj1"/>
              </a:avLst>
            </a:prstGeom>
            <a:solidFill>
              <a:srgbClr val="FFFFFF"/>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sp>
          <p:nvSpPr>
            <p:cNvPr id="366" name="Google Shape;366;p35"/>
            <p:cNvSpPr/>
            <p:nvPr/>
          </p:nvSpPr>
          <p:spPr>
            <a:xfrm>
              <a:off x="1704725" y="4469100"/>
              <a:ext cx="1488600" cy="674400"/>
            </a:xfrm>
            <a:prstGeom prst="rect">
              <a:avLst/>
            </a:prstGeom>
            <a:noFill/>
            <a:ln>
              <a:noFill/>
            </a:ln>
            <a:effectLst>
              <a:outerShdw blurRad="61900" rotWithShape="0" algn="bl" dir="5400000" dist="20633">
                <a:srgbClr val="000000">
                  <a:alpha val="50000"/>
                </a:srgbClr>
              </a:outerShdw>
            </a:effectLst>
          </p:spPr>
          <p:txBody>
            <a:bodyPr anchorCtr="0" anchor="t" bIns="99025" lIns="99025" spcFirstLastPara="1" rIns="99025" wrap="square" tIns="99025">
              <a:noAutofit/>
            </a:bodyPr>
            <a:lstStyle/>
            <a:p>
              <a:pPr indent="0" lvl="0" marL="0" rtl="0" algn="l">
                <a:spcBef>
                  <a:spcPts val="0"/>
                </a:spcBef>
                <a:spcAft>
                  <a:spcPts val="0"/>
                </a:spcAft>
                <a:buNone/>
              </a:pPr>
              <a:r>
                <a:rPr b="1" lang="en-US" sz="1299">
                  <a:solidFill>
                    <a:srgbClr val="FFFFFF"/>
                  </a:solidFill>
                  <a:latin typeface="Roboto"/>
                  <a:ea typeface="Roboto"/>
                  <a:cs typeface="Roboto"/>
                  <a:sym typeface="Roboto"/>
                </a:rPr>
                <a:t>DECISIÓN</a:t>
              </a:r>
              <a:endParaRPr b="1" sz="1299">
                <a:solidFill>
                  <a:srgbClr val="FFFFFF"/>
                </a:solidFill>
                <a:latin typeface="Roboto"/>
                <a:ea typeface="Roboto"/>
                <a:cs typeface="Roboto"/>
                <a:sym typeface="Roboto"/>
              </a:endParaRPr>
            </a:p>
          </p:txBody>
        </p:sp>
      </p:grpSp>
      <p:sp>
        <p:nvSpPr>
          <p:cNvPr id="367" name="Google Shape;367;p35"/>
          <p:cNvSpPr txBox="1"/>
          <p:nvPr/>
        </p:nvSpPr>
        <p:spPr>
          <a:xfrm>
            <a:off x="2647375" y="2762373"/>
            <a:ext cx="2194200" cy="600300"/>
          </a:xfrm>
          <a:prstGeom prst="rect">
            <a:avLst/>
          </a:prstGeom>
          <a:solidFill>
            <a:srgbClr val="073763"/>
          </a:solidFill>
          <a:ln>
            <a:noFill/>
          </a:ln>
        </p:spPr>
        <p:txBody>
          <a:bodyPr anchorCtr="0" anchor="t" bIns="99025" lIns="99025" spcFirstLastPara="1" rIns="99025" wrap="square" tIns="99025">
            <a:spAutoFit/>
          </a:bodyPr>
          <a:lstStyle/>
          <a:p>
            <a:pPr indent="0" lvl="0" marL="0" rtl="0" algn="l">
              <a:spcBef>
                <a:spcPts val="0"/>
              </a:spcBef>
              <a:spcAft>
                <a:spcPts val="0"/>
              </a:spcAft>
              <a:buNone/>
            </a:pPr>
            <a:r>
              <a:rPr lang="en-US" sz="1299">
                <a:solidFill>
                  <a:schemeClr val="lt1"/>
                </a:solidFill>
                <a:latin typeface="Roboto"/>
                <a:ea typeface="Roboto"/>
                <a:cs typeface="Roboto"/>
                <a:sym typeface="Roboto"/>
              </a:rPr>
              <a:t>Desarrollamos una</a:t>
            </a:r>
            <a:r>
              <a:rPr lang="en-US" sz="1299">
                <a:solidFill>
                  <a:schemeClr val="lt1"/>
                </a:solidFill>
                <a:latin typeface="Roboto"/>
                <a:ea typeface="Roboto"/>
                <a:cs typeface="Roboto"/>
                <a:sym typeface="Roboto"/>
              </a:rPr>
              <a:t> </a:t>
            </a:r>
            <a:r>
              <a:rPr lang="en-US" sz="1299">
                <a:solidFill>
                  <a:schemeClr val="lt1"/>
                </a:solidFill>
                <a:latin typeface="Roboto"/>
                <a:ea typeface="Roboto"/>
                <a:cs typeface="Roboto"/>
                <a:sym typeface="Roboto"/>
              </a:rPr>
              <a:t>plataforma web</a:t>
            </a:r>
            <a:endParaRPr sz="1299">
              <a:latin typeface="Roboto"/>
              <a:ea typeface="Roboto"/>
              <a:cs typeface="Roboto"/>
              <a:sym typeface="Roboto"/>
            </a:endParaRPr>
          </a:p>
        </p:txBody>
      </p:sp>
      <p:sp>
        <p:nvSpPr>
          <p:cNvPr id="368" name="Google Shape;368;p35"/>
          <p:cNvSpPr/>
          <p:nvPr/>
        </p:nvSpPr>
        <p:spPr>
          <a:xfrm>
            <a:off x="2647381" y="3504506"/>
            <a:ext cx="2194200" cy="730500"/>
          </a:xfrm>
          <a:prstGeom prst="rect">
            <a:avLst/>
          </a:prstGeom>
          <a:solidFill>
            <a:srgbClr val="073763"/>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rPr lang="en-US" sz="1299">
                <a:solidFill>
                  <a:schemeClr val="lt1"/>
                </a:solidFill>
              </a:rPr>
              <a:t>Entregaremos a la gerencia una herramienta segura </a:t>
            </a:r>
            <a:endParaRPr sz="1299">
              <a:solidFill>
                <a:schemeClr val="lt1"/>
              </a:solidFill>
            </a:endParaRPr>
          </a:p>
        </p:txBody>
      </p:sp>
      <p:grpSp>
        <p:nvGrpSpPr>
          <p:cNvPr id="369" name="Google Shape;369;p35"/>
          <p:cNvGrpSpPr/>
          <p:nvPr/>
        </p:nvGrpSpPr>
        <p:grpSpPr>
          <a:xfrm>
            <a:off x="7952743" y="2020088"/>
            <a:ext cx="795810" cy="730443"/>
            <a:chOff x="4354411" y="3098513"/>
            <a:chExt cx="1007100" cy="674400"/>
          </a:xfrm>
        </p:grpSpPr>
        <p:sp>
          <p:nvSpPr>
            <p:cNvPr id="370" name="Google Shape;370;p35"/>
            <p:cNvSpPr/>
            <p:nvPr/>
          </p:nvSpPr>
          <p:spPr>
            <a:xfrm>
              <a:off x="4354411" y="3098513"/>
              <a:ext cx="1007100" cy="674400"/>
            </a:xfrm>
            <a:prstGeom prst="rect">
              <a:avLst/>
            </a:prstGeom>
            <a:solidFill>
              <a:srgbClr val="073763"/>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sp>
          <p:nvSpPr>
            <p:cNvPr id="371" name="Google Shape;371;p35"/>
            <p:cNvSpPr/>
            <p:nvPr/>
          </p:nvSpPr>
          <p:spPr>
            <a:xfrm rot="-2700000">
              <a:off x="4705031" y="3336392"/>
              <a:ext cx="305894" cy="116673"/>
            </a:xfrm>
            <a:prstGeom prst="corner">
              <a:avLst>
                <a:gd fmla="val 18804" name="adj1"/>
                <a:gd fmla="val 18145" name="adj2"/>
              </a:avLst>
            </a:prstGeom>
            <a:solidFill>
              <a:srgbClr val="FFFFFF"/>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grpSp>
      <p:grpSp>
        <p:nvGrpSpPr>
          <p:cNvPr id="372" name="Google Shape;372;p35"/>
          <p:cNvGrpSpPr/>
          <p:nvPr/>
        </p:nvGrpSpPr>
        <p:grpSpPr>
          <a:xfrm>
            <a:off x="7952743" y="2762305"/>
            <a:ext cx="795810" cy="730443"/>
            <a:chOff x="4354411" y="3098513"/>
            <a:chExt cx="1007100" cy="674400"/>
          </a:xfrm>
        </p:grpSpPr>
        <p:sp>
          <p:nvSpPr>
            <p:cNvPr id="373" name="Google Shape;373;p35"/>
            <p:cNvSpPr/>
            <p:nvPr/>
          </p:nvSpPr>
          <p:spPr>
            <a:xfrm>
              <a:off x="4354411" y="3098513"/>
              <a:ext cx="1007100" cy="674400"/>
            </a:xfrm>
            <a:prstGeom prst="rect">
              <a:avLst/>
            </a:prstGeom>
            <a:solidFill>
              <a:srgbClr val="073763"/>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sp>
          <p:nvSpPr>
            <p:cNvPr id="374" name="Google Shape;374;p35"/>
            <p:cNvSpPr/>
            <p:nvPr/>
          </p:nvSpPr>
          <p:spPr>
            <a:xfrm rot="-2700000">
              <a:off x="4705031" y="3336392"/>
              <a:ext cx="305894" cy="116673"/>
            </a:xfrm>
            <a:prstGeom prst="corner">
              <a:avLst>
                <a:gd fmla="val 18804" name="adj1"/>
                <a:gd fmla="val 18145" name="adj2"/>
              </a:avLst>
            </a:prstGeom>
            <a:solidFill>
              <a:srgbClr val="FFFFFF"/>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grpSp>
      <p:grpSp>
        <p:nvGrpSpPr>
          <p:cNvPr id="375" name="Google Shape;375;p35"/>
          <p:cNvGrpSpPr/>
          <p:nvPr/>
        </p:nvGrpSpPr>
        <p:grpSpPr>
          <a:xfrm>
            <a:off x="7952743" y="3504521"/>
            <a:ext cx="795810" cy="730443"/>
            <a:chOff x="4354411" y="3098513"/>
            <a:chExt cx="1007100" cy="674400"/>
          </a:xfrm>
        </p:grpSpPr>
        <p:sp>
          <p:nvSpPr>
            <p:cNvPr id="376" name="Google Shape;376;p35"/>
            <p:cNvSpPr/>
            <p:nvPr/>
          </p:nvSpPr>
          <p:spPr>
            <a:xfrm>
              <a:off x="4354411" y="3098513"/>
              <a:ext cx="1007100" cy="674400"/>
            </a:xfrm>
            <a:prstGeom prst="rect">
              <a:avLst/>
            </a:prstGeom>
            <a:solidFill>
              <a:srgbClr val="073763"/>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sp>
          <p:nvSpPr>
            <p:cNvPr id="377" name="Google Shape;377;p35"/>
            <p:cNvSpPr/>
            <p:nvPr/>
          </p:nvSpPr>
          <p:spPr>
            <a:xfrm rot="-2700000">
              <a:off x="4705031" y="3336392"/>
              <a:ext cx="305894" cy="116673"/>
            </a:xfrm>
            <a:prstGeom prst="corner">
              <a:avLst>
                <a:gd fmla="val 18804" name="adj1"/>
                <a:gd fmla="val 18145" name="adj2"/>
              </a:avLst>
            </a:prstGeom>
            <a:solidFill>
              <a:srgbClr val="FFFFFF"/>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grpSp>
      <p:sp>
        <p:nvSpPr>
          <p:cNvPr id="378" name="Google Shape;378;p35"/>
          <p:cNvSpPr/>
          <p:nvPr/>
        </p:nvSpPr>
        <p:spPr>
          <a:xfrm>
            <a:off x="831973" y="2020012"/>
            <a:ext cx="730500" cy="730500"/>
          </a:xfrm>
          <a:prstGeom prst="rtTriangle">
            <a:avLst/>
          </a:prstGeom>
          <a:solidFill>
            <a:srgbClr val="0E63F0"/>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sp>
        <p:nvSpPr>
          <p:cNvPr id="379" name="Google Shape;379;p35"/>
          <p:cNvSpPr/>
          <p:nvPr/>
        </p:nvSpPr>
        <p:spPr>
          <a:xfrm>
            <a:off x="56856" y="2762265"/>
            <a:ext cx="744600" cy="730500"/>
          </a:xfrm>
          <a:prstGeom prst="rtTriangle">
            <a:avLst/>
          </a:prstGeom>
          <a:solidFill>
            <a:srgbClr val="307AF3"/>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grpSp>
        <p:nvGrpSpPr>
          <p:cNvPr id="380" name="Google Shape;380;p35"/>
          <p:cNvGrpSpPr/>
          <p:nvPr/>
        </p:nvGrpSpPr>
        <p:grpSpPr>
          <a:xfrm>
            <a:off x="56844" y="2020061"/>
            <a:ext cx="7860586" cy="730497"/>
            <a:chOff x="943723" y="3098500"/>
            <a:chExt cx="7257489" cy="674450"/>
          </a:xfrm>
        </p:grpSpPr>
        <p:sp>
          <p:nvSpPr>
            <p:cNvPr id="381" name="Google Shape;381;p35"/>
            <p:cNvSpPr/>
            <p:nvPr/>
          </p:nvSpPr>
          <p:spPr>
            <a:xfrm>
              <a:off x="943723" y="3098500"/>
              <a:ext cx="2379900" cy="674400"/>
            </a:xfrm>
            <a:prstGeom prst="rect">
              <a:avLst/>
            </a:prstGeom>
            <a:solidFill>
              <a:srgbClr val="073763"/>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sp>
          <p:nvSpPr>
            <p:cNvPr id="382" name="Google Shape;382;p35"/>
            <p:cNvSpPr/>
            <p:nvPr/>
          </p:nvSpPr>
          <p:spPr>
            <a:xfrm>
              <a:off x="943723" y="3098513"/>
              <a:ext cx="687600" cy="674400"/>
            </a:xfrm>
            <a:prstGeom prst="rtTriangle">
              <a:avLst/>
            </a:prstGeom>
            <a:solidFill>
              <a:srgbClr val="307AF3"/>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sp>
          <p:nvSpPr>
            <p:cNvPr id="383" name="Google Shape;383;p35"/>
            <p:cNvSpPr/>
            <p:nvPr/>
          </p:nvSpPr>
          <p:spPr>
            <a:xfrm>
              <a:off x="1210848" y="3098557"/>
              <a:ext cx="425700" cy="409200"/>
            </a:xfrm>
            <a:prstGeom prst="rect">
              <a:avLst/>
            </a:prstGeom>
            <a:noFill/>
            <a:ln>
              <a:noFill/>
            </a:ln>
            <a:effectLst>
              <a:outerShdw blurRad="61900" rotWithShape="0" algn="bl" dir="5400000" dist="20633">
                <a:srgbClr val="000000">
                  <a:alpha val="50000"/>
                </a:srgbClr>
              </a:outerShdw>
            </a:effectLst>
          </p:spPr>
          <p:txBody>
            <a:bodyPr anchorCtr="0" anchor="b" bIns="99025" lIns="99025" spcFirstLastPara="1" rIns="99025" wrap="square" tIns="99025">
              <a:noAutofit/>
            </a:bodyPr>
            <a:lstStyle/>
            <a:p>
              <a:pPr indent="0" lvl="0" marL="0" rtl="0" algn="ctr">
                <a:spcBef>
                  <a:spcPts val="0"/>
                </a:spcBef>
                <a:spcAft>
                  <a:spcPts val="0"/>
                </a:spcAft>
                <a:buNone/>
              </a:pPr>
              <a:r>
                <a:rPr lang="en-US" sz="1732">
                  <a:solidFill>
                    <a:srgbClr val="FFFFFF"/>
                  </a:solidFill>
                  <a:latin typeface="Roboto"/>
                  <a:ea typeface="Roboto"/>
                  <a:cs typeface="Roboto"/>
                  <a:sym typeface="Roboto"/>
                </a:rPr>
                <a:t>1</a:t>
              </a:r>
              <a:endParaRPr sz="1732">
                <a:solidFill>
                  <a:srgbClr val="FFFFFF"/>
                </a:solidFill>
                <a:latin typeface="Roboto"/>
                <a:ea typeface="Roboto"/>
                <a:cs typeface="Roboto"/>
                <a:sym typeface="Roboto"/>
              </a:endParaRPr>
            </a:p>
          </p:txBody>
        </p:sp>
        <p:sp>
          <p:nvSpPr>
            <p:cNvPr id="384" name="Google Shape;384;p35"/>
            <p:cNvSpPr/>
            <p:nvPr/>
          </p:nvSpPr>
          <p:spPr>
            <a:xfrm rot="-2700000">
              <a:off x="4705031" y="3336392"/>
              <a:ext cx="305894" cy="116673"/>
            </a:xfrm>
            <a:prstGeom prst="corner">
              <a:avLst>
                <a:gd fmla="val 18804" name="adj1"/>
                <a:gd fmla="val 18145" name="adj2"/>
              </a:avLst>
            </a:prstGeom>
            <a:solidFill>
              <a:srgbClr val="FFFFFF"/>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sp>
          <p:nvSpPr>
            <p:cNvPr id="385" name="Google Shape;385;p35"/>
            <p:cNvSpPr/>
            <p:nvPr/>
          </p:nvSpPr>
          <p:spPr>
            <a:xfrm>
              <a:off x="3633813" y="3230513"/>
              <a:ext cx="410400" cy="410400"/>
            </a:xfrm>
            <a:prstGeom prst="mathMultiply">
              <a:avLst>
                <a:gd fmla="val 5080" name="adj1"/>
              </a:avLst>
            </a:prstGeom>
            <a:solidFill>
              <a:srgbClr val="FFFFFF"/>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sp>
          <p:nvSpPr>
            <p:cNvPr id="386" name="Google Shape;386;p35"/>
            <p:cNvSpPr/>
            <p:nvPr/>
          </p:nvSpPr>
          <p:spPr>
            <a:xfrm>
              <a:off x="3335475" y="3098500"/>
              <a:ext cx="2025900" cy="674400"/>
            </a:xfrm>
            <a:prstGeom prst="rect">
              <a:avLst/>
            </a:prstGeom>
            <a:solidFill>
              <a:srgbClr val="073763"/>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rPr lang="en-US" sz="1299">
                  <a:solidFill>
                    <a:schemeClr val="lt1"/>
                  </a:solidFill>
                  <a:latin typeface="Roboto"/>
                  <a:ea typeface="Roboto"/>
                  <a:cs typeface="Roboto"/>
                  <a:sym typeface="Roboto"/>
                </a:rPr>
                <a:t>Implementaremos</a:t>
              </a:r>
              <a:endParaRPr sz="1299">
                <a:solidFill>
                  <a:schemeClr val="lt1"/>
                </a:solidFill>
                <a:latin typeface="Roboto"/>
                <a:ea typeface="Roboto"/>
                <a:cs typeface="Roboto"/>
                <a:sym typeface="Roboto"/>
              </a:endParaRPr>
            </a:p>
          </p:txBody>
        </p:sp>
        <p:sp>
          <p:nvSpPr>
            <p:cNvPr id="387" name="Google Shape;387;p35"/>
            <p:cNvSpPr/>
            <p:nvPr/>
          </p:nvSpPr>
          <p:spPr>
            <a:xfrm>
              <a:off x="5373412" y="3098513"/>
              <a:ext cx="2827800" cy="674400"/>
            </a:xfrm>
            <a:prstGeom prst="rect">
              <a:avLst/>
            </a:prstGeom>
            <a:solidFill>
              <a:srgbClr val="073763"/>
            </a:solidFill>
            <a:ln>
              <a:noFill/>
            </a:ln>
            <a:effectLst>
              <a:outerShdw blurRad="61900" rotWithShape="0" algn="bl" dir="5400000" dist="20633">
                <a:srgbClr val="000000">
                  <a:alpha val="50000"/>
                </a:srgbClr>
              </a:outerShdw>
            </a:effectLst>
          </p:spPr>
          <p:txBody>
            <a:bodyPr anchorCtr="0" anchor="t" bIns="99025" lIns="99025" spcFirstLastPara="1" rIns="99025" wrap="square" tIns="99025">
              <a:noAutofit/>
            </a:bodyPr>
            <a:lstStyle/>
            <a:p>
              <a:pPr indent="0" lvl="0" marL="0" rtl="0" algn="l">
                <a:lnSpc>
                  <a:spcPct val="115000"/>
                </a:lnSpc>
                <a:spcBef>
                  <a:spcPts val="0"/>
                </a:spcBef>
                <a:spcAft>
                  <a:spcPts val="0"/>
                </a:spcAft>
                <a:buNone/>
              </a:pPr>
              <a:r>
                <a:rPr lang="en-US" sz="900">
                  <a:solidFill>
                    <a:srgbClr val="FFFFFF"/>
                  </a:solidFill>
                  <a:latin typeface="Roboto"/>
                  <a:ea typeface="Roboto"/>
                  <a:cs typeface="Roboto"/>
                  <a:sym typeface="Roboto"/>
                </a:rPr>
                <a:t>un proceso ETL (Extracción, Transformación y Carga) que unifica los datos de producción de SAP en una única fuente de verdad, eliminando las inconsistencias y la fragmentación de la información.</a:t>
              </a:r>
              <a:endParaRPr sz="900">
                <a:solidFill>
                  <a:srgbClr val="FFFFFF"/>
                </a:solidFill>
                <a:latin typeface="Roboto"/>
                <a:ea typeface="Roboto"/>
                <a:cs typeface="Roboto"/>
                <a:sym typeface="Roboto"/>
              </a:endParaRPr>
            </a:p>
          </p:txBody>
        </p:sp>
        <p:sp>
          <p:nvSpPr>
            <p:cNvPr id="388" name="Google Shape;388;p35"/>
            <p:cNvSpPr/>
            <p:nvPr/>
          </p:nvSpPr>
          <p:spPr>
            <a:xfrm>
              <a:off x="1704725" y="3098550"/>
              <a:ext cx="1488600" cy="674400"/>
            </a:xfrm>
            <a:prstGeom prst="rect">
              <a:avLst/>
            </a:prstGeom>
            <a:noFill/>
            <a:ln>
              <a:noFill/>
            </a:ln>
            <a:effectLst>
              <a:outerShdw blurRad="61900" rotWithShape="0" algn="bl" dir="5400000" dist="20633">
                <a:srgbClr val="000000">
                  <a:alpha val="50000"/>
                </a:srgbClr>
              </a:outerShdw>
            </a:effectLst>
          </p:spPr>
          <p:txBody>
            <a:bodyPr anchorCtr="0" anchor="t" bIns="99025" lIns="99025" spcFirstLastPara="1" rIns="99025" wrap="square" tIns="99025">
              <a:noAutofit/>
            </a:bodyPr>
            <a:lstStyle/>
            <a:p>
              <a:pPr indent="0" lvl="0" marL="0" rtl="0" algn="l">
                <a:spcBef>
                  <a:spcPts val="0"/>
                </a:spcBef>
                <a:spcAft>
                  <a:spcPts val="0"/>
                </a:spcAft>
                <a:buNone/>
              </a:pPr>
              <a:r>
                <a:rPr b="1" lang="en-US" sz="1299">
                  <a:solidFill>
                    <a:srgbClr val="FFFFFF"/>
                  </a:solidFill>
                  <a:latin typeface="Roboto"/>
                  <a:ea typeface="Roboto"/>
                  <a:cs typeface="Roboto"/>
                  <a:sym typeface="Roboto"/>
                </a:rPr>
                <a:t>CENTRALIZACIÓN</a:t>
              </a:r>
              <a:endParaRPr b="1" sz="1299">
                <a:solidFill>
                  <a:srgbClr val="FFFFFF"/>
                </a:solidFill>
                <a:latin typeface="Roboto"/>
                <a:ea typeface="Roboto"/>
                <a:cs typeface="Roboto"/>
                <a:sym typeface="Roboto"/>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grpSp>
        <p:nvGrpSpPr>
          <p:cNvPr id="393" name="Google Shape;393;p36"/>
          <p:cNvGrpSpPr/>
          <p:nvPr/>
        </p:nvGrpSpPr>
        <p:grpSpPr>
          <a:xfrm>
            <a:off x="3978720" y="6840"/>
            <a:ext cx="5164200" cy="5143200"/>
            <a:chOff x="3978720" y="6840"/>
            <a:chExt cx="5164200" cy="5143200"/>
          </a:xfrm>
        </p:grpSpPr>
        <p:sp>
          <p:nvSpPr>
            <p:cNvPr id="394" name="Google Shape;394;p36"/>
            <p:cNvSpPr/>
            <p:nvPr/>
          </p:nvSpPr>
          <p:spPr>
            <a:xfrm flipH="1">
              <a:off x="3978720" y="6840"/>
              <a:ext cx="5164200" cy="51432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95" name="Google Shape;395;p36"/>
            <p:cNvSpPr/>
            <p:nvPr/>
          </p:nvSpPr>
          <p:spPr>
            <a:xfrm rot="-2699590">
              <a:off x="4520886" y="36474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96" name="Google Shape;396;p36"/>
            <p:cNvSpPr/>
            <p:nvPr/>
          </p:nvSpPr>
          <p:spPr>
            <a:xfrm rot="-2699590">
              <a:off x="7184166" y="22452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97" name="Google Shape;397;p36"/>
            <p:cNvSpPr/>
            <p:nvPr/>
          </p:nvSpPr>
          <p:spPr>
            <a:xfrm rot="-2699590">
              <a:off x="6716478" y="11666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98" name="Google Shape;398;p36"/>
            <p:cNvSpPr/>
            <p:nvPr/>
          </p:nvSpPr>
          <p:spPr>
            <a:xfrm rot="-2699590">
              <a:off x="5940318" y="35714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99" name="Google Shape;399;p36"/>
            <p:cNvSpPr/>
            <p:nvPr/>
          </p:nvSpPr>
          <p:spPr>
            <a:xfrm>
              <a:off x="6778080" y="2891160"/>
              <a:ext cx="1596300" cy="1596300"/>
            </a:xfrm>
            <a:prstGeom prst="ellipse">
              <a:avLst/>
            </a:prstGeom>
            <a:noFill/>
            <a:ln cap="flat" cmpd="sng" w="9525">
              <a:solidFill>
                <a:srgbClr val="F8F8F8"/>
              </a:solidFill>
              <a:prstDash val="lg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400" name="Google Shape;400;p36"/>
          <p:cNvSpPr txBox="1"/>
          <p:nvPr>
            <p:ph type="title"/>
          </p:nvPr>
        </p:nvSpPr>
        <p:spPr>
          <a:xfrm>
            <a:off x="733325" y="2121825"/>
            <a:ext cx="4749000" cy="551100"/>
          </a:xfrm>
          <a:prstGeom prst="rect">
            <a:avLst/>
          </a:prstGeom>
          <a:noFill/>
          <a:ln>
            <a:noFill/>
          </a:ln>
        </p:spPr>
        <p:txBody>
          <a:bodyPr anchorCtr="0" anchor="b"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100000"/>
              <a:buFont typeface="Archivo Black"/>
              <a:buNone/>
            </a:pPr>
            <a:r>
              <a:rPr b="1" lang="en-US" sz="3200">
                <a:solidFill>
                  <a:schemeClr val="dk1"/>
                </a:solidFill>
                <a:latin typeface="Roboto"/>
                <a:ea typeface="Roboto"/>
                <a:cs typeface="Roboto"/>
                <a:sym typeface="Roboto"/>
              </a:rPr>
              <a:t>Arquitectura</a:t>
            </a:r>
            <a:endParaRPr b="1" sz="3200" u="none" strike="noStrike">
              <a:solidFill>
                <a:schemeClr val="dk1"/>
              </a:solidFill>
              <a:latin typeface="Roboto"/>
              <a:ea typeface="Roboto"/>
              <a:cs typeface="Roboto"/>
              <a:sym typeface="Roboto"/>
            </a:endParaRPr>
          </a:p>
        </p:txBody>
      </p:sp>
      <p:sp>
        <p:nvSpPr>
          <p:cNvPr id="401" name="Google Shape;401;p36"/>
          <p:cNvSpPr/>
          <p:nvPr/>
        </p:nvSpPr>
        <p:spPr>
          <a:xfrm>
            <a:off x="5397480" y="1055160"/>
            <a:ext cx="3033000" cy="3033000"/>
          </a:xfrm>
          <a:prstGeom prst="ellipse">
            <a:avLst/>
          </a:prstGeom>
          <a:blipFill rotWithShape="1">
            <a:blip r:embed="rId3">
              <a:alphaModFix/>
            </a:blip>
            <a:stretch>
              <a:fillRect b="0" l="0" r="0" t="0"/>
            </a:stretch>
          </a:blipFill>
          <a:ln cap="flat" cmpd="sng" w="38100">
            <a:solidFill>
              <a:srgbClr val="F8F8F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402" name="Google Shape;402;p36"/>
          <p:cNvGrpSpPr/>
          <p:nvPr/>
        </p:nvGrpSpPr>
        <p:grpSpPr>
          <a:xfrm>
            <a:off x="5405271" y="1044240"/>
            <a:ext cx="3160020" cy="3290700"/>
            <a:chOff x="5405271" y="1044240"/>
            <a:chExt cx="3160020" cy="3290700"/>
          </a:xfrm>
        </p:grpSpPr>
        <p:sp>
          <p:nvSpPr>
            <p:cNvPr id="403" name="Google Shape;403;p36"/>
            <p:cNvSpPr/>
            <p:nvPr/>
          </p:nvSpPr>
          <p:spPr>
            <a:xfrm rot="-2700000">
              <a:off x="7674867" y="13795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04" name="Google Shape;404;p36"/>
            <p:cNvSpPr/>
            <p:nvPr/>
          </p:nvSpPr>
          <p:spPr>
            <a:xfrm rot="-2700000">
              <a:off x="5299947" y="38851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405" name="Google Shape;405;p36"/>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9" name="Shape 409"/>
        <p:cNvGrpSpPr/>
        <p:nvPr/>
      </p:nvGrpSpPr>
      <p:grpSpPr>
        <a:xfrm>
          <a:off x="0" y="0"/>
          <a:ext cx="0" cy="0"/>
          <a:chOff x="0" y="0"/>
          <a:chExt cx="0" cy="0"/>
        </a:xfrm>
      </p:grpSpPr>
      <p:sp>
        <p:nvSpPr>
          <p:cNvPr id="410" name="Google Shape;410;p37"/>
          <p:cNvSpPr txBox="1"/>
          <p:nvPr>
            <p:ph type="title"/>
          </p:nvPr>
        </p:nvSpPr>
        <p:spPr>
          <a:xfrm>
            <a:off x="167400" y="153650"/>
            <a:ext cx="7010700" cy="8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3200">
                <a:latin typeface="Roboto"/>
                <a:ea typeface="Roboto"/>
                <a:cs typeface="Roboto"/>
                <a:sym typeface="Roboto"/>
              </a:rPr>
              <a:t>Arquitectura</a:t>
            </a:r>
            <a:endParaRPr b="1" sz="3200">
              <a:latin typeface="Roboto"/>
              <a:ea typeface="Roboto"/>
              <a:cs typeface="Roboto"/>
              <a:sym typeface="Roboto"/>
            </a:endParaRPr>
          </a:p>
        </p:txBody>
      </p:sp>
      <p:sp>
        <p:nvSpPr>
          <p:cNvPr id="411" name="Google Shape;411;p37"/>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412" name="Google Shape;412;p37" title="04.-diagrama_arquitectura.png"/>
          <p:cNvPicPr preferRelativeResize="0"/>
          <p:nvPr/>
        </p:nvPicPr>
        <p:blipFill>
          <a:blip r:embed="rId3">
            <a:alphaModFix/>
          </a:blip>
          <a:stretch>
            <a:fillRect/>
          </a:stretch>
        </p:blipFill>
        <p:spPr>
          <a:xfrm>
            <a:off x="906080" y="636625"/>
            <a:ext cx="7331840" cy="38702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pic>
        <p:nvPicPr>
          <p:cNvPr id="417" name="Google Shape;417;p38" title="download (2).png"/>
          <p:cNvPicPr preferRelativeResize="0"/>
          <p:nvPr/>
        </p:nvPicPr>
        <p:blipFill>
          <a:blip r:embed="rId3">
            <a:alphaModFix/>
          </a:blip>
          <a:stretch>
            <a:fillRect/>
          </a:stretch>
        </p:blipFill>
        <p:spPr>
          <a:xfrm>
            <a:off x="0" y="-495337"/>
            <a:ext cx="9144000" cy="5566638"/>
          </a:xfrm>
          <a:prstGeom prst="rect">
            <a:avLst/>
          </a:prstGeom>
          <a:noFill/>
          <a:ln>
            <a:noFill/>
          </a:ln>
        </p:spPr>
      </p:pic>
      <p:pic>
        <p:nvPicPr>
          <p:cNvPr id="418" name="Google Shape;418;p38"/>
          <p:cNvPicPr preferRelativeResize="0"/>
          <p:nvPr/>
        </p:nvPicPr>
        <p:blipFill>
          <a:blip r:embed="rId4">
            <a:alphaModFix/>
          </a:blip>
          <a:stretch>
            <a:fillRect/>
          </a:stretch>
        </p:blipFill>
        <p:spPr>
          <a:xfrm>
            <a:off x="5219450" y="2921625"/>
            <a:ext cx="875150" cy="437575"/>
          </a:xfrm>
          <a:prstGeom prst="rect">
            <a:avLst/>
          </a:prstGeom>
          <a:noFill/>
          <a:ln>
            <a:noFill/>
          </a:ln>
        </p:spPr>
      </p:pic>
      <p:sp>
        <p:nvSpPr>
          <p:cNvPr id="419" name="Google Shape;419;p38"/>
          <p:cNvSpPr txBox="1"/>
          <p:nvPr>
            <p:ph type="title"/>
          </p:nvPr>
        </p:nvSpPr>
        <p:spPr>
          <a:xfrm>
            <a:off x="167400" y="153650"/>
            <a:ext cx="7010700" cy="8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3200">
                <a:latin typeface="Roboto"/>
                <a:ea typeface="Roboto"/>
                <a:cs typeface="Roboto"/>
                <a:sym typeface="Roboto"/>
              </a:rPr>
              <a:t>Arquitectura</a:t>
            </a:r>
            <a:endParaRPr b="1" sz="3200">
              <a:latin typeface="Roboto"/>
              <a:ea typeface="Roboto"/>
              <a:cs typeface="Roboto"/>
              <a:sym typeface="Roboto"/>
            </a:endParaRPr>
          </a:p>
        </p:txBody>
      </p:sp>
      <p:sp>
        <p:nvSpPr>
          <p:cNvPr id="420" name="Google Shape;420;p38"/>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39"/>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426" name="Google Shape;426;p39" title="ERD-2025-11-26-124447.png">
            <a:hlinkClick r:id="rId3"/>
          </p:cNvPr>
          <p:cNvPicPr preferRelativeResize="0"/>
          <p:nvPr/>
        </p:nvPicPr>
        <p:blipFill>
          <a:blip r:embed="rId4">
            <a:alphaModFix/>
          </a:blip>
          <a:stretch>
            <a:fillRect/>
          </a:stretch>
        </p:blipFill>
        <p:spPr>
          <a:xfrm>
            <a:off x="0" y="0"/>
            <a:ext cx="9144003" cy="5143500"/>
          </a:xfrm>
          <a:prstGeom prst="rect">
            <a:avLst/>
          </a:prstGeom>
          <a:noFill/>
          <a:ln>
            <a:noFill/>
          </a:ln>
        </p:spPr>
      </p:pic>
      <p:sp>
        <p:nvSpPr>
          <p:cNvPr id="427" name="Google Shape;427;p39"/>
          <p:cNvSpPr txBox="1"/>
          <p:nvPr>
            <p:ph type="title"/>
          </p:nvPr>
        </p:nvSpPr>
        <p:spPr>
          <a:xfrm>
            <a:off x="2557600" y="33850"/>
            <a:ext cx="3341700" cy="55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3200">
                <a:latin typeface="Roboto"/>
                <a:ea typeface="Roboto"/>
                <a:cs typeface="Roboto"/>
                <a:sym typeface="Roboto"/>
              </a:rPr>
              <a:t>Modelo de Datos</a:t>
            </a:r>
            <a:endParaRPr b="1" sz="3200">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1" name="Shape 431"/>
        <p:cNvGrpSpPr/>
        <p:nvPr/>
      </p:nvGrpSpPr>
      <p:grpSpPr>
        <a:xfrm>
          <a:off x="0" y="0"/>
          <a:ext cx="0" cy="0"/>
          <a:chOff x="0" y="0"/>
          <a:chExt cx="0" cy="0"/>
        </a:xfrm>
      </p:grpSpPr>
      <p:sp>
        <p:nvSpPr>
          <p:cNvPr id="432" name="Google Shape;432;p40"/>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433" name="Google Shape;433;p40"/>
          <p:cNvSpPr txBox="1"/>
          <p:nvPr>
            <p:ph type="title"/>
          </p:nvPr>
        </p:nvSpPr>
        <p:spPr>
          <a:xfrm>
            <a:off x="2557600" y="33850"/>
            <a:ext cx="3341700" cy="55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3200">
                <a:latin typeface="Roboto"/>
                <a:ea typeface="Roboto"/>
                <a:cs typeface="Roboto"/>
                <a:sym typeface="Roboto"/>
              </a:rPr>
              <a:t>Modelo de Datos</a:t>
            </a:r>
            <a:endParaRPr b="1" sz="3200">
              <a:latin typeface="Roboto"/>
              <a:ea typeface="Roboto"/>
              <a:cs typeface="Roboto"/>
              <a:sym typeface="Roboto"/>
            </a:endParaRPr>
          </a:p>
        </p:txBody>
      </p:sp>
      <p:pic>
        <p:nvPicPr>
          <p:cNvPr id="434" name="Google Shape;434;p40"/>
          <p:cNvPicPr preferRelativeResize="0"/>
          <p:nvPr/>
        </p:nvPicPr>
        <p:blipFill>
          <a:blip r:embed="rId3">
            <a:alphaModFix/>
          </a:blip>
          <a:stretch>
            <a:fillRect/>
          </a:stretch>
        </p:blipFill>
        <p:spPr>
          <a:xfrm>
            <a:off x="152400" y="746050"/>
            <a:ext cx="8148419" cy="385140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8" name="Shape 438"/>
        <p:cNvGrpSpPr/>
        <p:nvPr/>
      </p:nvGrpSpPr>
      <p:grpSpPr>
        <a:xfrm>
          <a:off x="0" y="0"/>
          <a:ext cx="0" cy="0"/>
          <a:chOff x="0" y="0"/>
          <a:chExt cx="0" cy="0"/>
        </a:xfrm>
      </p:grpSpPr>
      <p:sp>
        <p:nvSpPr>
          <p:cNvPr id="439" name="Google Shape;439;p41"/>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440" name="Google Shape;440;p41"/>
          <p:cNvSpPr txBox="1"/>
          <p:nvPr>
            <p:ph type="title"/>
          </p:nvPr>
        </p:nvSpPr>
        <p:spPr>
          <a:xfrm>
            <a:off x="2557600" y="33850"/>
            <a:ext cx="3341700" cy="55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3200">
                <a:latin typeface="Roboto"/>
                <a:ea typeface="Roboto"/>
                <a:cs typeface="Roboto"/>
                <a:sym typeface="Roboto"/>
              </a:rPr>
              <a:t>Modelo de Datos</a:t>
            </a:r>
            <a:endParaRPr b="1" sz="3200">
              <a:latin typeface="Roboto"/>
              <a:ea typeface="Roboto"/>
              <a:cs typeface="Roboto"/>
              <a:sym typeface="Roboto"/>
            </a:endParaRPr>
          </a:p>
        </p:txBody>
      </p:sp>
      <p:pic>
        <p:nvPicPr>
          <p:cNvPr id="441" name="Google Shape;441;p41" title="Untitled.png"/>
          <p:cNvPicPr preferRelativeResize="0"/>
          <p:nvPr/>
        </p:nvPicPr>
        <p:blipFill>
          <a:blip r:embed="rId3">
            <a:alphaModFix/>
          </a:blip>
          <a:stretch>
            <a:fillRect/>
          </a:stretch>
        </p:blipFill>
        <p:spPr>
          <a:xfrm>
            <a:off x="590767" y="708650"/>
            <a:ext cx="7962466" cy="424504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grpSp>
        <p:nvGrpSpPr>
          <p:cNvPr id="446" name="Google Shape;446;p42"/>
          <p:cNvGrpSpPr/>
          <p:nvPr/>
        </p:nvGrpSpPr>
        <p:grpSpPr>
          <a:xfrm>
            <a:off x="3978720" y="6840"/>
            <a:ext cx="5164200" cy="5143200"/>
            <a:chOff x="3978720" y="6840"/>
            <a:chExt cx="5164200" cy="5143200"/>
          </a:xfrm>
        </p:grpSpPr>
        <p:sp>
          <p:nvSpPr>
            <p:cNvPr id="447" name="Google Shape;447;p42"/>
            <p:cNvSpPr/>
            <p:nvPr/>
          </p:nvSpPr>
          <p:spPr>
            <a:xfrm flipH="1">
              <a:off x="3978720" y="6840"/>
              <a:ext cx="5164200" cy="51432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48" name="Google Shape;448;p42"/>
            <p:cNvSpPr/>
            <p:nvPr/>
          </p:nvSpPr>
          <p:spPr>
            <a:xfrm rot="-2699590">
              <a:off x="4520886" y="36474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49" name="Google Shape;449;p42"/>
            <p:cNvSpPr/>
            <p:nvPr/>
          </p:nvSpPr>
          <p:spPr>
            <a:xfrm rot="-2699590">
              <a:off x="7184166" y="22452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50" name="Google Shape;450;p42"/>
            <p:cNvSpPr/>
            <p:nvPr/>
          </p:nvSpPr>
          <p:spPr>
            <a:xfrm rot="-2699590">
              <a:off x="6716478" y="11666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51" name="Google Shape;451;p42"/>
            <p:cNvSpPr/>
            <p:nvPr/>
          </p:nvSpPr>
          <p:spPr>
            <a:xfrm rot="-2699590">
              <a:off x="5940318" y="35714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52" name="Google Shape;452;p42"/>
            <p:cNvSpPr/>
            <p:nvPr/>
          </p:nvSpPr>
          <p:spPr>
            <a:xfrm>
              <a:off x="6778080" y="2891160"/>
              <a:ext cx="1596300" cy="1596300"/>
            </a:xfrm>
            <a:prstGeom prst="ellipse">
              <a:avLst/>
            </a:prstGeom>
            <a:noFill/>
            <a:ln cap="flat" cmpd="sng" w="9525">
              <a:solidFill>
                <a:srgbClr val="F8F8F8"/>
              </a:solidFill>
              <a:prstDash val="lg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453" name="Google Shape;453;p42"/>
          <p:cNvSpPr/>
          <p:nvPr/>
        </p:nvSpPr>
        <p:spPr>
          <a:xfrm>
            <a:off x="5397480" y="1055160"/>
            <a:ext cx="3033000" cy="3033000"/>
          </a:xfrm>
          <a:prstGeom prst="ellipse">
            <a:avLst/>
          </a:prstGeom>
          <a:blipFill rotWithShape="1">
            <a:blip r:embed="rId3">
              <a:alphaModFix/>
            </a:blip>
            <a:stretch>
              <a:fillRect b="0" l="0" r="0" t="0"/>
            </a:stretch>
          </a:blipFill>
          <a:ln cap="flat" cmpd="sng" w="38100">
            <a:solidFill>
              <a:srgbClr val="F8F8F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454" name="Google Shape;454;p42"/>
          <p:cNvGrpSpPr/>
          <p:nvPr/>
        </p:nvGrpSpPr>
        <p:grpSpPr>
          <a:xfrm>
            <a:off x="5405271" y="1044240"/>
            <a:ext cx="3160020" cy="3290700"/>
            <a:chOff x="5405271" y="1044240"/>
            <a:chExt cx="3160020" cy="3290700"/>
          </a:xfrm>
        </p:grpSpPr>
        <p:sp>
          <p:nvSpPr>
            <p:cNvPr id="455" name="Google Shape;455;p42"/>
            <p:cNvSpPr/>
            <p:nvPr/>
          </p:nvSpPr>
          <p:spPr>
            <a:xfrm rot="-2700000">
              <a:off x="7674867" y="13795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56" name="Google Shape;456;p42"/>
            <p:cNvSpPr/>
            <p:nvPr/>
          </p:nvSpPr>
          <p:spPr>
            <a:xfrm rot="-2700000">
              <a:off x="5299947" y="38851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457" name="Google Shape;457;p42"/>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458" name="Google Shape;458;p42"/>
          <p:cNvSpPr txBox="1"/>
          <p:nvPr>
            <p:ph type="title"/>
          </p:nvPr>
        </p:nvSpPr>
        <p:spPr>
          <a:xfrm>
            <a:off x="346028" y="1948375"/>
            <a:ext cx="6990900" cy="818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Metodología</a:t>
            </a:r>
            <a:endParaRPr b="1" sz="3200" u="none" strike="noStrike">
              <a:solidFill>
                <a:schemeClr val="dk1"/>
              </a:solidFill>
              <a:latin typeface="Roboto"/>
              <a:ea typeface="Roboto"/>
              <a:cs typeface="Roboto"/>
              <a:sym typeface="Roboto"/>
            </a:endParaRPr>
          </a:p>
        </p:txBody>
      </p:sp>
      <p:pic>
        <p:nvPicPr>
          <p:cNvPr id="459" name="Google Shape;459;p42"/>
          <p:cNvPicPr preferRelativeResize="0"/>
          <p:nvPr/>
        </p:nvPicPr>
        <p:blipFill>
          <a:blip r:embed="rId4">
            <a:alphaModFix/>
          </a:blip>
          <a:stretch>
            <a:fillRect/>
          </a:stretch>
        </p:blipFill>
        <p:spPr>
          <a:xfrm>
            <a:off x="2961800" y="1321913"/>
            <a:ext cx="2228125" cy="207162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43"/>
          <p:cNvSpPr txBox="1"/>
          <p:nvPr>
            <p:ph idx="1" type="body"/>
          </p:nvPr>
        </p:nvSpPr>
        <p:spPr>
          <a:xfrm>
            <a:off x="157075" y="1511975"/>
            <a:ext cx="8655900" cy="35610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1200"/>
              </a:spcBef>
              <a:spcAft>
                <a:spcPts val="0"/>
              </a:spcAft>
              <a:buNone/>
            </a:pPr>
            <a:r>
              <a:rPr lang="en-US" sz="1400">
                <a:solidFill>
                  <a:srgbClr val="000000"/>
                </a:solidFill>
              </a:rPr>
              <a:t>Para el proyecto "</a:t>
            </a:r>
            <a:r>
              <a:rPr lang="en-US" sz="1400">
                <a:solidFill>
                  <a:srgbClr val="000000"/>
                </a:solidFill>
              </a:rPr>
              <a:t>Inteligencia</a:t>
            </a:r>
            <a:r>
              <a:rPr lang="en-US" sz="1400">
                <a:solidFill>
                  <a:srgbClr val="000000"/>
                </a:solidFill>
              </a:rPr>
              <a:t> Operacional Cambiaso (IOC)", se usará una</a:t>
            </a:r>
            <a:endParaRPr sz="1400">
              <a:solidFill>
                <a:srgbClr val="000000"/>
              </a:solidFill>
            </a:endParaRPr>
          </a:p>
          <a:p>
            <a:pPr indent="0" lvl="0" marL="0" rtl="0" algn="l">
              <a:spcBef>
                <a:spcPts val="1200"/>
              </a:spcBef>
              <a:spcAft>
                <a:spcPts val="0"/>
              </a:spcAft>
              <a:buNone/>
            </a:pPr>
            <a:r>
              <a:rPr lang="en-US" sz="1400">
                <a:solidFill>
                  <a:srgbClr val="000000"/>
                </a:solidFill>
              </a:rPr>
              <a:t>m</a:t>
            </a:r>
            <a:r>
              <a:rPr lang="en-US" sz="1400">
                <a:solidFill>
                  <a:srgbClr val="000000"/>
                </a:solidFill>
              </a:rPr>
              <a:t>etodología ágil</a:t>
            </a:r>
            <a:r>
              <a:rPr b="1" lang="en-US" sz="1400">
                <a:solidFill>
                  <a:srgbClr val="000000"/>
                </a:solidFill>
              </a:rPr>
              <a:t> Scrum</a:t>
            </a:r>
            <a:r>
              <a:rPr lang="en-US" sz="1400">
                <a:solidFill>
                  <a:srgbClr val="000000"/>
                </a:solidFill>
              </a:rPr>
              <a:t> y complementado con un tablero </a:t>
            </a:r>
            <a:r>
              <a:rPr b="1" lang="en-US" sz="1400">
                <a:solidFill>
                  <a:srgbClr val="000000"/>
                </a:solidFill>
              </a:rPr>
              <a:t>Kanban</a:t>
            </a:r>
            <a:r>
              <a:rPr lang="en-US" sz="1400">
                <a:solidFill>
                  <a:srgbClr val="000000"/>
                </a:solidFill>
              </a:rPr>
              <a:t>.</a:t>
            </a:r>
            <a:endParaRPr sz="1400">
              <a:solidFill>
                <a:srgbClr val="000000"/>
              </a:solidFill>
            </a:endParaRPr>
          </a:p>
          <a:p>
            <a:pPr indent="-317500" lvl="0" marL="457200" rtl="0" algn="l">
              <a:spcBef>
                <a:spcPts val="1200"/>
              </a:spcBef>
              <a:spcAft>
                <a:spcPts val="0"/>
              </a:spcAft>
              <a:buClr>
                <a:srgbClr val="000000"/>
              </a:buClr>
              <a:buSzPts val="1400"/>
              <a:buFont typeface="Arial"/>
              <a:buChar char="●"/>
            </a:pPr>
            <a:r>
              <a:rPr b="1" lang="en-US" sz="1400">
                <a:solidFill>
                  <a:srgbClr val="000000"/>
                </a:solidFill>
              </a:rPr>
              <a:t>Scrum:</a:t>
            </a:r>
            <a:r>
              <a:rPr lang="en-US" sz="1400">
                <a:solidFill>
                  <a:srgbClr val="000000"/>
                </a:solidFill>
              </a:rPr>
              <a:t>  podremos dividir el proyecto en ciclos de trabajo cortos , lo que permite entregar avances funcionales de forma regular, adaptarnos a cambios y gestionar riesgos rápidamente.</a:t>
            </a:r>
            <a:endParaRPr sz="1400">
              <a:solidFill>
                <a:srgbClr val="000000"/>
              </a:solidFill>
            </a:endParaRPr>
          </a:p>
          <a:p>
            <a:pPr indent="-317500" lvl="0" marL="457200" rtl="0" algn="l">
              <a:spcBef>
                <a:spcPts val="0"/>
              </a:spcBef>
              <a:spcAft>
                <a:spcPts val="0"/>
              </a:spcAft>
              <a:buClr>
                <a:srgbClr val="000000"/>
              </a:buClr>
              <a:buSzPts val="1400"/>
              <a:buFont typeface="Arial"/>
              <a:buChar char="●"/>
            </a:pPr>
            <a:r>
              <a:rPr b="1" lang="en-US" sz="1400">
                <a:solidFill>
                  <a:srgbClr val="000000"/>
                </a:solidFill>
              </a:rPr>
              <a:t>Kanban:</a:t>
            </a:r>
            <a:r>
              <a:rPr lang="en-US" sz="1400">
                <a:solidFill>
                  <a:srgbClr val="000000"/>
                </a:solidFill>
              </a:rPr>
              <a:t> </a:t>
            </a:r>
            <a:r>
              <a:rPr lang="en-US" sz="1400">
                <a:solidFill>
                  <a:srgbClr val="000000"/>
                </a:solidFill>
              </a:rPr>
              <a:t>visualizamos</a:t>
            </a:r>
            <a:r>
              <a:rPr lang="en-US" sz="1400">
                <a:solidFill>
                  <a:srgbClr val="000000"/>
                </a:solidFill>
              </a:rPr>
              <a:t> las tareas dentro de cada ciclo, optimizando el flujo de trabajo y detectando posibles retrasos.</a:t>
            </a:r>
            <a:endParaRPr sz="1400">
              <a:solidFill>
                <a:srgbClr val="000000"/>
              </a:solidFill>
            </a:endParaRPr>
          </a:p>
          <a:p>
            <a:pPr indent="0" lvl="0" marL="0" rtl="0" algn="l">
              <a:spcBef>
                <a:spcPts val="1200"/>
              </a:spcBef>
              <a:spcAft>
                <a:spcPts val="0"/>
              </a:spcAft>
              <a:buNone/>
            </a:pPr>
            <a:r>
              <a:rPr lang="en-US" sz="1400">
                <a:solidFill>
                  <a:srgbClr val="000000"/>
                </a:solidFill>
              </a:rPr>
              <a:t>Esta combinación se </a:t>
            </a:r>
            <a:r>
              <a:rPr lang="en-US" sz="1400">
                <a:solidFill>
                  <a:srgbClr val="000000"/>
                </a:solidFill>
              </a:rPr>
              <a:t>seleccionó</a:t>
            </a:r>
            <a:r>
              <a:rPr lang="en-US" sz="1400">
                <a:solidFill>
                  <a:srgbClr val="000000"/>
                </a:solidFill>
              </a:rPr>
              <a:t> porque es ideal para un proyecto con requisitos en constante </a:t>
            </a:r>
            <a:r>
              <a:rPr lang="en-US" sz="1400">
                <a:solidFill>
                  <a:srgbClr val="000000"/>
                </a:solidFill>
              </a:rPr>
              <a:t>evolución</a:t>
            </a:r>
            <a:r>
              <a:rPr lang="en-US" sz="1400">
                <a:solidFill>
                  <a:srgbClr val="000000"/>
                </a:solidFill>
              </a:rPr>
              <a:t> y un equipo pequeño, ya que fomenta la entrega de valor continua, la flexibilidad y un ritmo de trabajo disciplinado.</a:t>
            </a:r>
            <a:endParaRPr sz="1400">
              <a:solidFill>
                <a:srgbClr val="000000"/>
              </a:solidFill>
            </a:endParaRPr>
          </a:p>
          <a:p>
            <a:pPr indent="0" lvl="0" marL="0" marR="0" rtl="0" algn="l">
              <a:lnSpc>
                <a:spcPct val="100000"/>
              </a:lnSpc>
              <a:spcBef>
                <a:spcPts val="1200"/>
              </a:spcBef>
              <a:spcAft>
                <a:spcPts val="0"/>
              </a:spcAft>
              <a:buClr>
                <a:schemeClr val="dk1"/>
              </a:buClr>
              <a:buSzPts val="1400"/>
              <a:buFont typeface="Manrope"/>
              <a:buNone/>
            </a:pPr>
            <a:r>
              <a:t/>
            </a:r>
            <a:endParaRPr b="1" sz="1400">
              <a:solidFill>
                <a:schemeClr val="dk1"/>
              </a:solidFill>
            </a:endParaRPr>
          </a:p>
          <a:p>
            <a:pPr indent="0" lvl="0" marL="0" marR="0" rtl="0" algn="l">
              <a:lnSpc>
                <a:spcPct val="100000"/>
              </a:lnSpc>
              <a:spcBef>
                <a:spcPts val="1200"/>
              </a:spcBef>
              <a:spcAft>
                <a:spcPts val="1200"/>
              </a:spcAft>
              <a:buClr>
                <a:schemeClr val="dk1"/>
              </a:buClr>
              <a:buSzPts val="1400"/>
              <a:buFont typeface="Manrope"/>
              <a:buNone/>
            </a:pPr>
            <a:r>
              <a:t/>
            </a:r>
            <a:endParaRPr sz="1600">
              <a:solidFill>
                <a:schemeClr val="dk1"/>
              </a:solidFill>
              <a:latin typeface="Manrope"/>
              <a:ea typeface="Manrope"/>
              <a:cs typeface="Manrope"/>
              <a:sym typeface="Manrope"/>
            </a:endParaRPr>
          </a:p>
        </p:txBody>
      </p:sp>
      <p:sp>
        <p:nvSpPr>
          <p:cNvPr id="465" name="Google Shape;465;p43"/>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466" name="Google Shape;466;p43"/>
          <p:cNvPicPr preferRelativeResize="0"/>
          <p:nvPr/>
        </p:nvPicPr>
        <p:blipFill>
          <a:blip r:embed="rId3">
            <a:alphaModFix/>
          </a:blip>
          <a:stretch>
            <a:fillRect/>
          </a:stretch>
        </p:blipFill>
        <p:spPr>
          <a:xfrm>
            <a:off x="2585750" y="126175"/>
            <a:ext cx="3203074" cy="138580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grpSp>
        <p:nvGrpSpPr>
          <p:cNvPr id="471" name="Google Shape;471;p44"/>
          <p:cNvGrpSpPr/>
          <p:nvPr/>
        </p:nvGrpSpPr>
        <p:grpSpPr>
          <a:xfrm>
            <a:off x="3978720" y="6840"/>
            <a:ext cx="5164200" cy="5143200"/>
            <a:chOff x="3978720" y="6840"/>
            <a:chExt cx="5164200" cy="5143200"/>
          </a:xfrm>
        </p:grpSpPr>
        <p:sp>
          <p:nvSpPr>
            <p:cNvPr id="472" name="Google Shape;472;p44"/>
            <p:cNvSpPr/>
            <p:nvPr/>
          </p:nvSpPr>
          <p:spPr>
            <a:xfrm flipH="1">
              <a:off x="3978720" y="6840"/>
              <a:ext cx="5164200" cy="51432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73" name="Google Shape;473;p44"/>
            <p:cNvSpPr/>
            <p:nvPr/>
          </p:nvSpPr>
          <p:spPr>
            <a:xfrm rot="-2699590">
              <a:off x="4520886" y="36474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74" name="Google Shape;474;p44"/>
            <p:cNvSpPr/>
            <p:nvPr/>
          </p:nvSpPr>
          <p:spPr>
            <a:xfrm rot="-2699590">
              <a:off x="7184166" y="22452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75" name="Google Shape;475;p44"/>
            <p:cNvSpPr/>
            <p:nvPr/>
          </p:nvSpPr>
          <p:spPr>
            <a:xfrm rot="-2699590">
              <a:off x="6716478" y="11666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76" name="Google Shape;476;p44"/>
            <p:cNvSpPr/>
            <p:nvPr/>
          </p:nvSpPr>
          <p:spPr>
            <a:xfrm rot="-2699590">
              <a:off x="5940318" y="35714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77" name="Google Shape;477;p44"/>
            <p:cNvSpPr/>
            <p:nvPr/>
          </p:nvSpPr>
          <p:spPr>
            <a:xfrm>
              <a:off x="6778080" y="2891160"/>
              <a:ext cx="1596300" cy="1596300"/>
            </a:xfrm>
            <a:prstGeom prst="ellipse">
              <a:avLst/>
            </a:prstGeom>
            <a:noFill/>
            <a:ln cap="flat" cmpd="sng" w="9525">
              <a:solidFill>
                <a:srgbClr val="F8F8F8"/>
              </a:solidFill>
              <a:prstDash val="lg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478" name="Google Shape;478;p44"/>
          <p:cNvSpPr/>
          <p:nvPr/>
        </p:nvSpPr>
        <p:spPr>
          <a:xfrm>
            <a:off x="5397480" y="1055160"/>
            <a:ext cx="3033000" cy="3033000"/>
          </a:xfrm>
          <a:prstGeom prst="ellipse">
            <a:avLst/>
          </a:prstGeom>
          <a:blipFill rotWithShape="1">
            <a:blip r:embed="rId3">
              <a:alphaModFix/>
            </a:blip>
            <a:stretch>
              <a:fillRect b="0" l="0" r="0" t="0"/>
            </a:stretch>
          </a:blipFill>
          <a:ln cap="flat" cmpd="sng" w="38100">
            <a:solidFill>
              <a:srgbClr val="F8F8F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479" name="Google Shape;479;p44"/>
          <p:cNvGrpSpPr/>
          <p:nvPr/>
        </p:nvGrpSpPr>
        <p:grpSpPr>
          <a:xfrm>
            <a:off x="5405271" y="1044240"/>
            <a:ext cx="3160020" cy="3290700"/>
            <a:chOff x="5405271" y="1044240"/>
            <a:chExt cx="3160020" cy="3290700"/>
          </a:xfrm>
        </p:grpSpPr>
        <p:sp>
          <p:nvSpPr>
            <p:cNvPr id="480" name="Google Shape;480;p44"/>
            <p:cNvSpPr/>
            <p:nvPr/>
          </p:nvSpPr>
          <p:spPr>
            <a:xfrm rot="-2700000">
              <a:off x="7674867" y="13795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81" name="Google Shape;481;p44"/>
            <p:cNvSpPr/>
            <p:nvPr/>
          </p:nvSpPr>
          <p:spPr>
            <a:xfrm rot="-2700000">
              <a:off x="5299947" y="38851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482" name="Google Shape;482;p44"/>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483" name="Google Shape;483;p44"/>
          <p:cNvSpPr txBox="1"/>
          <p:nvPr>
            <p:ph type="title"/>
          </p:nvPr>
        </p:nvSpPr>
        <p:spPr>
          <a:xfrm>
            <a:off x="346028" y="1948375"/>
            <a:ext cx="6990900" cy="818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Roles</a:t>
            </a:r>
            <a:endParaRPr b="1" sz="3200" u="none" strike="noStrike">
              <a:solidFill>
                <a:schemeClr val="dk1"/>
              </a:solidFill>
              <a:latin typeface="Roboto"/>
              <a:ea typeface="Roboto"/>
              <a:cs typeface="Roboto"/>
              <a:sym typeface="Roboto"/>
            </a:endParaRPr>
          </a:p>
        </p:txBody>
      </p:sp>
      <p:pic>
        <p:nvPicPr>
          <p:cNvPr id="484" name="Google Shape;484;p44"/>
          <p:cNvPicPr preferRelativeResize="0"/>
          <p:nvPr/>
        </p:nvPicPr>
        <p:blipFill rotWithShape="1">
          <a:blip r:embed="rId4">
            <a:alphaModFix/>
          </a:blip>
          <a:srcRect b="23569" l="13106" r="12884" t="8876"/>
          <a:stretch/>
        </p:blipFill>
        <p:spPr>
          <a:xfrm>
            <a:off x="1673125" y="921695"/>
            <a:ext cx="2843001" cy="272874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45"/>
          <p:cNvSpPr txBox="1"/>
          <p:nvPr>
            <p:ph type="title"/>
          </p:nvPr>
        </p:nvSpPr>
        <p:spPr>
          <a:xfrm>
            <a:off x="167400" y="153650"/>
            <a:ext cx="7010700" cy="8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3200">
                <a:latin typeface="Roboto"/>
                <a:ea typeface="Roboto"/>
                <a:cs typeface="Roboto"/>
                <a:sym typeface="Roboto"/>
              </a:rPr>
              <a:t>Roles</a:t>
            </a:r>
            <a:endParaRPr b="1" sz="3200">
              <a:latin typeface="Roboto"/>
              <a:ea typeface="Roboto"/>
              <a:cs typeface="Roboto"/>
              <a:sym typeface="Roboto"/>
            </a:endParaRPr>
          </a:p>
        </p:txBody>
      </p:sp>
      <p:sp>
        <p:nvSpPr>
          <p:cNvPr id="490" name="Google Shape;490;p45"/>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491" name="Google Shape;491;p45" title="gemini-2.5-flash-image-preview (nano-banana)_make_it_round_for_pr.png"/>
          <p:cNvPicPr preferRelativeResize="0"/>
          <p:nvPr/>
        </p:nvPicPr>
        <p:blipFill>
          <a:blip r:embed="rId3">
            <a:alphaModFix/>
          </a:blip>
          <a:stretch>
            <a:fillRect/>
          </a:stretch>
        </p:blipFill>
        <p:spPr>
          <a:xfrm>
            <a:off x="1639800" y="926900"/>
            <a:ext cx="2182626" cy="2990976"/>
          </a:xfrm>
          <a:prstGeom prst="rect">
            <a:avLst/>
          </a:prstGeom>
          <a:noFill/>
          <a:ln>
            <a:noFill/>
          </a:ln>
        </p:spPr>
      </p:pic>
      <p:pic>
        <p:nvPicPr>
          <p:cNvPr id="492" name="Google Shape;492;p45" title="gemini-2.5-flash-image-preview (nano-banana)_white_background_on_.png"/>
          <p:cNvPicPr preferRelativeResize="0"/>
          <p:nvPr/>
        </p:nvPicPr>
        <p:blipFill>
          <a:blip r:embed="rId4">
            <a:alphaModFix/>
          </a:blip>
          <a:stretch>
            <a:fillRect/>
          </a:stretch>
        </p:blipFill>
        <p:spPr>
          <a:xfrm>
            <a:off x="4775950" y="340000"/>
            <a:ext cx="2370225" cy="4147876"/>
          </a:xfrm>
          <a:prstGeom prst="rect">
            <a:avLst/>
          </a:prstGeom>
          <a:noFill/>
          <a:ln>
            <a:noFill/>
          </a:ln>
        </p:spPr>
      </p:pic>
      <p:sp>
        <p:nvSpPr>
          <p:cNvPr id="493" name="Google Shape;493;p45"/>
          <p:cNvSpPr txBox="1"/>
          <p:nvPr/>
        </p:nvSpPr>
        <p:spPr>
          <a:xfrm>
            <a:off x="1639800" y="3779050"/>
            <a:ext cx="2591700" cy="868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300">
                <a:highlight>
                  <a:srgbClr val="FFFFFF"/>
                </a:highlight>
                <a:latin typeface="Roboto"/>
                <a:ea typeface="Roboto"/>
                <a:cs typeface="Roboto"/>
                <a:sym typeface="Roboto"/>
              </a:rPr>
              <a:t>SCRUM MASTER |</a:t>
            </a:r>
            <a:endParaRPr b="1" sz="1300">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rPr b="1" lang="en-US" sz="1300">
                <a:highlight>
                  <a:srgbClr val="FFFFFF"/>
                </a:highlight>
                <a:latin typeface="Roboto"/>
                <a:ea typeface="Roboto"/>
                <a:cs typeface="Roboto"/>
                <a:sym typeface="Roboto"/>
              </a:rPr>
              <a:t>DEVELOPMENT TEAM</a:t>
            </a:r>
            <a:endParaRPr b="1" sz="1300">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rPr lang="en-US" sz="1300">
                <a:highlight>
                  <a:srgbClr val="FFFFFF"/>
                </a:highlight>
                <a:latin typeface="Roboto"/>
                <a:ea typeface="Roboto"/>
                <a:cs typeface="Roboto"/>
                <a:sym typeface="Roboto"/>
              </a:rPr>
              <a:t>Jaime Vicencio</a:t>
            </a:r>
            <a:endParaRPr sz="1300">
              <a:highlight>
                <a:srgbClr val="FFFFFF"/>
              </a:highlight>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p:txBody>
      </p:sp>
      <p:sp>
        <p:nvSpPr>
          <p:cNvPr id="494" name="Google Shape;494;p45"/>
          <p:cNvSpPr txBox="1"/>
          <p:nvPr/>
        </p:nvSpPr>
        <p:spPr>
          <a:xfrm>
            <a:off x="4811575" y="3779050"/>
            <a:ext cx="2591700" cy="868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300">
                <a:highlight>
                  <a:srgbClr val="FFFFFF"/>
                </a:highlight>
                <a:latin typeface="Roboto"/>
                <a:ea typeface="Roboto"/>
                <a:cs typeface="Roboto"/>
                <a:sym typeface="Roboto"/>
              </a:rPr>
              <a:t>PRODUCT OWNER</a:t>
            </a:r>
            <a:r>
              <a:rPr b="1" lang="en-US" sz="1300">
                <a:highlight>
                  <a:srgbClr val="FFFFFF"/>
                </a:highlight>
                <a:latin typeface="Roboto"/>
                <a:ea typeface="Roboto"/>
                <a:cs typeface="Roboto"/>
                <a:sym typeface="Roboto"/>
              </a:rPr>
              <a:t> |</a:t>
            </a:r>
            <a:endParaRPr b="1" sz="1300">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rPr b="1" lang="en-US" sz="1300">
                <a:highlight>
                  <a:srgbClr val="FFFFFF"/>
                </a:highlight>
                <a:latin typeface="Roboto"/>
                <a:ea typeface="Roboto"/>
                <a:cs typeface="Roboto"/>
                <a:sym typeface="Roboto"/>
              </a:rPr>
              <a:t>DEVELOPMENT TEAM</a:t>
            </a:r>
            <a:endParaRPr b="1" sz="1300">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rPr lang="en-US" sz="1300">
                <a:highlight>
                  <a:srgbClr val="FFFFFF"/>
                </a:highlight>
                <a:latin typeface="Roboto"/>
                <a:ea typeface="Roboto"/>
                <a:cs typeface="Roboto"/>
                <a:sym typeface="Roboto"/>
              </a:rPr>
              <a:t>Boris Arriagada</a:t>
            </a:r>
            <a:endParaRPr sz="1300">
              <a:highlight>
                <a:srgbClr val="FFFFFF"/>
              </a:highlight>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grpSp>
        <p:nvGrpSpPr>
          <p:cNvPr id="499" name="Google Shape;499;p46"/>
          <p:cNvGrpSpPr/>
          <p:nvPr/>
        </p:nvGrpSpPr>
        <p:grpSpPr>
          <a:xfrm>
            <a:off x="3978720" y="6840"/>
            <a:ext cx="5164200" cy="5143200"/>
            <a:chOff x="3978720" y="6840"/>
            <a:chExt cx="5164200" cy="5143200"/>
          </a:xfrm>
        </p:grpSpPr>
        <p:sp>
          <p:nvSpPr>
            <p:cNvPr id="500" name="Google Shape;500;p46"/>
            <p:cNvSpPr/>
            <p:nvPr/>
          </p:nvSpPr>
          <p:spPr>
            <a:xfrm flipH="1">
              <a:off x="3978720" y="6840"/>
              <a:ext cx="5164200" cy="51432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01" name="Google Shape;501;p46"/>
            <p:cNvSpPr/>
            <p:nvPr/>
          </p:nvSpPr>
          <p:spPr>
            <a:xfrm rot="-2699590">
              <a:off x="4520886" y="36474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02" name="Google Shape;502;p46"/>
            <p:cNvSpPr/>
            <p:nvPr/>
          </p:nvSpPr>
          <p:spPr>
            <a:xfrm rot="-2699590">
              <a:off x="7184166" y="22452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03" name="Google Shape;503;p46"/>
            <p:cNvSpPr/>
            <p:nvPr/>
          </p:nvSpPr>
          <p:spPr>
            <a:xfrm rot="-2699590">
              <a:off x="6716478" y="11666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4" name="Google Shape;504;p46"/>
            <p:cNvSpPr/>
            <p:nvPr/>
          </p:nvSpPr>
          <p:spPr>
            <a:xfrm rot="-2699590">
              <a:off x="5940318" y="35714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5" name="Google Shape;505;p46"/>
            <p:cNvSpPr/>
            <p:nvPr/>
          </p:nvSpPr>
          <p:spPr>
            <a:xfrm>
              <a:off x="6778080" y="2891160"/>
              <a:ext cx="1596300" cy="1596300"/>
            </a:xfrm>
            <a:prstGeom prst="ellipse">
              <a:avLst/>
            </a:prstGeom>
            <a:noFill/>
            <a:ln cap="flat" cmpd="sng" w="9525">
              <a:solidFill>
                <a:srgbClr val="F8F8F8"/>
              </a:solidFill>
              <a:prstDash val="lg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506" name="Google Shape;506;p46"/>
          <p:cNvSpPr/>
          <p:nvPr/>
        </p:nvSpPr>
        <p:spPr>
          <a:xfrm>
            <a:off x="5397480" y="1055160"/>
            <a:ext cx="3033000" cy="3033000"/>
          </a:xfrm>
          <a:prstGeom prst="ellipse">
            <a:avLst/>
          </a:prstGeom>
          <a:blipFill rotWithShape="1">
            <a:blip r:embed="rId3">
              <a:alphaModFix/>
            </a:blip>
            <a:stretch>
              <a:fillRect b="0" l="0" r="0" t="0"/>
            </a:stretch>
          </a:blipFill>
          <a:ln cap="flat" cmpd="sng" w="38100">
            <a:solidFill>
              <a:srgbClr val="F8F8F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507" name="Google Shape;507;p46"/>
          <p:cNvGrpSpPr/>
          <p:nvPr/>
        </p:nvGrpSpPr>
        <p:grpSpPr>
          <a:xfrm>
            <a:off x="5405271" y="1044240"/>
            <a:ext cx="3160020" cy="3290700"/>
            <a:chOff x="5405271" y="1044240"/>
            <a:chExt cx="3160020" cy="3290700"/>
          </a:xfrm>
        </p:grpSpPr>
        <p:sp>
          <p:nvSpPr>
            <p:cNvPr id="508" name="Google Shape;508;p46"/>
            <p:cNvSpPr/>
            <p:nvPr/>
          </p:nvSpPr>
          <p:spPr>
            <a:xfrm rot="-2700000">
              <a:off x="7674867" y="13795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9" name="Google Shape;509;p46"/>
            <p:cNvSpPr/>
            <p:nvPr/>
          </p:nvSpPr>
          <p:spPr>
            <a:xfrm rot="-2700000">
              <a:off x="5299947" y="38851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510" name="Google Shape;510;p46"/>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511" name="Google Shape;511;p46"/>
          <p:cNvSpPr txBox="1"/>
          <p:nvPr>
            <p:ph type="title"/>
          </p:nvPr>
        </p:nvSpPr>
        <p:spPr>
          <a:xfrm>
            <a:off x="346028" y="1948375"/>
            <a:ext cx="6990900" cy="818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Evidencias</a:t>
            </a:r>
            <a:endParaRPr b="1" sz="3200" u="none" strike="noStrike">
              <a:solidFill>
                <a:schemeClr val="dk1"/>
              </a:solidFill>
              <a:latin typeface="Roboto"/>
              <a:ea typeface="Roboto"/>
              <a:cs typeface="Roboto"/>
              <a:sym typeface="Roboto"/>
            </a:endParaRPr>
          </a:p>
        </p:txBody>
      </p:sp>
      <p:pic>
        <p:nvPicPr>
          <p:cNvPr id="512" name="Google Shape;512;p46"/>
          <p:cNvPicPr preferRelativeResize="0"/>
          <p:nvPr/>
        </p:nvPicPr>
        <p:blipFill>
          <a:blip r:embed="rId4">
            <a:alphaModFix/>
          </a:blip>
          <a:stretch>
            <a:fillRect/>
          </a:stretch>
        </p:blipFill>
        <p:spPr>
          <a:xfrm>
            <a:off x="2708225" y="1255400"/>
            <a:ext cx="2159468" cy="20716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47"/>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518" name="Google Shape;518;p47"/>
          <p:cNvSpPr txBox="1"/>
          <p:nvPr>
            <p:ph type="title"/>
          </p:nvPr>
        </p:nvSpPr>
        <p:spPr>
          <a:xfrm>
            <a:off x="3483900" y="126625"/>
            <a:ext cx="2176200" cy="551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Evidencias</a:t>
            </a:r>
            <a:endParaRPr b="1" sz="3200" u="none" strike="noStrike">
              <a:solidFill>
                <a:schemeClr val="dk1"/>
              </a:solidFill>
              <a:latin typeface="Roboto"/>
              <a:ea typeface="Roboto"/>
              <a:cs typeface="Roboto"/>
              <a:sym typeface="Roboto"/>
            </a:endParaRPr>
          </a:p>
        </p:txBody>
      </p:sp>
      <p:grpSp>
        <p:nvGrpSpPr>
          <p:cNvPr id="519" name="Google Shape;519;p47"/>
          <p:cNvGrpSpPr/>
          <p:nvPr/>
        </p:nvGrpSpPr>
        <p:grpSpPr>
          <a:xfrm>
            <a:off x="714277" y="1483160"/>
            <a:ext cx="3689296" cy="2608119"/>
            <a:chOff x="1270266" y="940260"/>
            <a:chExt cx="6280721" cy="2608119"/>
          </a:xfrm>
        </p:grpSpPr>
        <p:grpSp>
          <p:nvGrpSpPr>
            <p:cNvPr id="520" name="Google Shape;520;p47"/>
            <p:cNvGrpSpPr/>
            <p:nvPr/>
          </p:nvGrpSpPr>
          <p:grpSpPr>
            <a:xfrm>
              <a:off x="1270266" y="1595119"/>
              <a:ext cx="6280721" cy="643500"/>
              <a:chOff x="1270254" y="2322568"/>
              <a:chExt cx="6280721" cy="643500"/>
            </a:xfrm>
          </p:grpSpPr>
          <p:sp>
            <p:nvSpPr>
              <p:cNvPr id="521" name="Google Shape;521;p47"/>
              <p:cNvSpPr/>
              <p:nvPr/>
            </p:nvSpPr>
            <p:spPr>
              <a:xfrm>
                <a:off x="3728375" y="2322568"/>
                <a:ext cx="3822600" cy="643500"/>
              </a:xfrm>
              <a:prstGeom prst="rect">
                <a:avLst/>
              </a:prstGeom>
              <a:solidFill>
                <a:srgbClr val="F8F8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47"/>
              <p:cNvSpPr/>
              <p:nvPr/>
            </p:nvSpPr>
            <p:spPr>
              <a:xfrm flipH="1">
                <a:off x="2283025" y="2322575"/>
                <a:ext cx="1844400" cy="64260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47"/>
              <p:cNvSpPr/>
              <p:nvPr/>
            </p:nvSpPr>
            <p:spPr>
              <a:xfrm rot="-5400000">
                <a:off x="3501574" y="1934671"/>
                <a:ext cx="643356" cy="1419149"/>
              </a:xfrm>
              <a:prstGeom prst="flowChartOffpageConnector">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47"/>
              <p:cNvSpPr/>
              <p:nvPr/>
            </p:nvSpPr>
            <p:spPr>
              <a:xfrm>
                <a:off x="2342625" y="2399951"/>
                <a:ext cx="19407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1000">
                    <a:latin typeface="Roboto Medium"/>
                    <a:ea typeface="Roboto Medium"/>
                    <a:cs typeface="Roboto Medium"/>
                    <a:sym typeface="Roboto Medium"/>
                  </a:rPr>
                  <a:t>PLANIFICACIÓN DEL SPRINT</a:t>
                </a:r>
                <a:endParaRPr sz="1000">
                  <a:latin typeface="Roboto"/>
                  <a:ea typeface="Roboto"/>
                  <a:cs typeface="Roboto"/>
                  <a:sym typeface="Roboto"/>
                </a:endParaRPr>
              </a:p>
            </p:txBody>
          </p:sp>
          <p:sp>
            <p:nvSpPr>
              <p:cNvPr id="525" name="Google Shape;525;p47"/>
              <p:cNvSpPr/>
              <p:nvPr/>
            </p:nvSpPr>
            <p:spPr>
              <a:xfrm>
                <a:off x="1593000" y="2322568"/>
                <a:ext cx="690000" cy="642300"/>
              </a:xfrm>
              <a:prstGeom prst="rect">
                <a:avLst/>
              </a:prstGeom>
              <a:solidFill>
                <a:srgbClr val="B02B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47"/>
              <p:cNvSpPr/>
              <p:nvPr/>
            </p:nvSpPr>
            <p:spPr>
              <a:xfrm>
                <a:off x="1270254" y="2322572"/>
                <a:ext cx="1012800" cy="642600"/>
              </a:xfrm>
              <a:prstGeom prst="rect">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600">
                    <a:latin typeface="Roboto Thin"/>
                    <a:ea typeface="Roboto Thin"/>
                    <a:cs typeface="Roboto Thin"/>
                    <a:sym typeface="Roboto Thin"/>
                  </a:rPr>
                  <a:t>02</a:t>
                </a:r>
                <a:endParaRPr sz="2600">
                  <a:latin typeface="Roboto Thin"/>
                  <a:ea typeface="Roboto Thin"/>
                  <a:cs typeface="Roboto Thin"/>
                  <a:sym typeface="Roboto Thin"/>
                </a:endParaRPr>
              </a:p>
            </p:txBody>
          </p:sp>
          <p:sp>
            <p:nvSpPr>
              <p:cNvPr id="527" name="Google Shape;527;p47"/>
              <p:cNvSpPr/>
              <p:nvPr/>
            </p:nvSpPr>
            <p:spPr>
              <a:xfrm>
                <a:off x="4387850" y="2323750"/>
                <a:ext cx="2971200" cy="642300"/>
              </a:xfrm>
              <a:prstGeom prst="rect">
                <a:avLst/>
              </a:prstGeom>
              <a:solidFill>
                <a:srgbClr val="F8F8F8"/>
              </a:solidFill>
              <a:ln>
                <a:noFill/>
              </a:ln>
            </p:spPr>
            <p:txBody>
              <a:bodyPr anchorCtr="0" anchor="ctr" bIns="91425" lIns="91425" spcFirstLastPara="1" rIns="91425" wrap="square" tIns="91425">
                <a:noAutofit/>
              </a:bodyPr>
              <a:lstStyle/>
              <a:p>
                <a:pPr indent="-279400" lvl="0" marL="457200" rtl="0" algn="l">
                  <a:lnSpc>
                    <a:spcPct val="115000"/>
                  </a:lnSpc>
                  <a:spcBef>
                    <a:spcPts val="0"/>
                  </a:spcBef>
                  <a:spcAft>
                    <a:spcPts val="0"/>
                  </a:spcAft>
                  <a:buSzPts val="800"/>
                  <a:buFont typeface="Roboto"/>
                  <a:buChar char="●"/>
                </a:pPr>
                <a:r>
                  <a:rPr lang="en-US" sz="800">
                    <a:latin typeface="Roboto"/>
                    <a:ea typeface="Roboto"/>
                    <a:cs typeface="Roboto"/>
                    <a:sym typeface="Roboto"/>
                  </a:rPr>
                  <a:t>Sprint Backlog</a:t>
                </a:r>
                <a:r>
                  <a:rPr lang="en-US" sz="800">
                    <a:latin typeface="Roboto"/>
                    <a:ea typeface="Roboto"/>
                    <a:cs typeface="Roboto"/>
                    <a:sym typeface="Roboto"/>
                  </a:rPr>
                  <a:t> </a:t>
                </a:r>
                <a:endParaRPr sz="800">
                  <a:latin typeface="Roboto"/>
                  <a:ea typeface="Roboto"/>
                  <a:cs typeface="Roboto"/>
                  <a:sym typeface="Roboto"/>
                </a:endParaRPr>
              </a:p>
              <a:p>
                <a:pPr indent="-279400" lvl="0" marL="457200" rtl="0" algn="l">
                  <a:lnSpc>
                    <a:spcPct val="115000"/>
                  </a:lnSpc>
                  <a:spcBef>
                    <a:spcPts val="0"/>
                  </a:spcBef>
                  <a:spcAft>
                    <a:spcPts val="0"/>
                  </a:spcAft>
                  <a:buSzPts val="800"/>
                  <a:buFont typeface="Roboto"/>
                  <a:buChar char="●"/>
                </a:pPr>
                <a:r>
                  <a:rPr lang="en-US" sz="800">
                    <a:latin typeface="Roboto"/>
                    <a:ea typeface="Roboto"/>
                    <a:cs typeface="Roboto"/>
                    <a:sym typeface="Roboto"/>
                  </a:rPr>
                  <a:t>Tablero Kanban</a:t>
                </a:r>
                <a:endParaRPr sz="800">
                  <a:latin typeface="Roboto"/>
                  <a:ea typeface="Roboto"/>
                  <a:cs typeface="Roboto"/>
                  <a:sym typeface="Roboto"/>
                </a:endParaRPr>
              </a:p>
              <a:p>
                <a:pPr indent="0" lvl="0" marL="457200" rtl="0" algn="l">
                  <a:lnSpc>
                    <a:spcPct val="115000"/>
                  </a:lnSpc>
                  <a:spcBef>
                    <a:spcPts val="0"/>
                  </a:spcBef>
                  <a:spcAft>
                    <a:spcPts val="0"/>
                  </a:spcAft>
                  <a:buNone/>
                </a:pPr>
                <a:r>
                  <a:t/>
                </a:r>
                <a:endParaRPr sz="800">
                  <a:latin typeface="Roboto"/>
                  <a:ea typeface="Roboto"/>
                  <a:cs typeface="Roboto"/>
                  <a:sym typeface="Roboto"/>
                </a:endParaRPr>
              </a:p>
            </p:txBody>
          </p:sp>
        </p:grpSp>
        <p:grpSp>
          <p:nvGrpSpPr>
            <p:cNvPr id="528" name="Google Shape;528;p47"/>
            <p:cNvGrpSpPr/>
            <p:nvPr/>
          </p:nvGrpSpPr>
          <p:grpSpPr>
            <a:xfrm>
              <a:off x="1270266" y="2250012"/>
              <a:ext cx="6280721" cy="643500"/>
              <a:chOff x="1270254" y="2322568"/>
              <a:chExt cx="6280721" cy="643500"/>
            </a:xfrm>
          </p:grpSpPr>
          <p:sp>
            <p:nvSpPr>
              <p:cNvPr id="529" name="Google Shape;529;p47"/>
              <p:cNvSpPr/>
              <p:nvPr/>
            </p:nvSpPr>
            <p:spPr>
              <a:xfrm>
                <a:off x="3728375" y="2322568"/>
                <a:ext cx="3822600" cy="643500"/>
              </a:xfrm>
              <a:prstGeom prst="rect">
                <a:avLst/>
              </a:prstGeom>
              <a:solidFill>
                <a:srgbClr val="F8F8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47"/>
              <p:cNvSpPr/>
              <p:nvPr/>
            </p:nvSpPr>
            <p:spPr>
              <a:xfrm flipH="1">
                <a:off x="2283025" y="2322575"/>
                <a:ext cx="1844400" cy="64260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47"/>
              <p:cNvSpPr/>
              <p:nvPr/>
            </p:nvSpPr>
            <p:spPr>
              <a:xfrm rot="-5400000">
                <a:off x="3501574" y="1934671"/>
                <a:ext cx="643356" cy="1419149"/>
              </a:xfrm>
              <a:prstGeom prst="flowChartOffpageConnector">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47"/>
              <p:cNvSpPr/>
              <p:nvPr/>
            </p:nvSpPr>
            <p:spPr>
              <a:xfrm>
                <a:off x="2342625" y="2399951"/>
                <a:ext cx="1940700" cy="49590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1000">
                    <a:latin typeface="Roboto Medium"/>
                    <a:ea typeface="Roboto Medium"/>
                    <a:cs typeface="Roboto Medium"/>
                    <a:sym typeface="Roboto Medium"/>
                  </a:rPr>
                  <a:t>SEGUIMIENTO DEL PROGRESO</a:t>
                </a:r>
                <a:endParaRPr sz="1000">
                  <a:latin typeface="Roboto"/>
                  <a:ea typeface="Roboto"/>
                  <a:cs typeface="Roboto"/>
                  <a:sym typeface="Roboto"/>
                </a:endParaRPr>
              </a:p>
            </p:txBody>
          </p:sp>
          <p:sp>
            <p:nvSpPr>
              <p:cNvPr id="533" name="Google Shape;533;p47"/>
              <p:cNvSpPr/>
              <p:nvPr/>
            </p:nvSpPr>
            <p:spPr>
              <a:xfrm>
                <a:off x="1593000" y="2322568"/>
                <a:ext cx="690000" cy="642300"/>
              </a:xfrm>
              <a:prstGeom prst="rect">
                <a:avLst/>
              </a:prstGeom>
              <a:solidFill>
                <a:srgbClr val="B02B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47"/>
              <p:cNvSpPr/>
              <p:nvPr/>
            </p:nvSpPr>
            <p:spPr>
              <a:xfrm>
                <a:off x="1270254" y="2322574"/>
                <a:ext cx="1012800" cy="642600"/>
              </a:xfrm>
              <a:prstGeom prst="rect">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600">
                    <a:latin typeface="Roboto Thin"/>
                    <a:ea typeface="Roboto Thin"/>
                    <a:cs typeface="Roboto Thin"/>
                    <a:sym typeface="Roboto Thin"/>
                  </a:rPr>
                  <a:t>03</a:t>
                </a:r>
                <a:endParaRPr sz="2600">
                  <a:latin typeface="Roboto Thin"/>
                  <a:ea typeface="Roboto Thin"/>
                  <a:cs typeface="Roboto Thin"/>
                  <a:sym typeface="Roboto Thin"/>
                </a:endParaRPr>
              </a:p>
            </p:txBody>
          </p:sp>
          <p:sp>
            <p:nvSpPr>
              <p:cNvPr id="535" name="Google Shape;535;p47"/>
              <p:cNvSpPr/>
              <p:nvPr/>
            </p:nvSpPr>
            <p:spPr>
              <a:xfrm>
                <a:off x="4387850" y="2323750"/>
                <a:ext cx="2971200" cy="642300"/>
              </a:xfrm>
              <a:prstGeom prst="rect">
                <a:avLst/>
              </a:prstGeom>
              <a:solidFill>
                <a:srgbClr val="F8F8F8"/>
              </a:solidFill>
              <a:ln>
                <a:noFill/>
              </a:ln>
            </p:spPr>
            <p:txBody>
              <a:bodyPr anchorCtr="0" anchor="ctr" bIns="91425" lIns="91425" spcFirstLastPara="1" rIns="91425" wrap="square" tIns="91425">
                <a:noAutofit/>
              </a:bodyPr>
              <a:lstStyle/>
              <a:p>
                <a:pPr indent="-279400" lvl="0" marL="457200" rtl="0" algn="l">
                  <a:lnSpc>
                    <a:spcPct val="115000"/>
                  </a:lnSpc>
                  <a:spcBef>
                    <a:spcPts val="0"/>
                  </a:spcBef>
                  <a:spcAft>
                    <a:spcPts val="0"/>
                  </a:spcAft>
                  <a:buSzPts val="800"/>
                  <a:buFont typeface="Roboto"/>
                  <a:buChar char="●"/>
                </a:pPr>
                <a:r>
                  <a:rPr lang="en-US" sz="800">
                    <a:latin typeface="Roboto"/>
                    <a:ea typeface="Roboto"/>
                    <a:cs typeface="Roboto"/>
                    <a:sym typeface="Roboto"/>
                  </a:rPr>
                  <a:t>Burndown Chart</a:t>
                </a:r>
                <a:endParaRPr sz="800">
                  <a:latin typeface="Roboto"/>
                  <a:ea typeface="Roboto"/>
                  <a:cs typeface="Roboto"/>
                  <a:sym typeface="Roboto"/>
                </a:endParaRPr>
              </a:p>
              <a:p>
                <a:pPr indent="-279400" lvl="0" marL="457200" rtl="0" algn="l">
                  <a:lnSpc>
                    <a:spcPct val="115000"/>
                  </a:lnSpc>
                  <a:spcBef>
                    <a:spcPts val="0"/>
                  </a:spcBef>
                  <a:spcAft>
                    <a:spcPts val="0"/>
                  </a:spcAft>
                  <a:buSzPts val="800"/>
                  <a:buFont typeface="Roboto"/>
                  <a:buChar char="●"/>
                </a:pPr>
                <a:r>
                  <a:rPr lang="en-US" sz="800">
                    <a:latin typeface="Roboto"/>
                    <a:ea typeface="Roboto"/>
                    <a:cs typeface="Roboto"/>
                    <a:sym typeface="Roboto"/>
                  </a:rPr>
                  <a:t>Riesgos</a:t>
                </a:r>
                <a:endParaRPr sz="800">
                  <a:latin typeface="Roboto"/>
                  <a:ea typeface="Roboto"/>
                  <a:cs typeface="Roboto"/>
                  <a:sym typeface="Roboto"/>
                </a:endParaRPr>
              </a:p>
              <a:p>
                <a:pPr indent="-279400" lvl="0" marL="457200" rtl="0" algn="l">
                  <a:lnSpc>
                    <a:spcPct val="115000"/>
                  </a:lnSpc>
                  <a:spcBef>
                    <a:spcPts val="0"/>
                  </a:spcBef>
                  <a:spcAft>
                    <a:spcPts val="0"/>
                  </a:spcAft>
                  <a:buSzPts val="800"/>
                  <a:buFont typeface="Roboto"/>
                  <a:buChar char="●"/>
                </a:pPr>
                <a:r>
                  <a:rPr lang="en-US" sz="800">
                    <a:latin typeface="Roboto"/>
                    <a:ea typeface="Roboto"/>
                    <a:cs typeface="Roboto"/>
                    <a:sym typeface="Roboto"/>
                  </a:rPr>
                  <a:t>Impediment Log</a:t>
                </a:r>
                <a:endParaRPr sz="800">
                  <a:latin typeface="Roboto"/>
                  <a:ea typeface="Roboto"/>
                  <a:cs typeface="Roboto"/>
                  <a:sym typeface="Roboto"/>
                </a:endParaRPr>
              </a:p>
              <a:p>
                <a:pPr indent="-279400" lvl="0" marL="457200" rtl="0" algn="l">
                  <a:lnSpc>
                    <a:spcPct val="115000"/>
                  </a:lnSpc>
                  <a:spcBef>
                    <a:spcPts val="0"/>
                  </a:spcBef>
                  <a:spcAft>
                    <a:spcPts val="0"/>
                  </a:spcAft>
                  <a:buSzPts val="800"/>
                  <a:buFont typeface="Roboto"/>
                  <a:buChar char="●"/>
                </a:pPr>
                <a:r>
                  <a:rPr lang="en-US" sz="800">
                    <a:latin typeface="Roboto"/>
                    <a:ea typeface="Roboto"/>
                    <a:cs typeface="Roboto"/>
                    <a:sym typeface="Roboto"/>
                  </a:rPr>
                  <a:t>Daily Meeting</a:t>
                </a:r>
                <a:endParaRPr sz="800">
                  <a:latin typeface="Roboto"/>
                  <a:ea typeface="Roboto"/>
                  <a:cs typeface="Roboto"/>
                  <a:sym typeface="Roboto"/>
                </a:endParaRPr>
              </a:p>
            </p:txBody>
          </p:sp>
        </p:grpSp>
        <p:grpSp>
          <p:nvGrpSpPr>
            <p:cNvPr id="536" name="Google Shape;536;p47"/>
            <p:cNvGrpSpPr/>
            <p:nvPr/>
          </p:nvGrpSpPr>
          <p:grpSpPr>
            <a:xfrm>
              <a:off x="1270266" y="940260"/>
              <a:ext cx="6280721" cy="643500"/>
              <a:chOff x="1270254" y="2322568"/>
              <a:chExt cx="6280721" cy="643500"/>
            </a:xfrm>
          </p:grpSpPr>
          <p:sp>
            <p:nvSpPr>
              <p:cNvPr id="537" name="Google Shape;537;p47"/>
              <p:cNvSpPr/>
              <p:nvPr/>
            </p:nvSpPr>
            <p:spPr>
              <a:xfrm>
                <a:off x="3728375" y="2322568"/>
                <a:ext cx="3822600" cy="643500"/>
              </a:xfrm>
              <a:prstGeom prst="rect">
                <a:avLst/>
              </a:prstGeom>
              <a:solidFill>
                <a:srgbClr val="F8F8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47"/>
              <p:cNvSpPr/>
              <p:nvPr/>
            </p:nvSpPr>
            <p:spPr>
              <a:xfrm flipH="1">
                <a:off x="2283025" y="2322575"/>
                <a:ext cx="1844400" cy="64260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47"/>
              <p:cNvSpPr/>
              <p:nvPr/>
            </p:nvSpPr>
            <p:spPr>
              <a:xfrm rot="-5400000">
                <a:off x="3501574" y="1934671"/>
                <a:ext cx="643356" cy="1419149"/>
              </a:xfrm>
              <a:prstGeom prst="flowChartOffpageConnector">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47"/>
              <p:cNvSpPr/>
              <p:nvPr/>
            </p:nvSpPr>
            <p:spPr>
              <a:xfrm>
                <a:off x="2342625" y="2399951"/>
                <a:ext cx="1940700" cy="49590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1000">
                    <a:latin typeface="Roboto Medium"/>
                    <a:ea typeface="Roboto Medium"/>
                    <a:cs typeface="Roboto Medium"/>
                    <a:sym typeface="Roboto Medium"/>
                  </a:rPr>
                  <a:t>FUNDACIÓN ESTRATÉGICA</a:t>
                </a:r>
                <a:endParaRPr sz="1000">
                  <a:latin typeface="Roboto"/>
                  <a:ea typeface="Roboto"/>
                  <a:cs typeface="Roboto"/>
                  <a:sym typeface="Roboto"/>
                </a:endParaRPr>
              </a:p>
            </p:txBody>
          </p:sp>
          <p:sp>
            <p:nvSpPr>
              <p:cNvPr id="541" name="Google Shape;541;p47"/>
              <p:cNvSpPr/>
              <p:nvPr/>
            </p:nvSpPr>
            <p:spPr>
              <a:xfrm>
                <a:off x="1593000" y="2322568"/>
                <a:ext cx="690000" cy="642300"/>
              </a:xfrm>
              <a:prstGeom prst="rect">
                <a:avLst/>
              </a:prstGeom>
              <a:solidFill>
                <a:srgbClr val="B02B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47"/>
              <p:cNvSpPr/>
              <p:nvPr/>
            </p:nvSpPr>
            <p:spPr>
              <a:xfrm>
                <a:off x="1270254" y="2322570"/>
                <a:ext cx="1012800" cy="642600"/>
              </a:xfrm>
              <a:prstGeom prst="rect">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600">
                    <a:latin typeface="Roboto Thin"/>
                    <a:ea typeface="Roboto Thin"/>
                    <a:cs typeface="Roboto Thin"/>
                    <a:sym typeface="Roboto Thin"/>
                  </a:rPr>
                  <a:t>01</a:t>
                </a:r>
                <a:endParaRPr sz="2600">
                  <a:latin typeface="Roboto Thin"/>
                  <a:ea typeface="Roboto Thin"/>
                  <a:cs typeface="Roboto Thin"/>
                  <a:sym typeface="Roboto Thin"/>
                </a:endParaRPr>
              </a:p>
            </p:txBody>
          </p:sp>
          <p:sp>
            <p:nvSpPr>
              <p:cNvPr id="543" name="Google Shape;543;p47"/>
              <p:cNvSpPr/>
              <p:nvPr/>
            </p:nvSpPr>
            <p:spPr>
              <a:xfrm>
                <a:off x="4387850" y="2323750"/>
                <a:ext cx="2971200" cy="642300"/>
              </a:xfrm>
              <a:prstGeom prst="rect">
                <a:avLst/>
              </a:prstGeom>
              <a:solidFill>
                <a:srgbClr val="F8F8F8"/>
              </a:solidFill>
              <a:ln>
                <a:noFill/>
              </a:ln>
            </p:spPr>
            <p:txBody>
              <a:bodyPr anchorCtr="0" anchor="ctr" bIns="91425" lIns="91425" spcFirstLastPara="1" rIns="91425" wrap="square" tIns="91425">
                <a:noAutofit/>
              </a:bodyPr>
              <a:lstStyle/>
              <a:p>
                <a:pPr indent="-279400" lvl="0" marL="457200" rtl="0" algn="l">
                  <a:lnSpc>
                    <a:spcPct val="115000"/>
                  </a:lnSpc>
                  <a:spcBef>
                    <a:spcPts val="0"/>
                  </a:spcBef>
                  <a:spcAft>
                    <a:spcPts val="0"/>
                  </a:spcAft>
                  <a:buSzPts val="800"/>
                  <a:buFont typeface="Roboto"/>
                  <a:buChar char="●"/>
                </a:pPr>
                <a:r>
                  <a:rPr lang="en-US" sz="800">
                    <a:latin typeface="Roboto"/>
                    <a:ea typeface="Roboto"/>
                    <a:cs typeface="Roboto"/>
                    <a:sym typeface="Roboto"/>
                  </a:rPr>
                  <a:t>Historias de Usuario</a:t>
                </a:r>
                <a:endParaRPr sz="800">
                  <a:latin typeface="Roboto"/>
                  <a:ea typeface="Roboto"/>
                  <a:cs typeface="Roboto"/>
                  <a:sym typeface="Roboto"/>
                </a:endParaRPr>
              </a:p>
              <a:p>
                <a:pPr indent="-279400" lvl="0" marL="457200" rtl="0" algn="l">
                  <a:lnSpc>
                    <a:spcPct val="115000"/>
                  </a:lnSpc>
                  <a:spcBef>
                    <a:spcPts val="0"/>
                  </a:spcBef>
                  <a:spcAft>
                    <a:spcPts val="0"/>
                  </a:spcAft>
                  <a:buSzPts val="800"/>
                  <a:buFont typeface="Roboto"/>
                  <a:buChar char="●"/>
                </a:pPr>
                <a:r>
                  <a:rPr lang="en-US" sz="800">
                    <a:latin typeface="Roboto"/>
                    <a:ea typeface="Roboto"/>
                    <a:cs typeface="Roboto"/>
                    <a:sym typeface="Roboto"/>
                  </a:rPr>
                  <a:t>Product Backlog </a:t>
                </a:r>
                <a:endParaRPr sz="800">
                  <a:latin typeface="Roboto"/>
                  <a:ea typeface="Roboto"/>
                  <a:cs typeface="Roboto"/>
                  <a:sym typeface="Roboto"/>
                </a:endParaRPr>
              </a:p>
              <a:p>
                <a:pPr indent="-279400" lvl="0" marL="457200" rtl="0" algn="l">
                  <a:lnSpc>
                    <a:spcPct val="115000"/>
                  </a:lnSpc>
                  <a:spcBef>
                    <a:spcPts val="0"/>
                  </a:spcBef>
                  <a:spcAft>
                    <a:spcPts val="0"/>
                  </a:spcAft>
                  <a:buSzPts val="800"/>
                  <a:buFont typeface="Roboto"/>
                  <a:buChar char="●"/>
                </a:pPr>
                <a:r>
                  <a:rPr lang="en-US" sz="800">
                    <a:latin typeface="Roboto"/>
                    <a:ea typeface="Roboto"/>
                    <a:cs typeface="Roboto"/>
                    <a:sym typeface="Roboto"/>
                  </a:rPr>
                  <a:t>Arquitectura</a:t>
                </a:r>
                <a:endParaRPr sz="800">
                  <a:latin typeface="Roboto"/>
                  <a:ea typeface="Roboto"/>
                  <a:cs typeface="Roboto"/>
                  <a:sym typeface="Roboto"/>
                </a:endParaRPr>
              </a:p>
            </p:txBody>
          </p:sp>
        </p:grpSp>
        <p:grpSp>
          <p:nvGrpSpPr>
            <p:cNvPr id="544" name="Google Shape;544;p47"/>
            <p:cNvGrpSpPr/>
            <p:nvPr/>
          </p:nvGrpSpPr>
          <p:grpSpPr>
            <a:xfrm>
              <a:off x="1270266" y="2904879"/>
              <a:ext cx="6280721" cy="643500"/>
              <a:chOff x="1270254" y="2322568"/>
              <a:chExt cx="6280721" cy="643500"/>
            </a:xfrm>
          </p:grpSpPr>
          <p:sp>
            <p:nvSpPr>
              <p:cNvPr id="545" name="Google Shape;545;p47"/>
              <p:cNvSpPr/>
              <p:nvPr/>
            </p:nvSpPr>
            <p:spPr>
              <a:xfrm>
                <a:off x="3728375" y="2322568"/>
                <a:ext cx="3822600" cy="643500"/>
              </a:xfrm>
              <a:prstGeom prst="rect">
                <a:avLst/>
              </a:prstGeom>
              <a:solidFill>
                <a:srgbClr val="F8F8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47"/>
              <p:cNvSpPr/>
              <p:nvPr/>
            </p:nvSpPr>
            <p:spPr>
              <a:xfrm flipH="1">
                <a:off x="2283025" y="2322575"/>
                <a:ext cx="1844400" cy="64260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47"/>
              <p:cNvSpPr/>
              <p:nvPr/>
            </p:nvSpPr>
            <p:spPr>
              <a:xfrm rot="-5400000">
                <a:off x="3501574" y="1934671"/>
                <a:ext cx="643356" cy="1419149"/>
              </a:xfrm>
              <a:prstGeom prst="flowChartOffpageConnector">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47"/>
              <p:cNvSpPr/>
              <p:nvPr/>
            </p:nvSpPr>
            <p:spPr>
              <a:xfrm>
                <a:off x="2342625" y="2399951"/>
                <a:ext cx="1940700" cy="49590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1000">
                    <a:latin typeface="Roboto Medium"/>
                    <a:ea typeface="Roboto Medium"/>
                    <a:cs typeface="Roboto Medium"/>
                    <a:sym typeface="Roboto Medium"/>
                  </a:rPr>
                  <a:t>APRENDIZAJE Y MEJORA</a:t>
                </a:r>
                <a:endParaRPr sz="1000">
                  <a:latin typeface="Roboto"/>
                  <a:ea typeface="Roboto"/>
                  <a:cs typeface="Roboto"/>
                  <a:sym typeface="Roboto"/>
                </a:endParaRPr>
              </a:p>
            </p:txBody>
          </p:sp>
          <p:sp>
            <p:nvSpPr>
              <p:cNvPr id="549" name="Google Shape;549;p47"/>
              <p:cNvSpPr/>
              <p:nvPr/>
            </p:nvSpPr>
            <p:spPr>
              <a:xfrm>
                <a:off x="1593000" y="2322568"/>
                <a:ext cx="690000" cy="642300"/>
              </a:xfrm>
              <a:prstGeom prst="rect">
                <a:avLst/>
              </a:prstGeom>
              <a:solidFill>
                <a:srgbClr val="B02B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47"/>
              <p:cNvSpPr/>
              <p:nvPr/>
            </p:nvSpPr>
            <p:spPr>
              <a:xfrm>
                <a:off x="1270254" y="2322575"/>
                <a:ext cx="1012800" cy="642600"/>
              </a:xfrm>
              <a:prstGeom prst="rect">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600">
                    <a:latin typeface="Roboto Thin"/>
                    <a:ea typeface="Roboto Thin"/>
                    <a:cs typeface="Roboto Thin"/>
                    <a:sym typeface="Roboto Thin"/>
                  </a:rPr>
                  <a:t>04</a:t>
                </a:r>
                <a:endParaRPr sz="2600">
                  <a:latin typeface="Roboto Thin"/>
                  <a:ea typeface="Roboto Thin"/>
                  <a:cs typeface="Roboto Thin"/>
                  <a:sym typeface="Roboto Thin"/>
                </a:endParaRPr>
              </a:p>
            </p:txBody>
          </p:sp>
          <p:sp>
            <p:nvSpPr>
              <p:cNvPr id="551" name="Google Shape;551;p47"/>
              <p:cNvSpPr/>
              <p:nvPr/>
            </p:nvSpPr>
            <p:spPr>
              <a:xfrm>
                <a:off x="4387850" y="2323750"/>
                <a:ext cx="2971200" cy="642300"/>
              </a:xfrm>
              <a:prstGeom prst="rect">
                <a:avLst/>
              </a:prstGeom>
              <a:solidFill>
                <a:srgbClr val="F8F8F8"/>
              </a:solidFill>
              <a:ln>
                <a:noFill/>
              </a:ln>
            </p:spPr>
            <p:txBody>
              <a:bodyPr anchorCtr="0" anchor="ctr" bIns="91425" lIns="91425" spcFirstLastPara="1" rIns="91425" wrap="square" tIns="91425">
                <a:noAutofit/>
              </a:bodyPr>
              <a:lstStyle/>
              <a:p>
                <a:pPr indent="-279400" lvl="0" marL="457200" rtl="0" algn="l">
                  <a:lnSpc>
                    <a:spcPct val="115000"/>
                  </a:lnSpc>
                  <a:spcBef>
                    <a:spcPts val="0"/>
                  </a:spcBef>
                  <a:spcAft>
                    <a:spcPts val="0"/>
                  </a:spcAft>
                  <a:buSzPts val="800"/>
                  <a:buFont typeface="Roboto"/>
                  <a:buChar char="●"/>
                </a:pPr>
                <a:r>
                  <a:rPr lang="en-US" sz="800">
                    <a:latin typeface="Roboto"/>
                    <a:ea typeface="Roboto"/>
                    <a:cs typeface="Roboto"/>
                    <a:sym typeface="Roboto"/>
                  </a:rPr>
                  <a:t>Sprint Review (Demo)</a:t>
                </a:r>
                <a:endParaRPr sz="800">
                  <a:latin typeface="Roboto"/>
                  <a:ea typeface="Roboto"/>
                  <a:cs typeface="Roboto"/>
                  <a:sym typeface="Roboto"/>
                </a:endParaRPr>
              </a:p>
              <a:p>
                <a:pPr indent="-279400" lvl="0" marL="457200" rtl="0" algn="l">
                  <a:lnSpc>
                    <a:spcPct val="115000"/>
                  </a:lnSpc>
                  <a:spcBef>
                    <a:spcPts val="0"/>
                  </a:spcBef>
                  <a:spcAft>
                    <a:spcPts val="0"/>
                  </a:spcAft>
                  <a:buSzPts val="800"/>
                  <a:buFont typeface="Roboto"/>
                  <a:buChar char="●"/>
                </a:pPr>
                <a:r>
                  <a:rPr lang="en-US" sz="800">
                    <a:latin typeface="Roboto"/>
                    <a:ea typeface="Roboto"/>
                    <a:cs typeface="Roboto"/>
                    <a:sym typeface="Roboto"/>
                  </a:rPr>
                  <a:t>Retrospectiva Sprint </a:t>
                </a:r>
                <a:endParaRPr sz="800">
                  <a:latin typeface="Roboto"/>
                  <a:ea typeface="Roboto"/>
                  <a:cs typeface="Roboto"/>
                  <a:sym typeface="Roboto"/>
                </a:endParaRPr>
              </a:p>
            </p:txBody>
          </p:sp>
        </p:grpSp>
      </p:grpSp>
      <p:grpSp>
        <p:nvGrpSpPr>
          <p:cNvPr id="552" name="Google Shape;552;p47"/>
          <p:cNvGrpSpPr/>
          <p:nvPr/>
        </p:nvGrpSpPr>
        <p:grpSpPr>
          <a:xfrm>
            <a:off x="4686477" y="1483160"/>
            <a:ext cx="3689296" cy="2608119"/>
            <a:chOff x="1270266" y="940260"/>
            <a:chExt cx="6280721" cy="2608119"/>
          </a:xfrm>
        </p:grpSpPr>
        <p:grpSp>
          <p:nvGrpSpPr>
            <p:cNvPr id="553" name="Google Shape;553;p47"/>
            <p:cNvGrpSpPr/>
            <p:nvPr/>
          </p:nvGrpSpPr>
          <p:grpSpPr>
            <a:xfrm>
              <a:off x="1270266" y="1595119"/>
              <a:ext cx="6280721" cy="643500"/>
              <a:chOff x="1270254" y="2322568"/>
              <a:chExt cx="6280721" cy="643500"/>
            </a:xfrm>
          </p:grpSpPr>
          <p:sp>
            <p:nvSpPr>
              <p:cNvPr id="554" name="Google Shape;554;p47"/>
              <p:cNvSpPr/>
              <p:nvPr/>
            </p:nvSpPr>
            <p:spPr>
              <a:xfrm>
                <a:off x="3728375" y="2322568"/>
                <a:ext cx="3822600" cy="643500"/>
              </a:xfrm>
              <a:prstGeom prst="rect">
                <a:avLst/>
              </a:prstGeom>
              <a:solidFill>
                <a:srgbClr val="F8F8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47"/>
              <p:cNvSpPr/>
              <p:nvPr/>
            </p:nvSpPr>
            <p:spPr>
              <a:xfrm flipH="1">
                <a:off x="2283025" y="2322575"/>
                <a:ext cx="1844400" cy="64260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47"/>
              <p:cNvSpPr/>
              <p:nvPr/>
            </p:nvSpPr>
            <p:spPr>
              <a:xfrm rot="-5400000">
                <a:off x="3501574" y="1934671"/>
                <a:ext cx="643356" cy="1419149"/>
              </a:xfrm>
              <a:prstGeom prst="flowChartOffpageConnector">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47"/>
              <p:cNvSpPr/>
              <p:nvPr/>
            </p:nvSpPr>
            <p:spPr>
              <a:xfrm>
                <a:off x="2342625" y="2399951"/>
                <a:ext cx="19407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1000">
                    <a:latin typeface="Roboto Medium"/>
                    <a:ea typeface="Roboto Medium"/>
                    <a:cs typeface="Roboto Medium"/>
                    <a:sym typeface="Roboto Medium"/>
                  </a:rPr>
                  <a:t>PRODUCTO FUNCIONAL</a:t>
                </a:r>
                <a:endParaRPr sz="1000">
                  <a:latin typeface="Roboto"/>
                  <a:ea typeface="Roboto"/>
                  <a:cs typeface="Roboto"/>
                  <a:sym typeface="Roboto"/>
                </a:endParaRPr>
              </a:p>
            </p:txBody>
          </p:sp>
          <p:sp>
            <p:nvSpPr>
              <p:cNvPr id="558" name="Google Shape;558;p47"/>
              <p:cNvSpPr/>
              <p:nvPr/>
            </p:nvSpPr>
            <p:spPr>
              <a:xfrm>
                <a:off x="1593000" y="2322568"/>
                <a:ext cx="690000" cy="642300"/>
              </a:xfrm>
              <a:prstGeom prst="rect">
                <a:avLst/>
              </a:prstGeom>
              <a:solidFill>
                <a:srgbClr val="B02B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47"/>
              <p:cNvSpPr/>
              <p:nvPr/>
            </p:nvSpPr>
            <p:spPr>
              <a:xfrm>
                <a:off x="1270254" y="2322572"/>
                <a:ext cx="1012800" cy="642600"/>
              </a:xfrm>
              <a:prstGeom prst="rect">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600">
                    <a:latin typeface="Roboto Thin"/>
                    <a:ea typeface="Roboto Thin"/>
                    <a:cs typeface="Roboto Thin"/>
                    <a:sym typeface="Roboto Thin"/>
                  </a:rPr>
                  <a:t>06</a:t>
                </a:r>
                <a:endParaRPr sz="2600">
                  <a:latin typeface="Roboto Thin"/>
                  <a:ea typeface="Roboto Thin"/>
                  <a:cs typeface="Roboto Thin"/>
                  <a:sym typeface="Roboto Thin"/>
                </a:endParaRPr>
              </a:p>
            </p:txBody>
          </p:sp>
          <p:sp>
            <p:nvSpPr>
              <p:cNvPr id="560" name="Google Shape;560;p47"/>
              <p:cNvSpPr/>
              <p:nvPr/>
            </p:nvSpPr>
            <p:spPr>
              <a:xfrm>
                <a:off x="4387850" y="2323750"/>
                <a:ext cx="2971200" cy="642300"/>
              </a:xfrm>
              <a:prstGeom prst="rect">
                <a:avLst/>
              </a:prstGeom>
              <a:noFill/>
              <a:ln>
                <a:noFill/>
              </a:ln>
            </p:spPr>
            <p:txBody>
              <a:bodyPr anchorCtr="0" anchor="ctr" bIns="91425" lIns="91425" spcFirstLastPara="1" rIns="91425" wrap="square" tIns="91425">
                <a:noAutofit/>
              </a:bodyPr>
              <a:lstStyle/>
              <a:p>
                <a:pPr indent="-279400" lvl="0" marL="457200" rtl="0" algn="l">
                  <a:lnSpc>
                    <a:spcPct val="115000"/>
                  </a:lnSpc>
                  <a:spcBef>
                    <a:spcPts val="0"/>
                  </a:spcBef>
                  <a:spcAft>
                    <a:spcPts val="0"/>
                  </a:spcAft>
                  <a:buSzPts val="800"/>
                  <a:buFont typeface="Roboto"/>
                  <a:buChar char="●"/>
                </a:pPr>
                <a:r>
                  <a:rPr lang="en-US" sz="800">
                    <a:latin typeface="Roboto"/>
                    <a:ea typeface="Roboto"/>
                    <a:cs typeface="Roboto"/>
                    <a:sym typeface="Roboto"/>
                  </a:rPr>
                  <a:t>Incremento de Software (MVP)</a:t>
                </a:r>
                <a:endParaRPr sz="800">
                  <a:latin typeface="Roboto"/>
                  <a:ea typeface="Roboto"/>
                  <a:cs typeface="Roboto"/>
                  <a:sym typeface="Roboto"/>
                </a:endParaRPr>
              </a:p>
            </p:txBody>
          </p:sp>
        </p:grpSp>
        <p:grpSp>
          <p:nvGrpSpPr>
            <p:cNvPr id="561" name="Google Shape;561;p47"/>
            <p:cNvGrpSpPr/>
            <p:nvPr/>
          </p:nvGrpSpPr>
          <p:grpSpPr>
            <a:xfrm>
              <a:off x="1270266" y="2250012"/>
              <a:ext cx="6280721" cy="643500"/>
              <a:chOff x="1270254" y="2322568"/>
              <a:chExt cx="6280721" cy="643500"/>
            </a:xfrm>
          </p:grpSpPr>
          <p:sp>
            <p:nvSpPr>
              <p:cNvPr id="562" name="Google Shape;562;p47"/>
              <p:cNvSpPr/>
              <p:nvPr/>
            </p:nvSpPr>
            <p:spPr>
              <a:xfrm>
                <a:off x="3728375" y="2322568"/>
                <a:ext cx="3822600" cy="643500"/>
              </a:xfrm>
              <a:prstGeom prst="rect">
                <a:avLst/>
              </a:prstGeom>
              <a:solidFill>
                <a:srgbClr val="F8F8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47"/>
              <p:cNvSpPr/>
              <p:nvPr/>
            </p:nvSpPr>
            <p:spPr>
              <a:xfrm flipH="1">
                <a:off x="2283025" y="2322575"/>
                <a:ext cx="1844400" cy="64260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47"/>
              <p:cNvSpPr/>
              <p:nvPr/>
            </p:nvSpPr>
            <p:spPr>
              <a:xfrm rot="-5400000">
                <a:off x="3501574" y="1934671"/>
                <a:ext cx="643356" cy="1419149"/>
              </a:xfrm>
              <a:prstGeom prst="flowChartOffpageConnector">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47"/>
              <p:cNvSpPr/>
              <p:nvPr/>
            </p:nvSpPr>
            <p:spPr>
              <a:xfrm>
                <a:off x="2283018" y="2399955"/>
                <a:ext cx="2000400" cy="49590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900">
                    <a:latin typeface="Roboto Medium"/>
                    <a:ea typeface="Roboto Medium"/>
                    <a:cs typeface="Roboto Medium"/>
                    <a:sym typeface="Roboto Medium"/>
                  </a:rPr>
                  <a:t>DOCUMENTACIÓN FINAL</a:t>
                </a:r>
                <a:endParaRPr sz="900">
                  <a:latin typeface="Roboto"/>
                  <a:ea typeface="Roboto"/>
                  <a:cs typeface="Roboto"/>
                  <a:sym typeface="Roboto"/>
                </a:endParaRPr>
              </a:p>
            </p:txBody>
          </p:sp>
          <p:sp>
            <p:nvSpPr>
              <p:cNvPr id="566" name="Google Shape;566;p47"/>
              <p:cNvSpPr/>
              <p:nvPr/>
            </p:nvSpPr>
            <p:spPr>
              <a:xfrm>
                <a:off x="1593000" y="2322568"/>
                <a:ext cx="690000" cy="642300"/>
              </a:xfrm>
              <a:prstGeom prst="rect">
                <a:avLst/>
              </a:prstGeom>
              <a:solidFill>
                <a:srgbClr val="B02B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47"/>
              <p:cNvSpPr/>
              <p:nvPr/>
            </p:nvSpPr>
            <p:spPr>
              <a:xfrm>
                <a:off x="1270254" y="2322574"/>
                <a:ext cx="1012800" cy="642600"/>
              </a:xfrm>
              <a:prstGeom prst="rect">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600">
                    <a:latin typeface="Roboto Thin"/>
                    <a:ea typeface="Roboto Thin"/>
                    <a:cs typeface="Roboto Thin"/>
                    <a:sym typeface="Roboto Thin"/>
                  </a:rPr>
                  <a:t>07</a:t>
                </a:r>
                <a:endParaRPr sz="2600">
                  <a:latin typeface="Roboto Thin"/>
                  <a:ea typeface="Roboto Thin"/>
                  <a:cs typeface="Roboto Thin"/>
                  <a:sym typeface="Roboto Thin"/>
                </a:endParaRPr>
              </a:p>
            </p:txBody>
          </p:sp>
          <p:sp>
            <p:nvSpPr>
              <p:cNvPr id="568" name="Google Shape;568;p47"/>
              <p:cNvSpPr/>
              <p:nvPr/>
            </p:nvSpPr>
            <p:spPr>
              <a:xfrm>
                <a:off x="4387850" y="2323750"/>
                <a:ext cx="2971200" cy="642300"/>
              </a:xfrm>
              <a:prstGeom prst="rect">
                <a:avLst/>
              </a:prstGeom>
              <a:noFill/>
              <a:ln>
                <a:noFill/>
              </a:ln>
            </p:spPr>
            <p:txBody>
              <a:bodyPr anchorCtr="0" anchor="ctr" bIns="91425" lIns="91425" spcFirstLastPara="1" rIns="91425" wrap="square" tIns="91425">
                <a:noAutofit/>
              </a:bodyPr>
              <a:lstStyle/>
              <a:p>
                <a:pPr indent="-279400" lvl="0" marL="457200" rtl="0" algn="l">
                  <a:lnSpc>
                    <a:spcPct val="115000"/>
                  </a:lnSpc>
                  <a:spcBef>
                    <a:spcPts val="0"/>
                  </a:spcBef>
                  <a:spcAft>
                    <a:spcPts val="0"/>
                  </a:spcAft>
                  <a:buSzPts val="800"/>
                  <a:buFont typeface="Roboto"/>
                  <a:buChar char="●"/>
                </a:pPr>
                <a:r>
                  <a:rPr lang="en-US" sz="800">
                    <a:latin typeface="Roboto"/>
                    <a:ea typeface="Roboto"/>
                    <a:cs typeface="Roboto"/>
                    <a:sym typeface="Roboto"/>
                  </a:rPr>
                  <a:t>Manuales Técnicos y de Usuario</a:t>
                </a:r>
                <a:endParaRPr sz="800">
                  <a:latin typeface="Roboto"/>
                  <a:ea typeface="Roboto"/>
                  <a:cs typeface="Roboto"/>
                  <a:sym typeface="Roboto"/>
                </a:endParaRPr>
              </a:p>
            </p:txBody>
          </p:sp>
        </p:grpSp>
        <p:grpSp>
          <p:nvGrpSpPr>
            <p:cNvPr id="569" name="Google Shape;569;p47"/>
            <p:cNvGrpSpPr/>
            <p:nvPr/>
          </p:nvGrpSpPr>
          <p:grpSpPr>
            <a:xfrm>
              <a:off x="1270266" y="940260"/>
              <a:ext cx="6280721" cy="643500"/>
              <a:chOff x="1270254" y="2322568"/>
              <a:chExt cx="6280721" cy="643500"/>
            </a:xfrm>
          </p:grpSpPr>
          <p:sp>
            <p:nvSpPr>
              <p:cNvPr id="570" name="Google Shape;570;p47"/>
              <p:cNvSpPr/>
              <p:nvPr/>
            </p:nvSpPr>
            <p:spPr>
              <a:xfrm>
                <a:off x="3728375" y="2322568"/>
                <a:ext cx="3822600" cy="643500"/>
              </a:xfrm>
              <a:prstGeom prst="rect">
                <a:avLst/>
              </a:prstGeom>
              <a:solidFill>
                <a:srgbClr val="F8F8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47"/>
              <p:cNvSpPr/>
              <p:nvPr/>
            </p:nvSpPr>
            <p:spPr>
              <a:xfrm flipH="1">
                <a:off x="2283025" y="2322575"/>
                <a:ext cx="1844400" cy="64260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47"/>
              <p:cNvSpPr/>
              <p:nvPr/>
            </p:nvSpPr>
            <p:spPr>
              <a:xfrm rot="-5400000">
                <a:off x="3501574" y="1934671"/>
                <a:ext cx="643356" cy="1419149"/>
              </a:xfrm>
              <a:prstGeom prst="flowChartOffpageConnector">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47"/>
              <p:cNvSpPr/>
              <p:nvPr/>
            </p:nvSpPr>
            <p:spPr>
              <a:xfrm>
                <a:off x="2342625" y="2399951"/>
                <a:ext cx="1940700" cy="49590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1000">
                    <a:latin typeface="Roboto Medium"/>
                    <a:ea typeface="Roboto Medium"/>
                    <a:cs typeface="Roboto Medium"/>
                    <a:sym typeface="Roboto Medium"/>
                  </a:rPr>
                  <a:t>CÓDIGO FUENTE</a:t>
                </a:r>
                <a:endParaRPr sz="1000">
                  <a:latin typeface="Roboto"/>
                  <a:ea typeface="Roboto"/>
                  <a:cs typeface="Roboto"/>
                  <a:sym typeface="Roboto"/>
                </a:endParaRPr>
              </a:p>
            </p:txBody>
          </p:sp>
          <p:sp>
            <p:nvSpPr>
              <p:cNvPr id="574" name="Google Shape;574;p47"/>
              <p:cNvSpPr/>
              <p:nvPr/>
            </p:nvSpPr>
            <p:spPr>
              <a:xfrm>
                <a:off x="1593000" y="2322568"/>
                <a:ext cx="690000" cy="642300"/>
              </a:xfrm>
              <a:prstGeom prst="rect">
                <a:avLst/>
              </a:prstGeom>
              <a:solidFill>
                <a:srgbClr val="B02B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47"/>
              <p:cNvSpPr/>
              <p:nvPr/>
            </p:nvSpPr>
            <p:spPr>
              <a:xfrm>
                <a:off x="1270254" y="2322570"/>
                <a:ext cx="1012800" cy="642600"/>
              </a:xfrm>
              <a:prstGeom prst="rect">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600">
                    <a:latin typeface="Roboto Thin"/>
                    <a:ea typeface="Roboto Thin"/>
                    <a:cs typeface="Roboto Thin"/>
                    <a:sym typeface="Roboto Thin"/>
                  </a:rPr>
                  <a:t>05</a:t>
                </a:r>
                <a:endParaRPr sz="2600">
                  <a:latin typeface="Roboto Thin"/>
                  <a:ea typeface="Roboto Thin"/>
                  <a:cs typeface="Roboto Thin"/>
                  <a:sym typeface="Roboto Thin"/>
                </a:endParaRPr>
              </a:p>
            </p:txBody>
          </p:sp>
          <p:sp>
            <p:nvSpPr>
              <p:cNvPr id="576" name="Google Shape;576;p47"/>
              <p:cNvSpPr/>
              <p:nvPr/>
            </p:nvSpPr>
            <p:spPr>
              <a:xfrm>
                <a:off x="4387850" y="2323750"/>
                <a:ext cx="2971200" cy="642300"/>
              </a:xfrm>
              <a:prstGeom prst="rect">
                <a:avLst/>
              </a:prstGeom>
              <a:noFill/>
              <a:ln>
                <a:noFill/>
              </a:ln>
            </p:spPr>
            <p:txBody>
              <a:bodyPr anchorCtr="0" anchor="ctr" bIns="91425" lIns="91425" spcFirstLastPara="1" rIns="91425" wrap="square" tIns="91425">
                <a:noAutofit/>
              </a:bodyPr>
              <a:lstStyle/>
              <a:p>
                <a:pPr indent="-279400" lvl="0" marL="457200" rtl="0" algn="l">
                  <a:lnSpc>
                    <a:spcPct val="115000"/>
                  </a:lnSpc>
                  <a:spcBef>
                    <a:spcPts val="0"/>
                  </a:spcBef>
                  <a:spcAft>
                    <a:spcPts val="0"/>
                  </a:spcAft>
                  <a:buSzPts val="800"/>
                  <a:buFont typeface="Roboto"/>
                  <a:buChar char="●"/>
                </a:pPr>
                <a:r>
                  <a:rPr lang="en-US" sz="800">
                    <a:latin typeface="Roboto"/>
                    <a:ea typeface="Roboto"/>
                    <a:cs typeface="Roboto"/>
                    <a:sym typeface="Roboto"/>
                  </a:rPr>
                  <a:t>Repositorios en GitHub</a:t>
                </a:r>
                <a:endParaRPr sz="800">
                  <a:latin typeface="Roboto"/>
                  <a:ea typeface="Roboto"/>
                  <a:cs typeface="Roboto"/>
                  <a:sym typeface="Roboto"/>
                </a:endParaRPr>
              </a:p>
            </p:txBody>
          </p:sp>
        </p:grpSp>
        <p:grpSp>
          <p:nvGrpSpPr>
            <p:cNvPr id="577" name="Google Shape;577;p47"/>
            <p:cNvGrpSpPr/>
            <p:nvPr/>
          </p:nvGrpSpPr>
          <p:grpSpPr>
            <a:xfrm>
              <a:off x="1270266" y="2904879"/>
              <a:ext cx="6280721" cy="643500"/>
              <a:chOff x="1270254" y="2322568"/>
              <a:chExt cx="6280721" cy="643500"/>
            </a:xfrm>
          </p:grpSpPr>
          <p:sp>
            <p:nvSpPr>
              <p:cNvPr id="578" name="Google Shape;578;p47"/>
              <p:cNvSpPr/>
              <p:nvPr/>
            </p:nvSpPr>
            <p:spPr>
              <a:xfrm>
                <a:off x="3728375" y="2322568"/>
                <a:ext cx="3822600" cy="643500"/>
              </a:xfrm>
              <a:prstGeom prst="rect">
                <a:avLst/>
              </a:prstGeom>
              <a:solidFill>
                <a:srgbClr val="F8F8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47"/>
              <p:cNvSpPr/>
              <p:nvPr/>
            </p:nvSpPr>
            <p:spPr>
              <a:xfrm flipH="1">
                <a:off x="2283025" y="2322575"/>
                <a:ext cx="1844400" cy="64260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47"/>
              <p:cNvSpPr/>
              <p:nvPr/>
            </p:nvSpPr>
            <p:spPr>
              <a:xfrm rot="-5400000">
                <a:off x="3501574" y="1934671"/>
                <a:ext cx="643356" cy="1419149"/>
              </a:xfrm>
              <a:prstGeom prst="flowChartOffpageConnector">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47"/>
              <p:cNvSpPr/>
              <p:nvPr/>
            </p:nvSpPr>
            <p:spPr>
              <a:xfrm>
                <a:off x="2342625" y="2399951"/>
                <a:ext cx="1940700" cy="49590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1000">
                    <a:latin typeface="Roboto Medium"/>
                    <a:ea typeface="Roboto Medium"/>
                    <a:cs typeface="Roboto Medium"/>
                    <a:sym typeface="Roboto Medium"/>
                  </a:rPr>
                  <a:t>ACEPTACIÓN FORMAL</a:t>
                </a:r>
                <a:endParaRPr sz="1000">
                  <a:latin typeface="Roboto"/>
                  <a:ea typeface="Roboto"/>
                  <a:cs typeface="Roboto"/>
                  <a:sym typeface="Roboto"/>
                </a:endParaRPr>
              </a:p>
            </p:txBody>
          </p:sp>
          <p:sp>
            <p:nvSpPr>
              <p:cNvPr id="582" name="Google Shape;582;p47"/>
              <p:cNvSpPr/>
              <p:nvPr/>
            </p:nvSpPr>
            <p:spPr>
              <a:xfrm>
                <a:off x="1593000" y="2322568"/>
                <a:ext cx="690000" cy="642300"/>
              </a:xfrm>
              <a:prstGeom prst="rect">
                <a:avLst/>
              </a:prstGeom>
              <a:solidFill>
                <a:srgbClr val="B02B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47"/>
              <p:cNvSpPr/>
              <p:nvPr/>
            </p:nvSpPr>
            <p:spPr>
              <a:xfrm>
                <a:off x="1270254" y="2322575"/>
                <a:ext cx="1012800" cy="642600"/>
              </a:xfrm>
              <a:prstGeom prst="rect">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600">
                    <a:latin typeface="Roboto Thin"/>
                    <a:ea typeface="Roboto Thin"/>
                    <a:cs typeface="Roboto Thin"/>
                    <a:sym typeface="Roboto Thin"/>
                  </a:rPr>
                  <a:t>08</a:t>
                </a:r>
                <a:endParaRPr sz="2600">
                  <a:latin typeface="Roboto Thin"/>
                  <a:ea typeface="Roboto Thin"/>
                  <a:cs typeface="Roboto Thin"/>
                  <a:sym typeface="Roboto Thin"/>
                </a:endParaRPr>
              </a:p>
            </p:txBody>
          </p:sp>
          <p:sp>
            <p:nvSpPr>
              <p:cNvPr id="584" name="Google Shape;584;p47"/>
              <p:cNvSpPr/>
              <p:nvPr/>
            </p:nvSpPr>
            <p:spPr>
              <a:xfrm>
                <a:off x="4387850" y="2323750"/>
                <a:ext cx="2971200" cy="642300"/>
              </a:xfrm>
              <a:prstGeom prst="rect">
                <a:avLst/>
              </a:prstGeom>
              <a:noFill/>
              <a:ln>
                <a:noFill/>
              </a:ln>
            </p:spPr>
            <p:txBody>
              <a:bodyPr anchorCtr="0" anchor="ctr" bIns="91425" lIns="91425" spcFirstLastPara="1" rIns="91425" wrap="square" tIns="91425">
                <a:noAutofit/>
              </a:bodyPr>
              <a:lstStyle/>
              <a:p>
                <a:pPr indent="-279400" lvl="0" marL="457200" rtl="0" algn="l">
                  <a:lnSpc>
                    <a:spcPct val="115000"/>
                  </a:lnSpc>
                  <a:spcBef>
                    <a:spcPts val="0"/>
                  </a:spcBef>
                  <a:spcAft>
                    <a:spcPts val="0"/>
                  </a:spcAft>
                  <a:buSzPts val="800"/>
                  <a:buFont typeface="Roboto"/>
                  <a:buChar char="●"/>
                </a:pPr>
                <a:r>
                  <a:rPr lang="en-US" sz="800">
                    <a:latin typeface="Roboto"/>
                    <a:ea typeface="Roboto"/>
                    <a:cs typeface="Roboto"/>
                    <a:sym typeface="Roboto"/>
                  </a:rPr>
                  <a:t>Acta de Aceptación del P.O.</a:t>
                </a:r>
                <a:endParaRPr sz="800">
                  <a:latin typeface="Roboto"/>
                  <a:ea typeface="Roboto"/>
                  <a:cs typeface="Roboto"/>
                  <a:sym typeface="Roboto"/>
                </a:endParaRPr>
              </a:p>
            </p:txBody>
          </p:sp>
        </p:gr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48"/>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590" name="Google Shape;590;p48"/>
          <p:cNvSpPr txBox="1"/>
          <p:nvPr>
            <p:ph type="title"/>
          </p:nvPr>
        </p:nvSpPr>
        <p:spPr>
          <a:xfrm>
            <a:off x="2851800" y="126625"/>
            <a:ext cx="3440400" cy="551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Evidencias Extras</a:t>
            </a:r>
            <a:endParaRPr b="1" sz="3200" u="none" strike="noStrike">
              <a:solidFill>
                <a:schemeClr val="dk1"/>
              </a:solidFill>
              <a:latin typeface="Roboto"/>
              <a:ea typeface="Roboto"/>
              <a:cs typeface="Roboto"/>
              <a:sym typeface="Roboto"/>
            </a:endParaRPr>
          </a:p>
        </p:txBody>
      </p:sp>
      <p:grpSp>
        <p:nvGrpSpPr>
          <p:cNvPr id="591" name="Google Shape;591;p48"/>
          <p:cNvGrpSpPr/>
          <p:nvPr/>
        </p:nvGrpSpPr>
        <p:grpSpPr>
          <a:xfrm>
            <a:off x="2727352" y="1483160"/>
            <a:ext cx="3689296" cy="1953252"/>
            <a:chOff x="1270266" y="940260"/>
            <a:chExt cx="6280721" cy="1953252"/>
          </a:xfrm>
        </p:grpSpPr>
        <p:grpSp>
          <p:nvGrpSpPr>
            <p:cNvPr id="592" name="Google Shape;592;p48"/>
            <p:cNvGrpSpPr/>
            <p:nvPr/>
          </p:nvGrpSpPr>
          <p:grpSpPr>
            <a:xfrm>
              <a:off x="1270266" y="1595119"/>
              <a:ext cx="6280721" cy="643500"/>
              <a:chOff x="1270254" y="2322568"/>
              <a:chExt cx="6280721" cy="643500"/>
            </a:xfrm>
          </p:grpSpPr>
          <p:sp>
            <p:nvSpPr>
              <p:cNvPr id="593" name="Google Shape;593;p48"/>
              <p:cNvSpPr/>
              <p:nvPr/>
            </p:nvSpPr>
            <p:spPr>
              <a:xfrm>
                <a:off x="3728375" y="2322568"/>
                <a:ext cx="3822600" cy="643500"/>
              </a:xfrm>
              <a:prstGeom prst="rect">
                <a:avLst/>
              </a:prstGeom>
              <a:solidFill>
                <a:srgbClr val="F8F8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48"/>
              <p:cNvSpPr/>
              <p:nvPr/>
            </p:nvSpPr>
            <p:spPr>
              <a:xfrm flipH="1">
                <a:off x="2283025" y="2322575"/>
                <a:ext cx="1844400" cy="64260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48"/>
              <p:cNvSpPr/>
              <p:nvPr/>
            </p:nvSpPr>
            <p:spPr>
              <a:xfrm rot="-5400000">
                <a:off x="3501574" y="1934671"/>
                <a:ext cx="643356" cy="1419149"/>
              </a:xfrm>
              <a:prstGeom prst="flowChartOffpageConnector">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48"/>
              <p:cNvSpPr/>
              <p:nvPr/>
            </p:nvSpPr>
            <p:spPr>
              <a:xfrm>
                <a:off x="2342625" y="2399951"/>
                <a:ext cx="19407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1000">
                    <a:latin typeface="Roboto Medium"/>
                    <a:ea typeface="Roboto Medium"/>
                    <a:cs typeface="Roboto Medium"/>
                    <a:sym typeface="Roboto Medium"/>
                  </a:rPr>
                  <a:t>Tests</a:t>
                </a:r>
                <a:endParaRPr sz="1000">
                  <a:latin typeface="Roboto"/>
                  <a:ea typeface="Roboto"/>
                  <a:cs typeface="Roboto"/>
                  <a:sym typeface="Roboto"/>
                </a:endParaRPr>
              </a:p>
            </p:txBody>
          </p:sp>
          <p:sp>
            <p:nvSpPr>
              <p:cNvPr id="597" name="Google Shape;597;p48"/>
              <p:cNvSpPr/>
              <p:nvPr/>
            </p:nvSpPr>
            <p:spPr>
              <a:xfrm>
                <a:off x="1593000" y="2322568"/>
                <a:ext cx="690000" cy="642300"/>
              </a:xfrm>
              <a:prstGeom prst="rect">
                <a:avLst/>
              </a:prstGeom>
              <a:solidFill>
                <a:srgbClr val="B02B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48"/>
              <p:cNvSpPr/>
              <p:nvPr/>
            </p:nvSpPr>
            <p:spPr>
              <a:xfrm>
                <a:off x="1270254" y="2322572"/>
                <a:ext cx="1012800" cy="642600"/>
              </a:xfrm>
              <a:prstGeom prst="rect">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600">
                    <a:latin typeface="Roboto Thin"/>
                    <a:ea typeface="Roboto Thin"/>
                    <a:cs typeface="Roboto Thin"/>
                    <a:sym typeface="Roboto Thin"/>
                  </a:rPr>
                  <a:t>02</a:t>
                </a:r>
                <a:endParaRPr sz="2600">
                  <a:latin typeface="Roboto Thin"/>
                  <a:ea typeface="Roboto Thin"/>
                  <a:cs typeface="Roboto Thin"/>
                  <a:sym typeface="Roboto Thin"/>
                </a:endParaRPr>
              </a:p>
            </p:txBody>
          </p:sp>
          <p:sp>
            <p:nvSpPr>
              <p:cNvPr id="599" name="Google Shape;599;p48"/>
              <p:cNvSpPr/>
              <p:nvPr/>
            </p:nvSpPr>
            <p:spPr>
              <a:xfrm>
                <a:off x="4387844" y="2323748"/>
                <a:ext cx="3026700" cy="642300"/>
              </a:xfrm>
              <a:prstGeom prst="rect">
                <a:avLst/>
              </a:prstGeom>
              <a:solidFill>
                <a:srgbClr val="F8F8F8"/>
              </a:solidFill>
              <a:ln>
                <a:noFill/>
              </a:ln>
            </p:spPr>
            <p:txBody>
              <a:bodyPr anchorCtr="0" anchor="ctr" bIns="91425" lIns="91425" spcFirstLastPara="1" rIns="91425" wrap="square" tIns="91425">
                <a:noAutofit/>
              </a:bodyPr>
              <a:lstStyle/>
              <a:p>
                <a:pPr indent="-292100" lvl="0" marL="457200" rtl="0" algn="l">
                  <a:lnSpc>
                    <a:spcPct val="115000"/>
                  </a:lnSpc>
                  <a:spcBef>
                    <a:spcPts val="0"/>
                  </a:spcBef>
                  <a:spcAft>
                    <a:spcPts val="0"/>
                  </a:spcAft>
                  <a:buSzPts val="1000"/>
                  <a:buFont typeface="Roboto"/>
                  <a:buChar char="●"/>
                </a:pPr>
                <a:r>
                  <a:rPr lang="en-US" sz="1000">
                    <a:latin typeface="Roboto"/>
                    <a:ea typeface="Roboto"/>
                    <a:cs typeface="Roboto"/>
                    <a:sym typeface="Roboto"/>
                  </a:rPr>
                  <a:t>Reportes Automatizados</a:t>
                </a:r>
                <a:endParaRPr sz="1000">
                  <a:latin typeface="Roboto"/>
                  <a:ea typeface="Roboto"/>
                  <a:cs typeface="Roboto"/>
                  <a:sym typeface="Roboto"/>
                </a:endParaRPr>
              </a:p>
              <a:p>
                <a:pPr indent="0" lvl="0" marL="457200" rtl="0" algn="l">
                  <a:lnSpc>
                    <a:spcPct val="115000"/>
                  </a:lnSpc>
                  <a:spcBef>
                    <a:spcPts val="0"/>
                  </a:spcBef>
                  <a:spcAft>
                    <a:spcPts val="0"/>
                  </a:spcAft>
                  <a:buNone/>
                </a:pPr>
                <a:r>
                  <a:t/>
                </a:r>
                <a:endParaRPr sz="800">
                  <a:latin typeface="Roboto"/>
                  <a:ea typeface="Roboto"/>
                  <a:cs typeface="Roboto"/>
                  <a:sym typeface="Roboto"/>
                </a:endParaRPr>
              </a:p>
            </p:txBody>
          </p:sp>
        </p:grpSp>
        <p:grpSp>
          <p:nvGrpSpPr>
            <p:cNvPr id="600" name="Google Shape;600;p48"/>
            <p:cNvGrpSpPr/>
            <p:nvPr/>
          </p:nvGrpSpPr>
          <p:grpSpPr>
            <a:xfrm>
              <a:off x="1270266" y="2250012"/>
              <a:ext cx="6280721" cy="643500"/>
              <a:chOff x="1270254" y="2322568"/>
              <a:chExt cx="6280721" cy="643500"/>
            </a:xfrm>
          </p:grpSpPr>
          <p:sp>
            <p:nvSpPr>
              <p:cNvPr id="601" name="Google Shape;601;p48"/>
              <p:cNvSpPr/>
              <p:nvPr/>
            </p:nvSpPr>
            <p:spPr>
              <a:xfrm>
                <a:off x="3728375" y="2322568"/>
                <a:ext cx="3822600" cy="643500"/>
              </a:xfrm>
              <a:prstGeom prst="rect">
                <a:avLst/>
              </a:prstGeom>
              <a:solidFill>
                <a:srgbClr val="F8F8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48"/>
              <p:cNvSpPr/>
              <p:nvPr/>
            </p:nvSpPr>
            <p:spPr>
              <a:xfrm flipH="1">
                <a:off x="2283025" y="2322575"/>
                <a:ext cx="1844400" cy="64260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48"/>
              <p:cNvSpPr/>
              <p:nvPr/>
            </p:nvSpPr>
            <p:spPr>
              <a:xfrm rot="-5400000">
                <a:off x="3501574" y="1934671"/>
                <a:ext cx="643356" cy="1419149"/>
              </a:xfrm>
              <a:prstGeom prst="flowChartOffpageConnector">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48"/>
              <p:cNvSpPr/>
              <p:nvPr/>
            </p:nvSpPr>
            <p:spPr>
              <a:xfrm>
                <a:off x="2342625" y="2399951"/>
                <a:ext cx="1940700" cy="49590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1000">
                    <a:latin typeface="Roboto Medium"/>
                    <a:ea typeface="Roboto Medium"/>
                    <a:cs typeface="Roboto Medium"/>
                    <a:sym typeface="Roboto Medium"/>
                  </a:rPr>
                  <a:t>Modelos BD</a:t>
                </a:r>
                <a:endParaRPr sz="1000">
                  <a:latin typeface="Roboto"/>
                  <a:ea typeface="Roboto"/>
                  <a:cs typeface="Roboto"/>
                  <a:sym typeface="Roboto"/>
                </a:endParaRPr>
              </a:p>
            </p:txBody>
          </p:sp>
          <p:sp>
            <p:nvSpPr>
              <p:cNvPr id="605" name="Google Shape;605;p48"/>
              <p:cNvSpPr/>
              <p:nvPr/>
            </p:nvSpPr>
            <p:spPr>
              <a:xfrm>
                <a:off x="1593000" y="2322568"/>
                <a:ext cx="690000" cy="642300"/>
              </a:xfrm>
              <a:prstGeom prst="rect">
                <a:avLst/>
              </a:prstGeom>
              <a:solidFill>
                <a:srgbClr val="B02B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48"/>
              <p:cNvSpPr/>
              <p:nvPr/>
            </p:nvSpPr>
            <p:spPr>
              <a:xfrm>
                <a:off x="1270254" y="2322574"/>
                <a:ext cx="1012800" cy="642600"/>
              </a:xfrm>
              <a:prstGeom prst="rect">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600">
                    <a:latin typeface="Roboto Thin"/>
                    <a:ea typeface="Roboto Thin"/>
                    <a:cs typeface="Roboto Thin"/>
                    <a:sym typeface="Roboto Thin"/>
                  </a:rPr>
                  <a:t>03</a:t>
                </a:r>
                <a:endParaRPr sz="2600">
                  <a:latin typeface="Roboto Thin"/>
                  <a:ea typeface="Roboto Thin"/>
                  <a:cs typeface="Roboto Thin"/>
                  <a:sym typeface="Roboto Thin"/>
                </a:endParaRPr>
              </a:p>
            </p:txBody>
          </p:sp>
          <p:sp>
            <p:nvSpPr>
              <p:cNvPr id="607" name="Google Shape;607;p48"/>
              <p:cNvSpPr/>
              <p:nvPr/>
            </p:nvSpPr>
            <p:spPr>
              <a:xfrm>
                <a:off x="4387850" y="2323750"/>
                <a:ext cx="2971200" cy="642300"/>
              </a:xfrm>
              <a:prstGeom prst="rect">
                <a:avLst/>
              </a:prstGeom>
              <a:solidFill>
                <a:srgbClr val="F8F8F8"/>
              </a:solidFill>
              <a:ln>
                <a:noFill/>
              </a:ln>
            </p:spPr>
            <p:txBody>
              <a:bodyPr anchorCtr="0" anchor="ctr" bIns="91425" lIns="91425" spcFirstLastPara="1" rIns="91425" wrap="square" tIns="91425">
                <a:noAutofit/>
              </a:bodyPr>
              <a:lstStyle/>
              <a:p>
                <a:pPr indent="-279400" lvl="0" marL="457200" rtl="0" algn="l">
                  <a:lnSpc>
                    <a:spcPct val="115000"/>
                  </a:lnSpc>
                  <a:spcBef>
                    <a:spcPts val="0"/>
                  </a:spcBef>
                  <a:spcAft>
                    <a:spcPts val="0"/>
                  </a:spcAft>
                  <a:buSzPts val="800"/>
                  <a:buFont typeface="Roboto"/>
                  <a:buChar char="●"/>
                </a:pPr>
                <a:r>
                  <a:rPr lang="en-US" sz="800">
                    <a:latin typeface="Roboto"/>
                    <a:ea typeface="Roboto"/>
                    <a:cs typeface="Roboto"/>
                    <a:sym typeface="Roboto"/>
                  </a:rPr>
                  <a:t>ERD</a:t>
                </a:r>
                <a:endParaRPr sz="800">
                  <a:latin typeface="Roboto"/>
                  <a:ea typeface="Roboto"/>
                  <a:cs typeface="Roboto"/>
                  <a:sym typeface="Roboto"/>
                </a:endParaRPr>
              </a:p>
              <a:p>
                <a:pPr indent="-279400" lvl="0" marL="457200" rtl="0" algn="l">
                  <a:lnSpc>
                    <a:spcPct val="115000"/>
                  </a:lnSpc>
                  <a:spcBef>
                    <a:spcPts val="0"/>
                  </a:spcBef>
                  <a:spcAft>
                    <a:spcPts val="0"/>
                  </a:spcAft>
                  <a:buSzPts val="800"/>
                  <a:buFont typeface="Roboto"/>
                  <a:buChar char="●"/>
                </a:pPr>
                <a:r>
                  <a:rPr lang="en-US" sz="800">
                    <a:latin typeface="Roboto"/>
                    <a:ea typeface="Roboto"/>
                    <a:cs typeface="Roboto"/>
                    <a:sym typeface="Roboto"/>
                  </a:rPr>
                  <a:t>Schema SQL</a:t>
                </a:r>
                <a:endParaRPr sz="800">
                  <a:latin typeface="Roboto"/>
                  <a:ea typeface="Roboto"/>
                  <a:cs typeface="Roboto"/>
                  <a:sym typeface="Roboto"/>
                </a:endParaRPr>
              </a:p>
            </p:txBody>
          </p:sp>
        </p:grpSp>
        <p:grpSp>
          <p:nvGrpSpPr>
            <p:cNvPr id="608" name="Google Shape;608;p48"/>
            <p:cNvGrpSpPr/>
            <p:nvPr/>
          </p:nvGrpSpPr>
          <p:grpSpPr>
            <a:xfrm>
              <a:off x="1270266" y="940260"/>
              <a:ext cx="6280721" cy="643500"/>
              <a:chOff x="1270254" y="2322568"/>
              <a:chExt cx="6280721" cy="643500"/>
            </a:xfrm>
          </p:grpSpPr>
          <p:sp>
            <p:nvSpPr>
              <p:cNvPr id="609" name="Google Shape;609;p48"/>
              <p:cNvSpPr/>
              <p:nvPr/>
            </p:nvSpPr>
            <p:spPr>
              <a:xfrm>
                <a:off x="3728375" y="2322568"/>
                <a:ext cx="3822600" cy="643500"/>
              </a:xfrm>
              <a:prstGeom prst="rect">
                <a:avLst/>
              </a:prstGeom>
              <a:solidFill>
                <a:srgbClr val="F8F8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48"/>
              <p:cNvSpPr/>
              <p:nvPr/>
            </p:nvSpPr>
            <p:spPr>
              <a:xfrm flipH="1">
                <a:off x="2283025" y="2322575"/>
                <a:ext cx="1844400" cy="64260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48"/>
              <p:cNvSpPr/>
              <p:nvPr/>
            </p:nvSpPr>
            <p:spPr>
              <a:xfrm rot="-5400000">
                <a:off x="3501574" y="1934671"/>
                <a:ext cx="643356" cy="1419149"/>
              </a:xfrm>
              <a:prstGeom prst="flowChartOffpageConnector">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48"/>
              <p:cNvSpPr/>
              <p:nvPr/>
            </p:nvSpPr>
            <p:spPr>
              <a:xfrm>
                <a:off x="2342625" y="2399951"/>
                <a:ext cx="1940700" cy="49590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1000">
                    <a:latin typeface="Roboto Medium"/>
                    <a:ea typeface="Roboto Medium"/>
                    <a:cs typeface="Roboto Medium"/>
                    <a:sym typeface="Roboto Medium"/>
                  </a:rPr>
                  <a:t>Costos del Proyecto</a:t>
                </a:r>
                <a:endParaRPr sz="1000">
                  <a:latin typeface="Roboto"/>
                  <a:ea typeface="Roboto"/>
                  <a:cs typeface="Roboto"/>
                  <a:sym typeface="Roboto"/>
                </a:endParaRPr>
              </a:p>
            </p:txBody>
          </p:sp>
          <p:sp>
            <p:nvSpPr>
              <p:cNvPr id="613" name="Google Shape;613;p48"/>
              <p:cNvSpPr/>
              <p:nvPr/>
            </p:nvSpPr>
            <p:spPr>
              <a:xfrm>
                <a:off x="1593000" y="2322568"/>
                <a:ext cx="690000" cy="642300"/>
              </a:xfrm>
              <a:prstGeom prst="rect">
                <a:avLst/>
              </a:prstGeom>
              <a:solidFill>
                <a:srgbClr val="B02B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48"/>
              <p:cNvSpPr/>
              <p:nvPr/>
            </p:nvSpPr>
            <p:spPr>
              <a:xfrm>
                <a:off x="1270254" y="2322570"/>
                <a:ext cx="1012800" cy="642600"/>
              </a:xfrm>
              <a:prstGeom prst="rect">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600">
                    <a:latin typeface="Roboto Thin"/>
                    <a:ea typeface="Roboto Thin"/>
                    <a:cs typeface="Roboto Thin"/>
                    <a:sym typeface="Roboto Thin"/>
                  </a:rPr>
                  <a:t>01</a:t>
                </a:r>
                <a:endParaRPr sz="2600">
                  <a:latin typeface="Roboto Thin"/>
                  <a:ea typeface="Roboto Thin"/>
                  <a:cs typeface="Roboto Thin"/>
                  <a:sym typeface="Roboto Thin"/>
                </a:endParaRPr>
              </a:p>
            </p:txBody>
          </p:sp>
          <p:sp>
            <p:nvSpPr>
              <p:cNvPr id="615" name="Google Shape;615;p48"/>
              <p:cNvSpPr/>
              <p:nvPr/>
            </p:nvSpPr>
            <p:spPr>
              <a:xfrm>
                <a:off x="4387850" y="2323750"/>
                <a:ext cx="2971200" cy="642300"/>
              </a:xfrm>
              <a:prstGeom prst="rect">
                <a:avLst/>
              </a:prstGeom>
              <a:solidFill>
                <a:srgbClr val="F8F8F8"/>
              </a:solidFill>
              <a:ln>
                <a:noFill/>
              </a:ln>
            </p:spPr>
            <p:txBody>
              <a:bodyPr anchorCtr="0" anchor="ctr" bIns="91425" lIns="91425" spcFirstLastPara="1" rIns="91425" wrap="square" tIns="91425">
                <a:noAutofit/>
              </a:bodyPr>
              <a:lstStyle/>
              <a:p>
                <a:pPr indent="-292100" lvl="0" marL="457200" rtl="0" algn="l">
                  <a:lnSpc>
                    <a:spcPct val="115000"/>
                  </a:lnSpc>
                  <a:spcBef>
                    <a:spcPts val="0"/>
                  </a:spcBef>
                  <a:spcAft>
                    <a:spcPts val="0"/>
                  </a:spcAft>
                  <a:buSzPts val="1000"/>
                  <a:buFont typeface="Roboto"/>
                  <a:buChar char="●"/>
                </a:pPr>
                <a:r>
                  <a:rPr lang="en-US" sz="1000">
                    <a:latin typeface="Roboto"/>
                    <a:ea typeface="Roboto"/>
                    <a:cs typeface="Roboto"/>
                    <a:sym typeface="Roboto"/>
                  </a:rPr>
                  <a:t>Matriz de Costos</a:t>
                </a:r>
                <a:endParaRPr sz="1000">
                  <a:latin typeface="Roboto"/>
                  <a:ea typeface="Roboto"/>
                  <a:cs typeface="Roboto"/>
                  <a:sym typeface="Roboto"/>
                </a:endParaRPr>
              </a:p>
            </p:txBody>
          </p:sp>
        </p:gr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grpSp>
        <p:nvGrpSpPr>
          <p:cNvPr id="620" name="Google Shape;620;p49"/>
          <p:cNvGrpSpPr/>
          <p:nvPr/>
        </p:nvGrpSpPr>
        <p:grpSpPr>
          <a:xfrm>
            <a:off x="3978720" y="6840"/>
            <a:ext cx="5164200" cy="5143200"/>
            <a:chOff x="3978720" y="6840"/>
            <a:chExt cx="5164200" cy="5143200"/>
          </a:xfrm>
        </p:grpSpPr>
        <p:sp>
          <p:nvSpPr>
            <p:cNvPr id="621" name="Google Shape;621;p49"/>
            <p:cNvSpPr/>
            <p:nvPr/>
          </p:nvSpPr>
          <p:spPr>
            <a:xfrm flipH="1">
              <a:off x="3978720" y="6840"/>
              <a:ext cx="5164200" cy="51432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22" name="Google Shape;622;p49"/>
            <p:cNvSpPr/>
            <p:nvPr/>
          </p:nvSpPr>
          <p:spPr>
            <a:xfrm rot="-2699590">
              <a:off x="4520886" y="36474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23" name="Google Shape;623;p49"/>
            <p:cNvSpPr/>
            <p:nvPr/>
          </p:nvSpPr>
          <p:spPr>
            <a:xfrm rot="-2699590">
              <a:off x="7184166" y="22452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24" name="Google Shape;624;p49"/>
            <p:cNvSpPr/>
            <p:nvPr/>
          </p:nvSpPr>
          <p:spPr>
            <a:xfrm rot="-2699590">
              <a:off x="6716478" y="11666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25" name="Google Shape;625;p49"/>
            <p:cNvSpPr/>
            <p:nvPr/>
          </p:nvSpPr>
          <p:spPr>
            <a:xfrm rot="-2699590">
              <a:off x="5940318" y="35714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26" name="Google Shape;626;p49"/>
            <p:cNvSpPr/>
            <p:nvPr/>
          </p:nvSpPr>
          <p:spPr>
            <a:xfrm>
              <a:off x="6778080" y="2891160"/>
              <a:ext cx="1596300" cy="1596300"/>
            </a:xfrm>
            <a:prstGeom prst="ellipse">
              <a:avLst/>
            </a:prstGeom>
            <a:noFill/>
            <a:ln cap="flat" cmpd="sng" w="9525">
              <a:solidFill>
                <a:srgbClr val="F8F8F8"/>
              </a:solidFill>
              <a:prstDash val="lg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627" name="Google Shape;627;p49"/>
          <p:cNvSpPr/>
          <p:nvPr/>
        </p:nvSpPr>
        <p:spPr>
          <a:xfrm>
            <a:off x="5397480" y="1055160"/>
            <a:ext cx="3033000" cy="3033000"/>
          </a:xfrm>
          <a:prstGeom prst="ellipse">
            <a:avLst/>
          </a:prstGeom>
          <a:blipFill rotWithShape="1">
            <a:blip r:embed="rId3">
              <a:alphaModFix/>
            </a:blip>
            <a:stretch>
              <a:fillRect b="0" l="0" r="0" t="0"/>
            </a:stretch>
          </a:blipFill>
          <a:ln cap="flat" cmpd="sng" w="38100">
            <a:solidFill>
              <a:srgbClr val="F8F8F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628" name="Google Shape;628;p49"/>
          <p:cNvGrpSpPr/>
          <p:nvPr/>
        </p:nvGrpSpPr>
        <p:grpSpPr>
          <a:xfrm>
            <a:off x="5405271" y="1044240"/>
            <a:ext cx="3160020" cy="3290700"/>
            <a:chOff x="5405271" y="1044240"/>
            <a:chExt cx="3160020" cy="3290700"/>
          </a:xfrm>
        </p:grpSpPr>
        <p:sp>
          <p:nvSpPr>
            <p:cNvPr id="629" name="Google Shape;629;p49"/>
            <p:cNvSpPr/>
            <p:nvPr/>
          </p:nvSpPr>
          <p:spPr>
            <a:xfrm rot="-2700000">
              <a:off x="7674867" y="13795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30" name="Google Shape;630;p49"/>
            <p:cNvSpPr/>
            <p:nvPr/>
          </p:nvSpPr>
          <p:spPr>
            <a:xfrm rot="-2700000">
              <a:off x="5299947" y="38851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631" name="Google Shape;631;p49"/>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632" name="Google Shape;632;p49"/>
          <p:cNvSpPr txBox="1"/>
          <p:nvPr>
            <p:ph type="title"/>
          </p:nvPr>
        </p:nvSpPr>
        <p:spPr>
          <a:xfrm>
            <a:off x="346028" y="1948375"/>
            <a:ext cx="6990900" cy="818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Sprints</a:t>
            </a:r>
            <a:endParaRPr b="1" sz="3200" u="none" strike="noStrike">
              <a:solidFill>
                <a:schemeClr val="dk1"/>
              </a:solidFill>
              <a:latin typeface="Roboto"/>
              <a:ea typeface="Roboto"/>
              <a:cs typeface="Roboto"/>
              <a:sym typeface="Roboto"/>
            </a:endParaRPr>
          </a:p>
        </p:txBody>
      </p:sp>
      <p:pic>
        <p:nvPicPr>
          <p:cNvPr id="633" name="Google Shape;633;p49"/>
          <p:cNvPicPr preferRelativeResize="0"/>
          <p:nvPr/>
        </p:nvPicPr>
        <p:blipFill>
          <a:blip r:embed="rId4">
            <a:alphaModFix/>
          </a:blip>
          <a:stretch>
            <a:fillRect/>
          </a:stretch>
        </p:blipFill>
        <p:spPr>
          <a:xfrm>
            <a:off x="2336400" y="1321913"/>
            <a:ext cx="2106229" cy="20716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50"/>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639" name="Google Shape;639;p50">
            <a:hlinkClick r:id="rId3"/>
          </p:cNvPr>
          <p:cNvPicPr preferRelativeResize="0"/>
          <p:nvPr/>
        </p:nvPicPr>
        <p:blipFill>
          <a:blip r:embed="rId4">
            <a:alphaModFix/>
          </a:blip>
          <a:stretch>
            <a:fillRect/>
          </a:stretch>
        </p:blipFill>
        <p:spPr>
          <a:xfrm>
            <a:off x="0" y="0"/>
            <a:ext cx="9105476" cy="409234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51"/>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645" name="Google Shape;645;p51"/>
          <p:cNvSpPr txBox="1"/>
          <p:nvPr>
            <p:ph type="title"/>
          </p:nvPr>
        </p:nvSpPr>
        <p:spPr>
          <a:xfrm>
            <a:off x="1233000" y="126625"/>
            <a:ext cx="6678000" cy="551100"/>
          </a:xfrm>
          <a:prstGeom prst="rect">
            <a:avLst/>
          </a:prstGeom>
          <a:solidFill>
            <a:schemeClr val="lt1"/>
          </a:solid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Evidencia: Historias de Usuario</a:t>
            </a:r>
            <a:endParaRPr b="1" sz="3200" u="none" strike="noStrike">
              <a:solidFill>
                <a:schemeClr val="dk1"/>
              </a:solidFill>
              <a:latin typeface="Roboto"/>
              <a:ea typeface="Roboto"/>
              <a:cs typeface="Roboto"/>
              <a:sym typeface="Roboto"/>
            </a:endParaRPr>
          </a:p>
        </p:txBody>
      </p:sp>
      <p:pic>
        <p:nvPicPr>
          <p:cNvPr id="646" name="Google Shape;646;p51"/>
          <p:cNvPicPr preferRelativeResize="0"/>
          <p:nvPr/>
        </p:nvPicPr>
        <p:blipFill>
          <a:blip r:embed="rId3">
            <a:alphaModFix/>
          </a:blip>
          <a:stretch>
            <a:fillRect/>
          </a:stretch>
        </p:blipFill>
        <p:spPr>
          <a:xfrm>
            <a:off x="152400" y="830125"/>
            <a:ext cx="8669087" cy="3767328"/>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52"/>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652" name="Google Shape;652;p52"/>
          <p:cNvSpPr txBox="1"/>
          <p:nvPr>
            <p:ph type="title"/>
          </p:nvPr>
        </p:nvSpPr>
        <p:spPr>
          <a:xfrm>
            <a:off x="1233000" y="126625"/>
            <a:ext cx="6678000" cy="551100"/>
          </a:xfrm>
          <a:prstGeom prst="rect">
            <a:avLst/>
          </a:prstGeom>
          <a:solidFill>
            <a:schemeClr val="lt1"/>
          </a:solid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Evidencia: Product Backlog</a:t>
            </a:r>
            <a:endParaRPr b="1" sz="3200" u="none" strike="noStrike">
              <a:solidFill>
                <a:schemeClr val="dk1"/>
              </a:solidFill>
              <a:latin typeface="Roboto"/>
              <a:ea typeface="Roboto"/>
              <a:cs typeface="Roboto"/>
              <a:sym typeface="Roboto"/>
            </a:endParaRPr>
          </a:p>
        </p:txBody>
      </p:sp>
      <p:pic>
        <p:nvPicPr>
          <p:cNvPr id="653" name="Google Shape;653;p52"/>
          <p:cNvPicPr preferRelativeResize="0"/>
          <p:nvPr/>
        </p:nvPicPr>
        <p:blipFill>
          <a:blip r:embed="rId3">
            <a:alphaModFix/>
          </a:blip>
          <a:stretch>
            <a:fillRect/>
          </a:stretch>
        </p:blipFill>
        <p:spPr>
          <a:xfrm>
            <a:off x="152400" y="830125"/>
            <a:ext cx="4041469" cy="4160975"/>
          </a:xfrm>
          <a:prstGeom prst="rect">
            <a:avLst/>
          </a:prstGeom>
          <a:noFill/>
          <a:ln>
            <a:noFill/>
          </a:ln>
        </p:spPr>
      </p:pic>
      <p:pic>
        <p:nvPicPr>
          <p:cNvPr id="654" name="Google Shape;654;p52"/>
          <p:cNvPicPr preferRelativeResize="0"/>
          <p:nvPr/>
        </p:nvPicPr>
        <p:blipFill>
          <a:blip r:embed="rId4">
            <a:alphaModFix/>
          </a:blip>
          <a:stretch>
            <a:fillRect/>
          </a:stretch>
        </p:blipFill>
        <p:spPr>
          <a:xfrm>
            <a:off x="4346269" y="830125"/>
            <a:ext cx="4645330" cy="353449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53"/>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660" name="Google Shape;660;p53"/>
          <p:cNvSpPr txBox="1"/>
          <p:nvPr>
            <p:ph type="title"/>
          </p:nvPr>
        </p:nvSpPr>
        <p:spPr>
          <a:xfrm>
            <a:off x="1086525" y="200975"/>
            <a:ext cx="6678000" cy="5511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Evidencia: Riesgos</a:t>
            </a:r>
            <a:endParaRPr b="1" sz="3200">
              <a:solidFill>
                <a:schemeClr val="dk1"/>
              </a:solidFill>
              <a:latin typeface="Roboto"/>
              <a:ea typeface="Roboto"/>
              <a:cs typeface="Roboto"/>
              <a:sym typeface="Roboto"/>
            </a:endParaRPr>
          </a:p>
        </p:txBody>
      </p:sp>
      <p:pic>
        <p:nvPicPr>
          <p:cNvPr id="661" name="Google Shape;661;p53"/>
          <p:cNvPicPr preferRelativeResize="0"/>
          <p:nvPr/>
        </p:nvPicPr>
        <p:blipFill>
          <a:blip r:embed="rId3">
            <a:alphaModFix/>
          </a:blip>
          <a:stretch>
            <a:fillRect/>
          </a:stretch>
        </p:blipFill>
        <p:spPr>
          <a:xfrm>
            <a:off x="152400" y="1310200"/>
            <a:ext cx="8839204" cy="2148087"/>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54"/>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667" name="Google Shape;667;p54"/>
          <p:cNvSpPr txBox="1"/>
          <p:nvPr>
            <p:ph type="title"/>
          </p:nvPr>
        </p:nvSpPr>
        <p:spPr>
          <a:xfrm>
            <a:off x="231350" y="126625"/>
            <a:ext cx="6678000" cy="5511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Evidencia: Riesgos</a:t>
            </a:r>
            <a:endParaRPr b="1" sz="3200">
              <a:solidFill>
                <a:schemeClr val="dk1"/>
              </a:solidFill>
              <a:latin typeface="Roboto"/>
              <a:ea typeface="Roboto"/>
              <a:cs typeface="Roboto"/>
              <a:sym typeface="Roboto"/>
            </a:endParaRPr>
          </a:p>
        </p:txBody>
      </p:sp>
      <p:graphicFrame>
        <p:nvGraphicFramePr>
          <p:cNvPr id="668" name="Google Shape;668;p54"/>
          <p:cNvGraphicFramePr/>
          <p:nvPr/>
        </p:nvGraphicFramePr>
        <p:xfrm>
          <a:off x="304800" y="1492825"/>
          <a:ext cx="3000000" cy="3000000"/>
        </p:xfrm>
        <a:graphic>
          <a:graphicData uri="http://schemas.openxmlformats.org/drawingml/2006/table">
            <a:tbl>
              <a:tblPr>
                <a:noFill/>
                <a:tableStyleId>{CA5587CF-FB61-4D6A-943F-77393A6D735C}</a:tableStyleId>
              </a:tblPr>
              <a:tblGrid>
                <a:gridCol w="1724025"/>
                <a:gridCol w="400050"/>
                <a:gridCol w="1152525"/>
                <a:gridCol w="3914775"/>
              </a:tblGrid>
              <a:tr h="266700">
                <a:tc>
                  <a:txBody>
                    <a:bodyPr/>
                    <a:lstStyle/>
                    <a:p>
                      <a:pPr indent="0" lvl="0" marL="0" rtl="0" algn="ctr">
                        <a:lnSpc>
                          <a:spcPct val="115000"/>
                        </a:lnSpc>
                        <a:spcBef>
                          <a:spcPts val="0"/>
                        </a:spcBef>
                        <a:spcAft>
                          <a:spcPts val="1200"/>
                        </a:spcAft>
                        <a:buNone/>
                      </a:pPr>
                      <a:r>
                        <a:rPr b="1" lang="en-US" sz="1000">
                          <a:solidFill>
                            <a:srgbClr val="333333"/>
                          </a:solidFill>
                        </a:rPr>
                        <a:t>Riesgo</a:t>
                      </a:r>
                      <a:endParaRPr b="1"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c>
                  <a:txBody>
                    <a:bodyPr/>
                    <a:lstStyle/>
                    <a:p>
                      <a:pPr indent="0" lvl="0" marL="0" rtl="0" algn="ctr">
                        <a:lnSpc>
                          <a:spcPct val="115000"/>
                        </a:lnSpc>
                        <a:spcBef>
                          <a:spcPts val="0"/>
                        </a:spcBef>
                        <a:spcAft>
                          <a:spcPts val="1200"/>
                        </a:spcAft>
                        <a:buNone/>
                      </a:pPr>
                      <a:r>
                        <a:rPr b="1" lang="en-US" sz="1000">
                          <a:solidFill>
                            <a:srgbClr val="333333"/>
                          </a:solidFill>
                        </a:rPr>
                        <a:t>E</a:t>
                      </a:r>
                      <a:endParaRPr b="1"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c>
                  <a:txBody>
                    <a:bodyPr/>
                    <a:lstStyle/>
                    <a:p>
                      <a:pPr indent="0" lvl="0" marL="0" rtl="0" algn="ctr">
                        <a:lnSpc>
                          <a:spcPct val="115000"/>
                        </a:lnSpc>
                        <a:spcBef>
                          <a:spcPts val="0"/>
                        </a:spcBef>
                        <a:spcAft>
                          <a:spcPts val="1200"/>
                        </a:spcAft>
                        <a:buNone/>
                      </a:pPr>
                      <a:r>
                        <a:rPr b="1" lang="en-US" sz="1000">
                          <a:solidFill>
                            <a:srgbClr val="333333"/>
                          </a:solidFill>
                        </a:rPr>
                        <a:t>Estado</a:t>
                      </a:r>
                      <a:endParaRPr b="1"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c>
                  <a:txBody>
                    <a:bodyPr/>
                    <a:lstStyle/>
                    <a:p>
                      <a:pPr indent="0" lvl="0" marL="0" rtl="0" algn="ctr">
                        <a:lnSpc>
                          <a:spcPct val="115000"/>
                        </a:lnSpc>
                        <a:spcBef>
                          <a:spcPts val="0"/>
                        </a:spcBef>
                        <a:spcAft>
                          <a:spcPts val="1200"/>
                        </a:spcAft>
                        <a:buNone/>
                      </a:pPr>
                      <a:r>
                        <a:rPr b="1" lang="en-US" sz="1000">
                          <a:solidFill>
                            <a:srgbClr val="333333"/>
                          </a:solidFill>
                        </a:rPr>
                        <a:t>Acción</a:t>
                      </a:r>
                      <a:endParaRPr b="1"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r>
              <a:tr h="266700">
                <a:tc>
                  <a:txBody>
                    <a:bodyPr/>
                    <a:lstStyle/>
                    <a:p>
                      <a:pPr indent="0" lvl="0" marL="0" rtl="0" algn="l">
                        <a:lnSpc>
                          <a:spcPct val="115000"/>
                        </a:lnSpc>
                        <a:spcBef>
                          <a:spcPts val="0"/>
                        </a:spcBef>
                        <a:spcAft>
                          <a:spcPts val="1200"/>
                        </a:spcAft>
                        <a:buNone/>
                      </a:pPr>
                      <a:r>
                        <a:rPr lang="en-US" sz="1000">
                          <a:solidFill>
                            <a:srgbClr val="333333"/>
                          </a:solidFill>
                        </a:rPr>
                        <a:t>R-007 (Testing)</a:t>
                      </a:r>
                      <a:endParaRPr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US" sz="1000">
                          <a:solidFill>
                            <a:srgbClr val="333333"/>
                          </a:solidFill>
                        </a:rPr>
                        <a:t>20</a:t>
                      </a:r>
                      <a:endParaRPr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US" sz="1000">
                          <a:solidFill>
                            <a:srgbClr val="333333"/>
                          </a:solidFill>
                        </a:rPr>
                        <a:t>Abierto</a:t>
                      </a:r>
                      <a:endParaRPr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US" sz="1000">
                          <a:solidFill>
                            <a:srgbClr val="333333"/>
                          </a:solidFill>
                        </a:rPr>
                        <a:t>Implementar tests unitarios con cobertura &gt; 85 %</a:t>
                      </a:r>
                      <a:endParaRPr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r>
              <a:tr h="266700">
                <a:tc>
                  <a:txBody>
                    <a:bodyPr/>
                    <a:lstStyle/>
                    <a:p>
                      <a:pPr indent="0" lvl="0" marL="0" rtl="0" algn="l">
                        <a:lnSpc>
                          <a:spcPct val="115000"/>
                        </a:lnSpc>
                        <a:spcBef>
                          <a:spcPts val="0"/>
                        </a:spcBef>
                        <a:spcAft>
                          <a:spcPts val="1200"/>
                        </a:spcAft>
                        <a:buNone/>
                      </a:pPr>
                      <a:r>
                        <a:rPr lang="en-US" sz="1000">
                          <a:solidFill>
                            <a:srgbClr val="333333"/>
                          </a:solidFill>
                        </a:rPr>
                        <a:t>R-018 (Adopción)</a:t>
                      </a:r>
                      <a:endParaRPr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US" sz="1000">
                          <a:solidFill>
                            <a:srgbClr val="333333"/>
                          </a:solidFill>
                        </a:rPr>
                        <a:t>20</a:t>
                      </a:r>
                      <a:endParaRPr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US" sz="1000">
                          <a:solidFill>
                            <a:srgbClr val="333333"/>
                          </a:solidFill>
                        </a:rPr>
                        <a:t>Monitoreado</a:t>
                      </a:r>
                      <a:endParaRPr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US" sz="1000">
                          <a:solidFill>
                            <a:srgbClr val="333333"/>
                          </a:solidFill>
                        </a:rPr>
                        <a:t>Ejecutar plan de onboarding </a:t>
                      </a:r>
                      <a:r>
                        <a:rPr lang="en-US" sz="1000">
                          <a:solidFill>
                            <a:srgbClr val="333333"/>
                          </a:solidFill>
                        </a:rPr>
                        <a:t>lan pre-lanzamiento: 1) Guía rápida 1 página (Boris, 2h), 2) Video demo 5min (Jaime, 3h), 3) Sesión presencial semana 1 (ambos, 1h).</a:t>
                      </a:r>
                      <a:endParaRPr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r>
              <a:tr h="266700">
                <a:tc>
                  <a:txBody>
                    <a:bodyPr/>
                    <a:lstStyle/>
                    <a:p>
                      <a:pPr indent="0" lvl="0" marL="0" rtl="0" algn="l">
                        <a:lnSpc>
                          <a:spcPct val="115000"/>
                        </a:lnSpc>
                        <a:spcBef>
                          <a:spcPts val="0"/>
                        </a:spcBef>
                        <a:spcAft>
                          <a:spcPts val="1200"/>
                        </a:spcAft>
                        <a:buNone/>
                      </a:pPr>
                      <a:r>
                        <a:rPr lang="en-US" sz="1000">
                          <a:solidFill>
                            <a:srgbClr val="333333"/>
                          </a:solidFill>
                        </a:rPr>
                        <a:t>R-006 (Calidad Datos)</a:t>
                      </a:r>
                      <a:endParaRPr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b="1" lang="en-US" sz="1000">
                          <a:solidFill>
                            <a:srgbClr val="333333"/>
                          </a:solidFill>
                        </a:rPr>
                        <a:t>16</a:t>
                      </a:r>
                      <a:endParaRPr b="1"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US" sz="1000">
                          <a:solidFill>
                            <a:srgbClr val="333333"/>
                          </a:solidFill>
                        </a:rPr>
                        <a:t>Monitoreado</a:t>
                      </a:r>
                      <a:endParaRPr b="1"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US" sz="1000">
                          <a:solidFill>
                            <a:srgbClr val="333333"/>
                          </a:solidFill>
                        </a:rPr>
                        <a:t>proceso de reconciliación de datos</a:t>
                      </a:r>
                      <a:r>
                        <a:rPr lang="en-US" sz="1000">
                          <a:solidFill>
                            <a:srgbClr val="333333"/>
                          </a:solidFill>
                        </a:rPr>
                        <a:t> y alertas (Mayormente Realizado)</a:t>
                      </a:r>
                      <a:endParaRPr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r>
              <a:tr h="266700">
                <a:tc>
                  <a:txBody>
                    <a:bodyPr/>
                    <a:lstStyle/>
                    <a:p>
                      <a:pPr indent="0" lvl="0" marL="0" rtl="0" algn="l">
                        <a:lnSpc>
                          <a:spcPct val="115000"/>
                        </a:lnSpc>
                        <a:spcBef>
                          <a:spcPts val="0"/>
                        </a:spcBef>
                        <a:spcAft>
                          <a:spcPts val="1200"/>
                        </a:spcAft>
                        <a:buNone/>
                      </a:pPr>
                      <a:r>
                        <a:rPr lang="en-US" sz="1000">
                          <a:solidFill>
                            <a:srgbClr val="333333"/>
                          </a:solidFill>
                        </a:rPr>
                        <a:t>R-012 (Capacidad Equipo)</a:t>
                      </a:r>
                      <a:endParaRPr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b="1" lang="en-US" sz="1000">
                          <a:solidFill>
                            <a:srgbClr val="333333"/>
                          </a:solidFill>
                        </a:rPr>
                        <a:t>16</a:t>
                      </a:r>
                      <a:endParaRPr b="1"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US" sz="1000">
                          <a:solidFill>
                            <a:srgbClr val="333333"/>
                          </a:solidFill>
                        </a:rPr>
                        <a:t>Monitoreado</a:t>
                      </a:r>
                      <a:endParaRPr b="1"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US" sz="1000">
                          <a:solidFill>
                            <a:srgbClr val="333333"/>
                          </a:solidFill>
                        </a:rPr>
                        <a:t>Promover pair programming y cross-training</a:t>
                      </a:r>
                      <a:endParaRPr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r>
              <a:tr h="193225">
                <a:tc>
                  <a:txBody>
                    <a:bodyPr/>
                    <a:lstStyle/>
                    <a:p>
                      <a:pPr indent="0" lvl="0" marL="0" rtl="0" algn="l">
                        <a:lnSpc>
                          <a:spcPct val="115000"/>
                        </a:lnSpc>
                        <a:spcBef>
                          <a:spcPts val="0"/>
                        </a:spcBef>
                        <a:spcAft>
                          <a:spcPts val="1200"/>
                        </a:spcAft>
                        <a:buNone/>
                      </a:pPr>
                      <a:r>
                        <a:rPr lang="en-US" sz="1000">
                          <a:solidFill>
                            <a:srgbClr val="333333"/>
                          </a:solidFill>
                        </a:rPr>
                        <a:t>R-016 (Errores TS)</a:t>
                      </a:r>
                      <a:endParaRPr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US" sz="1000">
                          <a:solidFill>
                            <a:srgbClr val="333333"/>
                          </a:solidFill>
                        </a:rPr>
                        <a:t>15</a:t>
                      </a:r>
                      <a:endParaRPr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US" sz="1000">
                          <a:solidFill>
                            <a:srgbClr val="333333"/>
                          </a:solidFill>
                        </a:rPr>
                        <a:t>Cerrado</a:t>
                      </a:r>
                      <a:endParaRPr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US" sz="1000">
                          <a:solidFill>
                            <a:srgbClr val="333333"/>
                          </a:solidFill>
                        </a:rPr>
                        <a:t>Corrección inmediata de tipos (Solucionado)</a:t>
                      </a:r>
                      <a:endParaRPr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r>
            </a:tbl>
          </a:graphicData>
        </a:graphic>
      </p:graphicFrame>
      <p:sp>
        <p:nvSpPr>
          <p:cNvPr id="669" name="Google Shape;669;p54"/>
          <p:cNvSpPr txBox="1"/>
          <p:nvPr/>
        </p:nvSpPr>
        <p:spPr>
          <a:xfrm>
            <a:off x="304800" y="677725"/>
            <a:ext cx="7638000" cy="815100"/>
          </a:xfrm>
          <a:prstGeom prst="rect">
            <a:avLst/>
          </a:prstGeom>
          <a:noFill/>
          <a:ln>
            <a:noFill/>
          </a:ln>
        </p:spPr>
        <p:txBody>
          <a:bodyPr anchorCtr="0" anchor="ctr" bIns="91425" lIns="91425" spcFirstLastPara="1" rIns="91425" wrap="square" tIns="91425">
            <a:noAutofit/>
          </a:bodyPr>
          <a:lstStyle/>
          <a:p>
            <a:pPr indent="0" lvl="0" marL="0" rtl="0" algn="l">
              <a:lnSpc>
                <a:spcPct val="143000"/>
              </a:lnSpc>
              <a:spcBef>
                <a:spcPts val="1300"/>
              </a:spcBef>
              <a:spcAft>
                <a:spcPts val="1200"/>
              </a:spcAft>
              <a:buNone/>
            </a:pPr>
            <a:r>
              <a:rPr b="1" lang="en-US" sz="1950">
                <a:solidFill>
                  <a:srgbClr val="333333"/>
                </a:solidFill>
                <a:latin typeface="Microsoft Yahei"/>
                <a:ea typeface="Microsoft Yahei"/>
                <a:cs typeface="Microsoft Yahei"/>
                <a:sym typeface="Microsoft Yahei"/>
              </a:rPr>
              <a:t>Top 5 Riesgos Críticos para MVP (ordenados por </a:t>
            </a:r>
            <a:r>
              <a:rPr b="1" lang="en-US" sz="1950">
                <a:solidFill>
                  <a:srgbClr val="333333"/>
                </a:solidFill>
                <a:latin typeface="Microsoft Yahei"/>
                <a:ea typeface="Microsoft Yahei"/>
                <a:cs typeface="Microsoft Yahei"/>
                <a:sym typeface="Microsoft Yahei"/>
              </a:rPr>
              <a:t>Exposición</a:t>
            </a:r>
            <a:r>
              <a:rPr b="1" lang="en-US" sz="1950">
                <a:solidFill>
                  <a:srgbClr val="333333"/>
                </a:solidFill>
                <a:latin typeface="Microsoft Yahei"/>
                <a:ea typeface="Microsoft Yahei"/>
                <a:cs typeface="Microsoft Yahei"/>
                <a:sym typeface="Microsoft Yahei"/>
              </a:rPr>
              <a:t>)</a:t>
            </a:r>
            <a:endParaRPr b="1" sz="1950">
              <a:solidFill>
                <a:srgbClr val="333333"/>
              </a:solidFill>
              <a:latin typeface="Microsoft Yahei"/>
              <a:ea typeface="Microsoft Yahei"/>
              <a:cs typeface="Microsoft Yahei"/>
              <a:sym typeface="Microsoft Yahe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p55"/>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675" name="Google Shape;675;p55">
            <a:hlinkClick r:id="rId3"/>
          </p:cNvPr>
          <p:cNvPicPr preferRelativeResize="0"/>
          <p:nvPr/>
        </p:nvPicPr>
        <p:blipFill>
          <a:blip r:embed="rId4">
            <a:alphaModFix/>
          </a:blip>
          <a:stretch>
            <a:fillRect/>
          </a:stretch>
        </p:blipFill>
        <p:spPr>
          <a:xfrm>
            <a:off x="5825" y="-70775"/>
            <a:ext cx="9144003" cy="52142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56"/>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681" name="Google Shape;681;p56"/>
          <p:cNvSpPr txBox="1"/>
          <p:nvPr>
            <p:ph type="title"/>
          </p:nvPr>
        </p:nvSpPr>
        <p:spPr>
          <a:xfrm>
            <a:off x="772425" y="126625"/>
            <a:ext cx="7138500" cy="551100"/>
          </a:xfrm>
          <a:prstGeom prst="rect">
            <a:avLst/>
          </a:prstGeom>
          <a:solidFill>
            <a:schemeClr val="lt1"/>
          </a:solidFill>
          <a:ln>
            <a:noFill/>
          </a:ln>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Evidencia: Product Backlog - Kanban</a:t>
            </a:r>
            <a:endParaRPr b="1" sz="3200">
              <a:solidFill>
                <a:schemeClr val="dk1"/>
              </a:solidFill>
              <a:latin typeface="Roboto"/>
              <a:ea typeface="Roboto"/>
              <a:cs typeface="Roboto"/>
              <a:sym typeface="Roboto"/>
            </a:endParaRPr>
          </a:p>
        </p:txBody>
      </p:sp>
      <p:pic>
        <p:nvPicPr>
          <p:cNvPr id="682" name="Google Shape;682;p56"/>
          <p:cNvPicPr preferRelativeResize="0"/>
          <p:nvPr/>
        </p:nvPicPr>
        <p:blipFill>
          <a:blip r:embed="rId3">
            <a:alphaModFix/>
          </a:blip>
          <a:stretch>
            <a:fillRect/>
          </a:stretch>
        </p:blipFill>
        <p:spPr>
          <a:xfrm>
            <a:off x="772425" y="798288"/>
            <a:ext cx="3497887" cy="4160977"/>
          </a:xfrm>
          <a:prstGeom prst="rect">
            <a:avLst/>
          </a:prstGeom>
          <a:noFill/>
          <a:ln>
            <a:noFill/>
          </a:ln>
        </p:spPr>
      </p:pic>
      <p:pic>
        <p:nvPicPr>
          <p:cNvPr id="683" name="Google Shape;683;p56" title="02-sprint_1_tablero_kanban.png"/>
          <p:cNvPicPr preferRelativeResize="0"/>
          <p:nvPr/>
        </p:nvPicPr>
        <p:blipFill>
          <a:blip r:embed="rId4">
            <a:alphaModFix/>
          </a:blip>
          <a:stretch>
            <a:fillRect/>
          </a:stretch>
        </p:blipFill>
        <p:spPr>
          <a:xfrm>
            <a:off x="4422712" y="830125"/>
            <a:ext cx="4057812" cy="376732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57"/>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689" name="Google Shape;689;p57"/>
          <p:cNvSpPr txBox="1"/>
          <p:nvPr>
            <p:ph type="title"/>
          </p:nvPr>
        </p:nvSpPr>
        <p:spPr>
          <a:xfrm>
            <a:off x="772425" y="126625"/>
            <a:ext cx="7138500" cy="551100"/>
          </a:xfrm>
          <a:prstGeom prst="rect">
            <a:avLst/>
          </a:prstGeom>
          <a:solidFill>
            <a:schemeClr val="lt1"/>
          </a:solid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Evidencia: Daily Scrum</a:t>
            </a:r>
            <a:endParaRPr b="1" sz="3200" u="none" strike="noStrike">
              <a:solidFill>
                <a:schemeClr val="dk1"/>
              </a:solidFill>
              <a:latin typeface="Roboto"/>
              <a:ea typeface="Roboto"/>
              <a:cs typeface="Roboto"/>
              <a:sym typeface="Roboto"/>
            </a:endParaRPr>
          </a:p>
        </p:txBody>
      </p:sp>
      <p:pic>
        <p:nvPicPr>
          <p:cNvPr id="690" name="Google Shape;690;p57"/>
          <p:cNvPicPr preferRelativeResize="0"/>
          <p:nvPr/>
        </p:nvPicPr>
        <p:blipFill>
          <a:blip r:embed="rId3">
            <a:alphaModFix/>
          </a:blip>
          <a:stretch>
            <a:fillRect/>
          </a:stretch>
        </p:blipFill>
        <p:spPr>
          <a:xfrm>
            <a:off x="2580775" y="798288"/>
            <a:ext cx="2503189" cy="416097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58"/>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696" name="Google Shape;696;p58"/>
          <p:cNvSpPr txBox="1"/>
          <p:nvPr>
            <p:ph type="title"/>
          </p:nvPr>
        </p:nvSpPr>
        <p:spPr>
          <a:xfrm>
            <a:off x="772425" y="126625"/>
            <a:ext cx="7138500" cy="551100"/>
          </a:xfrm>
          <a:prstGeom prst="rect">
            <a:avLst/>
          </a:prstGeom>
          <a:solidFill>
            <a:schemeClr val="lt1"/>
          </a:solid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Evidencia: Impediment Log</a:t>
            </a:r>
            <a:endParaRPr b="1" sz="3200" u="none" strike="noStrike">
              <a:solidFill>
                <a:schemeClr val="dk1"/>
              </a:solidFill>
              <a:latin typeface="Roboto"/>
              <a:ea typeface="Roboto"/>
              <a:cs typeface="Roboto"/>
              <a:sym typeface="Roboto"/>
            </a:endParaRPr>
          </a:p>
        </p:txBody>
      </p:sp>
      <p:pic>
        <p:nvPicPr>
          <p:cNvPr id="697" name="Google Shape;697;p58"/>
          <p:cNvPicPr preferRelativeResize="0"/>
          <p:nvPr/>
        </p:nvPicPr>
        <p:blipFill>
          <a:blip r:embed="rId3">
            <a:alphaModFix/>
          </a:blip>
          <a:stretch>
            <a:fillRect/>
          </a:stretch>
        </p:blipFill>
        <p:spPr>
          <a:xfrm>
            <a:off x="1254575" y="798288"/>
            <a:ext cx="6453676" cy="4160973"/>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59"/>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703" name="Google Shape;703;p59"/>
          <p:cNvSpPr txBox="1"/>
          <p:nvPr>
            <p:ph type="title"/>
          </p:nvPr>
        </p:nvSpPr>
        <p:spPr>
          <a:xfrm>
            <a:off x="772425" y="126625"/>
            <a:ext cx="7138500" cy="551100"/>
          </a:xfrm>
          <a:prstGeom prst="rect">
            <a:avLst/>
          </a:prstGeom>
          <a:solidFill>
            <a:schemeClr val="lt1"/>
          </a:solid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Evidencia: Burndown Chart</a:t>
            </a:r>
            <a:endParaRPr b="1" sz="3200" u="none" strike="noStrike">
              <a:solidFill>
                <a:schemeClr val="dk1"/>
              </a:solidFill>
              <a:latin typeface="Roboto"/>
              <a:ea typeface="Roboto"/>
              <a:cs typeface="Roboto"/>
              <a:sym typeface="Roboto"/>
            </a:endParaRPr>
          </a:p>
        </p:txBody>
      </p:sp>
      <p:pic>
        <p:nvPicPr>
          <p:cNvPr id="704" name="Google Shape;704;p59" title="05.-sprint_1_burndown_chart.png"/>
          <p:cNvPicPr preferRelativeResize="0"/>
          <p:nvPr/>
        </p:nvPicPr>
        <p:blipFill>
          <a:blip r:embed="rId3">
            <a:alphaModFix/>
          </a:blip>
          <a:stretch>
            <a:fillRect/>
          </a:stretch>
        </p:blipFill>
        <p:spPr>
          <a:xfrm>
            <a:off x="152400" y="830125"/>
            <a:ext cx="7321027" cy="416097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60"/>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710" name="Google Shape;710;p60"/>
          <p:cNvSpPr txBox="1"/>
          <p:nvPr>
            <p:ph type="title"/>
          </p:nvPr>
        </p:nvSpPr>
        <p:spPr>
          <a:xfrm>
            <a:off x="772425" y="126625"/>
            <a:ext cx="7138500" cy="551100"/>
          </a:xfrm>
          <a:prstGeom prst="rect">
            <a:avLst/>
          </a:prstGeom>
          <a:solidFill>
            <a:schemeClr val="lt1"/>
          </a:solid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Evidencia: </a:t>
            </a:r>
            <a:r>
              <a:rPr b="1" lang="en-US" sz="3200">
                <a:solidFill>
                  <a:schemeClr val="dk1"/>
                </a:solidFill>
                <a:latin typeface="Roboto"/>
                <a:ea typeface="Roboto"/>
                <a:cs typeface="Roboto"/>
                <a:sym typeface="Roboto"/>
              </a:rPr>
              <a:t>Sprint Retrospective</a:t>
            </a:r>
            <a:endParaRPr b="1" sz="3200">
              <a:solidFill>
                <a:schemeClr val="dk1"/>
              </a:solidFill>
              <a:latin typeface="Roboto"/>
              <a:ea typeface="Roboto"/>
              <a:cs typeface="Roboto"/>
              <a:sym typeface="Roboto"/>
            </a:endParaRPr>
          </a:p>
        </p:txBody>
      </p:sp>
      <p:pic>
        <p:nvPicPr>
          <p:cNvPr id="711" name="Google Shape;711;p60"/>
          <p:cNvPicPr preferRelativeResize="0"/>
          <p:nvPr/>
        </p:nvPicPr>
        <p:blipFill>
          <a:blip r:embed="rId3">
            <a:alphaModFix/>
          </a:blip>
          <a:stretch>
            <a:fillRect/>
          </a:stretch>
        </p:blipFill>
        <p:spPr>
          <a:xfrm>
            <a:off x="1111200" y="758450"/>
            <a:ext cx="2854163" cy="4160975"/>
          </a:xfrm>
          <a:prstGeom prst="rect">
            <a:avLst/>
          </a:prstGeom>
          <a:noFill/>
          <a:ln>
            <a:noFill/>
          </a:ln>
        </p:spPr>
      </p:pic>
      <p:pic>
        <p:nvPicPr>
          <p:cNvPr id="712" name="Google Shape;712;p60"/>
          <p:cNvPicPr preferRelativeResize="0"/>
          <p:nvPr/>
        </p:nvPicPr>
        <p:blipFill>
          <a:blip r:embed="rId4">
            <a:alphaModFix/>
          </a:blip>
          <a:stretch>
            <a:fillRect/>
          </a:stretch>
        </p:blipFill>
        <p:spPr>
          <a:xfrm>
            <a:off x="5009538" y="758450"/>
            <a:ext cx="2901397" cy="4160974"/>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61"/>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718" name="Google Shape;718;p61">
            <a:hlinkClick r:id="rId3"/>
          </p:cNvPr>
          <p:cNvPicPr preferRelativeResize="0"/>
          <p:nvPr/>
        </p:nvPicPr>
        <p:blipFill>
          <a:blip r:embed="rId4">
            <a:alphaModFix/>
          </a:blip>
          <a:stretch>
            <a:fillRect/>
          </a:stretch>
        </p:blipFill>
        <p:spPr>
          <a:xfrm>
            <a:off x="0" y="0"/>
            <a:ext cx="9143997" cy="5143499"/>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62"/>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724" name="Google Shape;724;p62"/>
          <p:cNvSpPr txBox="1"/>
          <p:nvPr>
            <p:ph type="title"/>
          </p:nvPr>
        </p:nvSpPr>
        <p:spPr>
          <a:xfrm>
            <a:off x="772425" y="126625"/>
            <a:ext cx="7138500" cy="551100"/>
          </a:xfrm>
          <a:prstGeom prst="rect">
            <a:avLst/>
          </a:prstGeom>
          <a:solidFill>
            <a:schemeClr val="lt1"/>
          </a:solidFill>
          <a:ln>
            <a:noFill/>
          </a:ln>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Evidencia: Product Backlog - Kanban</a:t>
            </a:r>
            <a:endParaRPr b="1" sz="3200">
              <a:solidFill>
                <a:schemeClr val="dk1"/>
              </a:solidFill>
              <a:latin typeface="Roboto"/>
              <a:ea typeface="Roboto"/>
              <a:cs typeface="Roboto"/>
              <a:sym typeface="Roboto"/>
            </a:endParaRPr>
          </a:p>
        </p:txBody>
      </p:sp>
      <p:pic>
        <p:nvPicPr>
          <p:cNvPr id="725" name="Google Shape;725;p62"/>
          <p:cNvPicPr preferRelativeResize="0"/>
          <p:nvPr/>
        </p:nvPicPr>
        <p:blipFill>
          <a:blip r:embed="rId3">
            <a:alphaModFix/>
          </a:blip>
          <a:stretch>
            <a:fillRect/>
          </a:stretch>
        </p:blipFill>
        <p:spPr>
          <a:xfrm>
            <a:off x="522775" y="758438"/>
            <a:ext cx="4049235" cy="4160975"/>
          </a:xfrm>
          <a:prstGeom prst="rect">
            <a:avLst/>
          </a:prstGeom>
          <a:noFill/>
          <a:ln>
            <a:noFill/>
          </a:ln>
        </p:spPr>
      </p:pic>
      <p:pic>
        <p:nvPicPr>
          <p:cNvPr id="726" name="Google Shape;726;p62"/>
          <p:cNvPicPr preferRelativeResize="0"/>
          <p:nvPr/>
        </p:nvPicPr>
        <p:blipFill>
          <a:blip r:embed="rId4">
            <a:alphaModFix/>
          </a:blip>
          <a:stretch>
            <a:fillRect/>
          </a:stretch>
        </p:blipFill>
        <p:spPr>
          <a:xfrm>
            <a:off x="4572010" y="758450"/>
            <a:ext cx="4050472" cy="3767327"/>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63"/>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732" name="Google Shape;732;p63"/>
          <p:cNvSpPr txBox="1"/>
          <p:nvPr>
            <p:ph type="title"/>
          </p:nvPr>
        </p:nvSpPr>
        <p:spPr>
          <a:xfrm>
            <a:off x="772425" y="126625"/>
            <a:ext cx="7247700" cy="551100"/>
          </a:xfrm>
          <a:prstGeom prst="rect">
            <a:avLst/>
          </a:prstGeom>
          <a:solidFill>
            <a:schemeClr val="lt1"/>
          </a:solid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Evidencia: Daily Scrum</a:t>
            </a:r>
            <a:endParaRPr b="1" sz="3200">
              <a:solidFill>
                <a:schemeClr val="dk1"/>
              </a:solidFill>
              <a:latin typeface="Roboto"/>
              <a:ea typeface="Roboto"/>
              <a:cs typeface="Roboto"/>
              <a:sym typeface="Roboto"/>
            </a:endParaRPr>
          </a:p>
        </p:txBody>
      </p:sp>
      <p:pic>
        <p:nvPicPr>
          <p:cNvPr id="733" name="Google Shape;733;p63"/>
          <p:cNvPicPr preferRelativeResize="0"/>
          <p:nvPr/>
        </p:nvPicPr>
        <p:blipFill>
          <a:blip r:embed="rId3">
            <a:alphaModFix/>
          </a:blip>
          <a:stretch>
            <a:fillRect/>
          </a:stretch>
        </p:blipFill>
        <p:spPr>
          <a:xfrm>
            <a:off x="2746425" y="677725"/>
            <a:ext cx="2572986" cy="416097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64"/>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739" name="Google Shape;739;p64"/>
          <p:cNvSpPr txBox="1"/>
          <p:nvPr>
            <p:ph type="title"/>
          </p:nvPr>
        </p:nvSpPr>
        <p:spPr>
          <a:xfrm>
            <a:off x="772425" y="126625"/>
            <a:ext cx="7138500" cy="551100"/>
          </a:xfrm>
          <a:prstGeom prst="rect">
            <a:avLst/>
          </a:prstGeom>
          <a:solidFill>
            <a:schemeClr val="lt1"/>
          </a:solid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Evidencia: Impediment Log</a:t>
            </a:r>
            <a:endParaRPr b="1" sz="3200">
              <a:solidFill>
                <a:schemeClr val="dk1"/>
              </a:solidFill>
              <a:latin typeface="Roboto"/>
              <a:ea typeface="Roboto"/>
              <a:cs typeface="Roboto"/>
              <a:sym typeface="Roboto"/>
            </a:endParaRPr>
          </a:p>
        </p:txBody>
      </p:sp>
      <p:pic>
        <p:nvPicPr>
          <p:cNvPr id="740" name="Google Shape;740;p64"/>
          <p:cNvPicPr preferRelativeResize="0"/>
          <p:nvPr/>
        </p:nvPicPr>
        <p:blipFill>
          <a:blip r:embed="rId3">
            <a:alphaModFix/>
          </a:blip>
          <a:stretch>
            <a:fillRect/>
          </a:stretch>
        </p:blipFill>
        <p:spPr>
          <a:xfrm>
            <a:off x="344500" y="588875"/>
            <a:ext cx="5854618" cy="4160974"/>
          </a:xfrm>
          <a:prstGeom prst="rect">
            <a:avLst/>
          </a:prstGeom>
          <a:noFill/>
          <a:ln>
            <a:noFill/>
          </a:ln>
        </p:spPr>
      </p:pic>
      <p:pic>
        <p:nvPicPr>
          <p:cNvPr id="741" name="Google Shape;741;p64"/>
          <p:cNvPicPr preferRelativeResize="0"/>
          <p:nvPr/>
        </p:nvPicPr>
        <p:blipFill>
          <a:blip r:embed="rId4">
            <a:alphaModFix/>
          </a:blip>
          <a:stretch>
            <a:fillRect/>
          </a:stretch>
        </p:blipFill>
        <p:spPr>
          <a:xfrm>
            <a:off x="6344902" y="1638788"/>
            <a:ext cx="2611849" cy="2219724"/>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65"/>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747" name="Google Shape;747;p65"/>
          <p:cNvSpPr txBox="1"/>
          <p:nvPr>
            <p:ph type="title"/>
          </p:nvPr>
        </p:nvSpPr>
        <p:spPr>
          <a:xfrm>
            <a:off x="951625" y="126625"/>
            <a:ext cx="6048000" cy="551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Burndown Chart Sprint 2</a:t>
            </a:r>
            <a:endParaRPr b="1" sz="3200" u="none" strike="noStrike">
              <a:solidFill>
                <a:schemeClr val="dk1"/>
              </a:solidFill>
              <a:latin typeface="Roboto"/>
              <a:ea typeface="Roboto"/>
              <a:cs typeface="Roboto"/>
              <a:sym typeface="Roboto"/>
            </a:endParaRPr>
          </a:p>
        </p:txBody>
      </p:sp>
      <p:pic>
        <p:nvPicPr>
          <p:cNvPr id="748" name="Google Shape;748;p65"/>
          <p:cNvPicPr preferRelativeResize="0"/>
          <p:nvPr/>
        </p:nvPicPr>
        <p:blipFill>
          <a:blip r:embed="rId3">
            <a:alphaModFix/>
          </a:blip>
          <a:stretch>
            <a:fillRect/>
          </a:stretch>
        </p:blipFill>
        <p:spPr>
          <a:xfrm>
            <a:off x="152400" y="830125"/>
            <a:ext cx="7321210" cy="416097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66"/>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754" name="Google Shape;754;p66"/>
          <p:cNvSpPr txBox="1"/>
          <p:nvPr>
            <p:ph type="title"/>
          </p:nvPr>
        </p:nvSpPr>
        <p:spPr>
          <a:xfrm>
            <a:off x="772425" y="126625"/>
            <a:ext cx="7138500" cy="551100"/>
          </a:xfrm>
          <a:prstGeom prst="rect">
            <a:avLst/>
          </a:prstGeom>
          <a:solidFill>
            <a:schemeClr val="lt1"/>
          </a:solid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Evidencia: Sprint Retrospective</a:t>
            </a:r>
            <a:endParaRPr b="1" sz="3200">
              <a:solidFill>
                <a:schemeClr val="dk1"/>
              </a:solidFill>
              <a:latin typeface="Roboto"/>
              <a:ea typeface="Roboto"/>
              <a:cs typeface="Roboto"/>
              <a:sym typeface="Roboto"/>
            </a:endParaRPr>
          </a:p>
        </p:txBody>
      </p:sp>
      <p:pic>
        <p:nvPicPr>
          <p:cNvPr id="755" name="Google Shape;755;p66"/>
          <p:cNvPicPr preferRelativeResize="0"/>
          <p:nvPr/>
        </p:nvPicPr>
        <p:blipFill>
          <a:blip r:embed="rId3">
            <a:alphaModFix/>
          </a:blip>
          <a:stretch>
            <a:fillRect/>
          </a:stretch>
        </p:blipFill>
        <p:spPr>
          <a:xfrm>
            <a:off x="282525" y="761113"/>
            <a:ext cx="2814255" cy="4160976"/>
          </a:xfrm>
          <a:prstGeom prst="rect">
            <a:avLst/>
          </a:prstGeom>
          <a:noFill/>
          <a:ln>
            <a:noFill/>
          </a:ln>
        </p:spPr>
      </p:pic>
      <p:pic>
        <p:nvPicPr>
          <p:cNvPr id="756" name="Google Shape;756;p66"/>
          <p:cNvPicPr preferRelativeResize="0"/>
          <p:nvPr/>
        </p:nvPicPr>
        <p:blipFill>
          <a:blip r:embed="rId4">
            <a:alphaModFix/>
          </a:blip>
          <a:stretch>
            <a:fillRect/>
          </a:stretch>
        </p:blipFill>
        <p:spPr>
          <a:xfrm>
            <a:off x="3096775" y="865125"/>
            <a:ext cx="3135825" cy="2496125"/>
          </a:xfrm>
          <a:prstGeom prst="rect">
            <a:avLst/>
          </a:prstGeom>
          <a:noFill/>
          <a:ln>
            <a:noFill/>
          </a:ln>
        </p:spPr>
      </p:pic>
      <p:pic>
        <p:nvPicPr>
          <p:cNvPr id="757" name="Google Shape;757;p66"/>
          <p:cNvPicPr preferRelativeResize="0"/>
          <p:nvPr/>
        </p:nvPicPr>
        <p:blipFill>
          <a:blip r:embed="rId5">
            <a:alphaModFix/>
          </a:blip>
          <a:stretch>
            <a:fillRect/>
          </a:stretch>
        </p:blipFill>
        <p:spPr>
          <a:xfrm>
            <a:off x="6232600" y="809350"/>
            <a:ext cx="2606600" cy="2382994"/>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67"/>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763" name="Google Shape;763;p67">
            <a:hlinkClick r:id="rId3"/>
          </p:cNvPr>
          <p:cNvPicPr preferRelativeResize="0"/>
          <p:nvPr/>
        </p:nvPicPr>
        <p:blipFill>
          <a:blip r:embed="rId4">
            <a:alphaModFix/>
          </a:blip>
          <a:stretch>
            <a:fillRect/>
          </a:stretch>
        </p:blipFill>
        <p:spPr>
          <a:xfrm>
            <a:off x="0" y="0"/>
            <a:ext cx="9207400" cy="51435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68"/>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769" name="Google Shape;769;p68"/>
          <p:cNvSpPr txBox="1"/>
          <p:nvPr>
            <p:ph type="title"/>
          </p:nvPr>
        </p:nvSpPr>
        <p:spPr>
          <a:xfrm>
            <a:off x="772425" y="126625"/>
            <a:ext cx="7138500" cy="551100"/>
          </a:xfrm>
          <a:prstGeom prst="rect">
            <a:avLst/>
          </a:prstGeom>
          <a:solidFill>
            <a:schemeClr val="lt1"/>
          </a:solidFill>
          <a:ln>
            <a:noFill/>
          </a:ln>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Evidencia: Product Backlog - Kanban</a:t>
            </a:r>
            <a:endParaRPr b="1" sz="3200">
              <a:solidFill>
                <a:schemeClr val="dk1"/>
              </a:solidFill>
              <a:latin typeface="Roboto"/>
              <a:ea typeface="Roboto"/>
              <a:cs typeface="Roboto"/>
              <a:sym typeface="Roboto"/>
            </a:endParaRPr>
          </a:p>
        </p:txBody>
      </p:sp>
      <p:pic>
        <p:nvPicPr>
          <p:cNvPr id="770" name="Google Shape;770;p68"/>
          <p:cNvPicPr preferRelativeResize="0"/>
          <p:nvPr/>
        </p:nvPicPr>
        <p:blipFill>
          <a:blip r:embed="rId3">
            <a:alphaModFix/>
          </a:blip>
          <a:stretch>
            <a:fillRect/>
          </a:stretch>
        </p:blipFill>
        <p:spPr>
          <a:xfrm>
            <a:off x="654350" y="836325"/>
            <a:ext cx="3337346" cy="4160976"/>
          </a:xfrm>
          <a:prstGeom prst="rect">
            <a:avLst/>
          </a:prstGeom>
          <a:noFill/>
          <a:ln>
            <a:noFill/>
          </a:ln>
        </p:spPr>
      </p:pic>
      <p:pic>
        <p:nvPicPr>
          <p:cNvPr id="771" name="Google Shape;771;p68" title="02.-sprint_2_tablero_kanban.png"/>
          <p:cNvPicPr preferRelativeResize="0"/>
          <p:nvPr/>
        </p:nvPicPr>
        <p:blipFill>
          <a:blip r:embed="rId4">
            <a:alphaModFix/>
          </a:blip>
          <a:stretch>
            <a:fillRect/>
          </a:stretch>
        </p:blipFill>
        <p:spPr>
          <a:xfrm>
            <a:off x="4416796" y="836325"/>
            <a:ext cx="3668745" cy="4160974"/>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69"/>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777" name="Google Shape;777;p69"/>
          <p:cNvSpPr txBox="1"/>
          <p:nvPr>
            <p:ph type="title"/>
          </p:nvPr>
        </p:nvSpPr>
        <p:spPr>
          <a:xfrm>
            <a:off x="772425" y="126625"/>
            <a:ext cx="7138500" cy="551100"/>
          </a:xfrm>
          <a:prstGeom prst="rect">
            <a:avLst/>
          </a:prstGeom>
          <a:solidFill>
            <a:schemeClr val="lt1"/>
          </a:solidFill>
          <a:ln>
            <a:noFill/>
          </a:ln>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Evidencia: Daily Scrum</a:t>
            </a:r>
            <a:endParaRPr b="1" sz="3200">
              <a:solidFill>
                <a:schemeClr val="dk1"/>
              </a:solidFill>
              <a:latin typeface="Roboto"/>
              <a:ea typeface="Roboto"/>
              <a:cs typeface="Roboto"/>
              <a:sym typeface="Roboto"/>
            </a:endParaRPr>
          </a:p>
        </p:txBody>
      </p:sp>
      <p:pic>
        <p:nvPicPr>
          <p:cNvPr id="778" name="Google Shape;778;p69"/>
          <p:cNvPicPr preferRelativeResize="0"/>
          <p:nvPr/>
        </p:nvPicPr>
        <p:blipFill>
          <a:blip r:embed="rId3">
            <a:alphaModFix/>
          </a:blip>
          <a:stretch>
            <a:fillRect/>
          </a:stretch>
        </p:blipFill>
        <p:spPr>
          <a:xfrm>
            <a:off x="3046400" y="798288"/>
            <a:ext cx="2657048" cy="4160976"/>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70"/>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784" name="Google Shape;784;p70"/>
          <p:cNvSpPr txBox="1"/>
          <p:nvPr>
            <p:ph type="title"/>
          </p:nvPr>
        </p:nvSpPr>
        <p:spPr>
          <a:xfrm>
            <a:off x="772425" y="126625"/>
            <a:ext cx="7138500" cy="551100"/>
          </a:xfrm>
          <a:prstGeom prst="rect">
            <a:avLst/>
          </a:prstGeom>
          <a:solidFill>
            <a:schemeClr val="lt1"/>
          </a:solidFill>
          <a:ln>
            <a:noFill/>
          </a:ln>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Evidencia: Impediment Log</a:t>
            </a:r>
            <a:endParaRPr b="1" sz="3200">
              <a:solidFill>
                <a:schemeClr val="dk1"/>
              </a:solidFill>
              <a:latin typeface="Roboto"/>
              <a:ea typeface="Roboto"/>
              <a:cs typeface="Roboto"/>
              <a:sym typeface="Roboto"/>
            </a:endParaRPr>
          </a:p>
        </p:txBody>
      </p:sp>
      <p:pic>
        <p:nvPicPr>
          <p:cNvPr id="785" name="Google Shape;785;p70"/>
          <p:cNvPicPr preferRelativeResize="0"/>
          <p:nvPr/>
        </p:nvPicPr>
        <p:blipFill>
          <a:blip r:embed="rId3">
            <a:alphaModFix/>
          </a:blip>
          <a:stretch>
            <a:fillRect/>
          </a:stretch>
        </p:blipFill>
        <p:spPr>
          <a:xfrm>
            <a:off x="152400" y="809350"/>
            <a:ext cx="6676210" cy="3940499"/>
          </a:xfrm>
          <a:prstGeom prst="rect">
            <a:avLst/>
          </a:prstGeom>
          <a:noFill/>
          <a:ln>
            <a:noFill/>
          </a:ln>
        </p:spPr>
      </p:pic>
      <p:pic>
        <p:nvPicPr>
          <p:cNvPr id="786" name="Google Shape;786;p70"/>
          <p:cNvPicPr preferRelativeResize="0"/>
          <p:nvPr/>
        </p:nvPicPr>
        <p:blipFill>
          <a:blip r:embed="rId4">
            <a:alphaModFix/>
          </a:blip>
          <a:stretch>
            <a:fillRect/>
          </a:stretch>
        </p:blipFill>
        <p:spPr>
          <a:xfrm>
            <a:off x="6786325" y="879700"/>
            <a:ext cx="2263376" cy="283477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71"/>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792" name="Google Shape;792;p71"/>
          <p:cNvPicPr preferRelativeResize="0"/>
          <p:nvPr/>
        </p:nvPicPr>
        <p:blipFill>
          <a:blip r:embed="rId3">
            <a:alphaModFix/>
          </a:blip>
          <a:stretch>
            <a:fillRect/>
          </a:stretch>
        </p:blipFill>
        <p:spPr>
          <a:xfrm>
            <a:off x="152400" y="415575"/>
            <a:ext cx="8312752" cy="4727925"/>
          </a:xfrm>
          <a:prstGeom prst="rect">
            <a:avLst/>
          </a:prstGeom>
          <a:noFill/>
          <a:ln>
            <a:noFill/>
          </a:ln>
        </p:spPr>
      </p:pic>
      <p:sp>
        <p:nvSpPr>
          <p:cNvPr id="793" name="Google Shape;793;p71"/>
          <p:cNvSpPr txBox="1"/>
          <p:nvPr>
            <p:ph type="title"/>
          </p:nvPr>
        </p:nvSpPr>
        <p:spPr>
          <a:xfrm>
            <a:off x="943925" y="34100"/>
            <a:ext cx="6048000" cy="551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Burndown Chart Sprint 3</a:t>
            </a:r>
            <a:endParaRPr b="1" sz="3200" u="none" strike="noStrike">
              <a:solidFill>
                <a:schemeClr val="dk1"/>
              </a:solidFill>
              <a:latin typeface="Roboto"/>
              <a:ea typeface="Roboto"/>
              <a:cs typeface="Roboto"/>
              <a:sym typeface="Roboto"/>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72"/>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799" name="Google Shape;799;p72"/>
          <p:cNvSpPr txBox="1"/>
          <p:nvPr>
            <p:ph type="title"/>
          </p:nvPr>
        </p:nvSpPr>
        <p:spPr>
          <a:xfrm>
            <a:off x="772425" y="126625"/>
            <a:ext cx="7138500" cy="551100"/>
          </a:xfrm>
          <a:prstGeom prst="rect">
            <a:avLst/>
          </a:prstGeom>
          <a:solidFill>
            <a:schemeClr val="lt1"/>
          </a:solidFill>
          <a:ln>
            <a:noFill/>
          </a:ln>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Evidencia: Sprint Retrospective</a:t>
            </a:r>
            <a:endParaRPr b="1" sz="3200">
              <a:solidFill>
                <a:schemeClr val="dk1"/>
              </a:solidFill>
              <a:latin typeface="Roboto"/>
              <a:ea typeface="Roboto"/>
              <a:cs typeface="Roboto"/>
              <a:sym typeface="Roboto"/>
            </a:endParaRPr>
          </a:p>
        </p:txBody>
      </p:sp>
      <p:pic>
        <p:nvPicPr>
          <p:cNvPr id="800" name="Google Shape;800;p72"/>
          <p:cNvPicPr preferRelativeResize="0"/>
          <p:nvPr/>
        </p:nvPicPr>
        <p:blipFill>
          <a:blip r:embed="rId3">
            <a:alphaModFix/>
          </a:blip>
          <a:stretch>
            <a:fillRect/>
          </a:stretch>
        </p:blipFill>
        <p:spPr>
          <a:xfrm>
            <a:off x="772425" y="798288"/>
            <a:ext cx="3631314" cy="4160974"/>
          </a:xfrm>
          <a:prstGeom prst="rect">
            <a:avLst/>
          </a:prstGeom>
          <a:noFill/>
          <a:ln>
            <a:noFill/>
          </a:ln>
        </p:spPr>
      </p:pic>
      <p:pic>
        <p:nvPicPr>
          <p:cNvPr id="801" name="Google Shape;801;p72"/>
          <p:cNvPicPr preferRelativeResize="0"/>
          <p:nvPr/>
        </p:nvPicPr>
        <p:blipFill>
          <a:blip r:embed="rId4">
            <a:alphaModFix/>
          </a:blip>
          <a:stretch>
            <a:fillRect/>
          </a:stretch>
        </p:blipFill>
        <p:spPr>
          <a:xfrm>
            <a:off x="4556139" y="830125"/>
            <a:ext cx="3709290" cy="416097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grpSp>
        <p:nvGrpSpPr>
          <p:cNvPr id="806" name="Google Shape;806;p73"/>
          <p:cNvGrpSpPr/>
          <p:nvPr/>
        </p:nvGrpSpPr>
        <p:grpSpPr>
          <a:xfrm>
            <a:off x="3978720" y="6840"/>
            <a:ext cx="5164200" cy="5143200"/>
            <a:chOff x="3978720" y="6840"/>
            <a:chExt cx="5164200" cy="5143200"/>
          </a:xfrm>
        </p:grpSpPr>
        <p:sp>
          <p:nvSpPr>
            <p:cNvPr id="807" name="Google Shape;807;p73"/>
            <p:cNvSpPr/>
            <p:nvPr/>
          </p:nvSpPr>
          <p:spPr>
            <a:xfrm flipH="1">
              <a:off x="3978720" y="6840"/>
              <a:ext cx="5164200" cy="51432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08" name="Google Shape;808;p73"/>
            <p:cNvSpPr/>
            <p:nvPr/>
          </p:nvSpPr>
          <p:spPr>
            <a:xfrm rot="-2699590">
              <a:off x="4520886" y="36474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09" name="Google Shape;809;p73"/>
            <p:cNvSpPr/>
            <p:nvPr/>
          </p:nvSpPr>
          <p:spPr>
            <a:xfrm rot="-2699590">
              <a:off x="7184166" y="22452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10" name="Google Shape;810;p73"/>
            <p:cNvSpPr/>
            <p:nvPr/>
          </p:nvSpPr>
          <p:spPr>
            <a:xfrm rot="-2699590">
              <a:off x="6716478" y="11666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11" name="Google Shape;811;p73"/>
            <p:cNvSpPr/>
            <p:nvPr/>
          </p:nvSpPr>
          <p:spPr>
            <a:xfrm rot="-2699590">
              <a:off x="5940318" y="35714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12" name="Google Shape;812;p73"/>
            <p:cNvSpPr/>
            <p:nvPr/>
          </p:nvSpPr>
          <p:spPr>
            <a:xfrm>
              <a:off x="6778080" y="2891160"/>
              <a:ext cx="1596300" cy="1596300"/>
            </a:xfrm>
            <a:prstGeom prst="ellipse">
              <a:avLst/>
            </a:prstGeom>
            <a:noFill/>
            <a:ln cap="flat" cmpd="sng" w="9525">
              <a:solidFill>
                <a:srgbClr val="F8F8F8"/>
              </a:solidFill>
              <a:prstDash val="lg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813" name="Google Shape;813;p73"/>
          <p:cNvSpPr/>
          <p:nvPr/>
        </p:nvSpPr>
        <p:spPr>
          <a:xfrm>
            <a:off x="5397480" y="1055160"/>
            <a:ext cx="3033000" cy="3033000"/>
          </a:xfrm>
          <a:prstGeom prst="ellipse">
            <a:avLst/>
          </a:prstGeom>
          <a:blipFill rotWithShape="1">
            <a:blip r:embed="rId3">
              <a:alphaModFix/>
            </a:blip>
            <a:stretch>
              <a:fillRect b="0" l="0" r="0" t="0"/>
            </a:stretch>
          </a:blipFill>
          <a:ln cap="flat" cmpd="sng" w="38100">
            <a:solidFill>
              <a:srgbClr val="F8F8F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814" name="Google Shape;814;p73"/>
          <p:cNvGrpSpPr/>
          <p:nvPr/>
        </p:nvGrpSpPr>
        <p:grpSpPr>
          <a:xfrm>
            <a:off x="5405271" y="1044240"/>
            <a:ext cx="3160020" cy="3290700"/>
            <a:chOff x="5405271" y="1044240"/>
            <a:chExt cx="3160020" cy="3290700"/>
          </a:xfrm>
        </p:grpSpPr>
        <p:sp>
          <p:nvSpPr>
            <p:cNvPr id="815" name="Google Shape;815;p73"/>
            <p:cNvSpPr/>
            <p:nvPr/>
          </p:nvSpPr>
          <p:spPr>
            <a:xfrm rot="-2700000">
              <a:off x="7674867" y="13795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16" name="Google Shape;816;p73"/>
            <p:cNvSpPr/>
            <p:nvPr/>
          </p:nvSpPr>
          <p:spPr>
            <a:xfrm rot="-2700000">
              <a:off x="5299947" y="38851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817" name="Google Shape;817;p73"/>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818" name="Google Shape;818;p73"/>
          <p:cNvSpPr txBox="1"/>
          <p:nvPr>
            <p:ph type="title"/>
          </p:nvPr>
        </p:nvSpPr>
        <p:spPr>
          <a:xfrm>
            <a:off x="346028" y="1948375"/>
            <a:ext cx="6990900" cy="818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Cronograma</a:t>
            </a:r>
            <a:endParaRPr b="1" sz="3200" u="none" strike="noStrike">
              <a:solidFill>
                <a:schemeClr val="dk1"/>
              </a:solidFill>
              <a:latin typeface="Roboto"/>
              <a:ea typeface="Roboto"/>
              <a:cs typeface="Roboto"/>
              <a:sym typeface="Roboto"/>
            </a:endParaRPr>
          </a:p>
        </p:txBody>
      </p:sp>
      <p:pic>
        <p:nvPicPr>
          <p:cNvPr id="819" name="Google Shape;819;p73"/>
          <p:cNvPicPr preferRelativeResize="0"/>
          <p:nvPr/>
        </p:nvPicPr>
        <p:blipFill>
          <a:blip r:embed="rId4">
            <a:alphaModFix/>
          </a:blip>
          <a:stretch>
            <a:fillRect/>
          </a:stretch>
        </p:blipFill>
        <p:spPr>
          <a:xfrm>
            <a:off x="3058550" y="1454450"/>
            <a:ext cx="1872638" cy="155945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p74"/>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825" name="Google Shape;825;p74" title="03.-cronograma.png"/>
          <p:cNvPicPr preferRelativeResize="0"/>
          <p:nvPr/>
        </p:nvPicPr>
        <p:blipFill>
          <a:blip r:embed="rId3">
            <a:alphaModFix/>
          </a:blip>
          <a:stretch>
            <a:fillRect/>
          </a:stretch>
        </p:blipFill>
        <p:spPr>
          <a:xfrm>
            <a:off x="0" y="212250"/>
            <a:ext cx="9144003" cy="4931249"/>
          </a:xfrm>
          <a:prstGeom prst="rect">
            <a:avLst/>
          </a:prstGeom>
          <a:noFill/>
          <a:ln>
            <a:noFill/>
          </a:ln>
        </p:spPr>
      </p:pic>
      <p:sp>
        <p:nvSpPr>
          <p:cNvPr id="826" name="Google Shape;826;p74"/>
          <p:cNvSpPr txBox="1"/>
          <p:nvPr>
            <p:ph type="title"/>
          </p:nvPr>
        </p:nvSpPr>
        <p:spPr>
          <a:xfrm>
            <a:off x="3340500" y="126625"/>
            <a:ext cx="2463000" cy="551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Cronograma</a:t>
            </a:r>
            <a:endParaRPr b="1" sz="3200" u="none" strike="noStrike">
              <a:solidFill>
                <a:schemeClr val="dk1"/>
              </a:solidFill>
              <a:latin typeface="Roboto"/>
              <a:ea typeface="Roboto"/>
              <a:cs typeface="Roboto"/>
              <a:sym typeface="Roboto"/>
            </a:endParaRPr>
          </a:p>
        </p:txBody>
      </p:sp>
      <p:sp>
        <p:nvSpPr>
          <p:cNvPr id="827" name="Google Shape;827;p74"/>
          <p:cNvSpPr/>
          <p:nvPr/>
        </p:nvSpPr>
        <p:spPr>
          <a:xfrm>
            <a:off x="551400" y="4572850"/>
            <a:ext cx="941400" cy="177000"/>
          </a:xfrm>
          <a:prstGeom prst="roundRect">
            <a:avLst>
              <a:gd fmla="val 16667" name="adj"/>
            </a:avLst>
          </a:prstGeom>
          <a:noFill/>
          <a:ln cap="flat" cmpd="sng" w="381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828" name="Google Shape;828;p74"/>
          <p:cNvSpPr/>
          <p:nvPr/>
        </p:nvSpPr>
        <p:spPr>
          <a:xfrm>
            <a:off x="7259150" y="4572850"/>
            <a:ext cx="620700" cy="177000"/>
          </a:xfrm>
          <a:prstGeom prst="roundRect">
            <a:avLst>
              <a:gd fmla="val 16667" name="adj"/>
            </a:avLst>
          </a:prstGeom>
          <a:noFill/>
          <a:ln cap="flat" cmpd="sng" w="381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75"/>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834" name="Google Shape;834;p75"/>
          <p:cNvSpPr txBox="1"/>
          <p:nvPr>
            <p:ph type="title"/>
          </p:nvPr>
        </p:nvSpPr>
        <p:spPr>
          <a:xfrm>
            <a:off x="2669100" y="126625"/>
            <a:ext cx="3805800" cy="551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Evidencia: Costos</a:t>
            </a:r>
            <a:endParaRPr b="1" sz="3200">
              <a:solidFill>
                <a:schemeClr val="dk1"/>
              </a:solidFill>
              <a:latin typeface="Roboto"/>
              <a:ea typeface="Roboto"/>
              <a:cs typeface="Roboto"/>
              <a:sym typeface="Roboto"/>
            </a:endParaRPr>
          </a:p>
        </p:txBody>
      </p:sp>
      <p:pic>
        <p:nvPicPr>
          <p:cNvPr id="835" name="Google Shape;835;p75"/>
          <p:cNvPicPr preferRelativeResize="0"/>
          <p:nvPr/>
        </p:nvPicPr>
        <p:blipFill>
          <a:blip r:embed="rId3">
            <a:alphaModFix/>
          </a:blip>
          <a:stretch>
            <a:fillRect/>
          </a:stretch>
        </p:blipFill>
        <p:spPr>
          <a:xfrm>
            <a:off x="2102850" y="572175"/>
            <a:ext cx="4684375" cy="4434649"/>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grpSp>
        <p:nvGrpSpPr>
          <p:cNvPr id="840" name="Google Shape;840;p76"/>
          <p:cNvGrpSpPr/>
          <p:nvPr/>
        </p:nvGrpSpPr>
        <p:grpSpPr>
          <a:xfrm>
            <a:off x="3978720" y="6840"/>
            <a:ext cx="5164200" cy="5143200"/>
            <a:chOff x="3978720" y="6840"/>
            <a:chExt cx="5164200" cy="5143200"/>
          </a:xfrm>
        </p:grpSpPr>
        <p:sp>
          <p:nvSpPr>
            <p:cNvPr id="841" name="Google Shape;841;p76"/>
            <p:cNvSpPr/>
            <p:nvPr/>
          </p:nvSpPr>
          <p:spPr>
            <a:xfrm flipH="1">
              <a:off x="3978720" y="6840"/>
              <a:ext cx="5164200" cy="51432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42" name="Google Shape;842;p76"/>
            <p:cNvSpPr/>
            <p:nvPr/>
          </p:nvSpPr>
          <p:spPr>
            <a:xfrm rot="-2699590">
              <a:off x="4520886" y="36474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43" name="Google Shape;843;p76"/>
            <p:cNvSpPr/>
            <p:nvPr/>
          </p:nvSpPr>
          <p:spPr>
            <a:xfrm rot="-2699590">
              <a:off x="7184166" y="22452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44" name="Google Shape;844;p76"/>
            <p:cNvSpPr/>
            <p:nvPr/>
          </p:nvSpPr>
          <p:spPr>
            <a:xfrm rot="-2699590">
              <a:off x="6716478" y="11666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45" name="Google Shape;845;p76"/>
            <p:cNvSpPr/>
            <p:nvPr/>
          </p:nvSpPr>
          <p:spPr>
            <a:xfrm rot="-2699590">
              <a:off x="5940318" y="35714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46" name="Google Shape;846;p76"/>
            <p:cNvSpPr/>
            <p:nvPr/>
          </p:nvSpPr>
          <p:spPr>
            <a:xfrm>
              <a:off x="6778080" y="2891160"/>
              <a:ext cx="1596300" cy="1596300"/>
            </a:xfrm>
            <a:prstGeom prst="ellipse">
              <a:avLst/>
            </a:prstGeom>
            <a:noFill/>
            <a:ln cap="flat" cmpd="sng" w="9525">
              <a:solidFill>
                <a:srgbClr val="F8F8F8"/>
              </a:solidFill>
              <a:prstDash val="lg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847" name="Google Shape;847;p76"/>
          <p:cNvSpPr/>
          <p:nvPr/>
        </p:nvSpPr>
        <p:spPr>
          <a:xfrm>
            <a:off x="5397480" y="1055160"/>
            <a:ext cx="3033000" cy="3033000"/>
          </a:xfrm>
          <a:prstGeom prst="ellipse">
            <a:avLst/>
          </a:prstGeom>
          <a:blipFill rotWithShape="1">
            <a:blip r:embed="rId3">
              <a:alphaModFix/>
            </a:blip>
            <a:stretch>
              <a:fillRect b="0" l="0" r="0" t="0"/>
            </a:stretch>
          </a:blipFill>
          <a:ln cap="flat" cmpd="sng" w="38100">
            <a:solidFill>
              <a:srgbClr val="F8F8F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848" name="Google Shape;848;p76"/>
          <p:cNvGrpSpPr/>
          <p:nvPr/>
        </p:nvGrpSpPr>
        <p:grpSpPr>
          <a:xfrm>
            <a:off x="5405271" y="1044240"/>
            <a:ext cx="3160020" cy="3290700"/>
            <a:chOff x="5405271" y="1044240"/>
            <a:chExt cx="3160020" cy="3290700"/>
          </a:xfrm>
        </p:grpSpPr>
        <p:sp>
          <p:nvSpPr>
            <p:cNvPr id="849" name="Google Shape;849;p76"/>
            <p:cNvSpPr/>
            <p:nvPr/>
          </p:nvSpPr>
          <p:spPr>
            <a:xfrm rot="-2700000">
              <a:off x="7674867" y="13795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50" name="Google Shape;850;p76"/>
            <p:cNvSpPr/>
            <p:nvPr/>
          </p:nvSpPr>
          <p:spPr>
            <a:xfrm rot="-2700000">
              <a:off x="5299947" y="38851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851" name="Google Shape;851;p76"/>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852" name="Google Shape;852;p76"/>
          <p:cNvSpPr txBox="1"/>
          <p:nvPr>
            <p:ph type="title"/>
          </p:nvPr>
        </p:nvSpPr>
        <p:spPr>
          <a:xfrm>
            <a:off x="346028" y="1948375"/>
            <a:ext cx="6990900" cy="818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Demostración</a:t>
            </a:r>
            <a:endParaRPr b="1" sz="3200">
              <a:solidFill>
                <a:schemeClr val="dk1"/>
              </a:solidFill>
              <a:latin typeface="Roboto"/>
              <a:ea typeface="Roboto"/>
              <a:cs typeface="Roboto"/>
              <a:sym typeface="Roboto"/>
            </a:endParaRPr>
          </a:p>
        </p:txBody>
      </p:sp>
      <p:pic>
        <p:nvPicPr>
          <p:cNvPr id="853" name="Google Shape;853;p76"/>
          <p:cNvPicPr preferRelativeResize="0"/>
          <p:nvPr/>
        </p:nvPicPr>
        <p:blipFill>
          <a:blip r:embed="rId4">
            <a:alphaModFix/>
          </a:blip>
          <a:stretch>
            <a:fillRect/>
          </a:stretch>
        </p:blipFill>
        <p:spPr>
          <a:xfrm>
            <a:off x="3249650" y="1279300"/>
            <a:ext cx="1655581" cy="167115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77"/>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859" name="Google Shape;859;p77"/>
          <p:cNvSpPr txBox="1"/>
          <p:nvPr>
            <p:ph type="title"/>
          </p:nvPr>
        </p:nvSpPr>
        <p:spPr>
          <a:xfrm>
            <a:off x="2878050" y="126625"/>
            <a:ext cx="3387900" cy="551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Demostración</a:t>
            </a:r>
            <a:endParaRPr b="1" sz="3200">
              <a:solidFill>
                <a:schemeClr val="dk1"/>
              </a:solidFill>
              <a:latin typeface="Roboto"/>
              <a:ea typeface="Roboto"/>
              <a:cs typeface="Roboto"/>
              <a:sym typeface="Roboto"/>
            </a:endParaRPr>
          </a:p>
        </p:txBody>
      </p:sp>
      <p:sp>
        <p:nvSpPr>
          <p:cNvPr id="860" name="Google Shape;860;p77"/>
          <p:cNvSpPr txBox="1"/>
          <p:nvPr/>
        </p:nvSpPr>
        <p:spPr>
          <a:xfrm>
            <a:off x="3325850" y="1505375"/>
            <a:ext cx="15780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300" u="sng">
                <a:solidFill>
                  <a:schemeClr val="hlink"/>
                </a:solidFill>
                <a:latin typeface="Roboto"/>
                <a:ea typeface="Roboto"/>
                <a:cs typeface="Roboto"/>
                <a:sym typeface="Roboto"/>
                <a:hlinkClick r:id="rId3"/>
              </a:rPr>
              <a:t>URL Demo</a:t>
            </a:r>
            <a:endParaRPr b="1" sz="2300">
              <a:latin typeface="Roboto"/>
              <a:ea typeface="Roboto"/>
              <a:cs typeface="Roboto"/>
              <a:sym typeface="Roboto"/>
            </a:endParaRPr>
          </a:p>
        </p:txBody>
      </p:sp>
      <p:sp>
        <p:nvSpPr>
          <p:cNvPr id="861" name="Google Shape;861;p77"/>
          <p:cNvSpPr txBox="1"/>
          <p:nvPr/>
        </p:nvSpPr>
        <p:spPr>
          <a:xfrm>
            <a:off x="1277650" y="2999500"/>
            <a:ext cx="62559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300" u="sng">
                <a:solidFill>
                  <a:srgbClr val="009384"/>
                </a:solidFill>
                <a:latin typeface="Roboto"/>
                <a:ea typeface="Roboto"/>
                <a:cs typeface="Roboto"/>
                <a:sym typeface="Roboto"/>
                <a:hlinkClick r:id="rId4">
                  <a:extLst>
                    <a:ext uri="{A12FA001-AC4F-418D-AE19-62706E023703}">
                      <ahyp:hlinkClr val="tx"/>
                    </a:ext>
                  </a:extLst>
                </a:hlinkClick>
              </a:rPr>
              <a:t>URL Crear gráficos en Metabase Dashboard</a:t>
            </a:r>
            <a:endParaRPr b="1" sz="2300">
              <a:latin typeface="Roboto"/>
              <a:ea typeface="Roboto"/>
              <a:cs typeface="Roboto"/>
              <a:sym typeface="Roboto"/>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grpSp>
        <p:nvGrpSpPr>
          <p:cNvPr id="866" name="Google Shape;866;p78"/>
          <p:cNvGrpSpPr/>
          <p:nvPr/>
        </p:nvGrpSpPr>
        <p:grpSpPr>
          <a:xfrm>
            <a:off x="3978720" y="6840"/>
            <a:ext cx="5164200" cy="5143200"/>
            <a:chOff x="3978720" y="6840"/>
            <a:chExt cx="5164200" cy="5143200"/>
          </a:xfrm>
        </p:grpSpPr>
        <p:sp>
          <p:nvSpPr>
            <p:cNvPr id="867" name="Google Shape;867;p78"/>
            <p:cNvSpPr/>
            <p:nvPr/>
          </p:nvSpPr>
          <p:spPr>
            <a:xfrm flipH="1">
              <a:off x="3978720" y="6840"/>
              <a:ext cx="5164200" cy="51432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68" name="Google Shape;868;p78"/>
            <p:cNvSpPr/>
            <p:nvPr/>
          </p:nvSpPr>
          <p:spPr>
            <a:xfrm rot="-2699590">
              <a:off x="4520886" y="36474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69" name="Google Shape;869;p78"/>
            <p:cNvSpPr/>
            <p:nvPr/>
          </p:nvSpPr>
          <p:spPr>
            <a:xfrm rot="-2699590">
              <a:off x="7184166" y="22452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70" name="Google Shape;870;p78"/>
            <p:cNvSpPr/>
            <p:nvPr/>
          </p:nvSpPr>
          <p:spPr>
            <a:xfrm rot="-2699590">
              <a:off x="6716478" y="11666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71" name="Google Shape;871;p78"/>
            <p:cNvSpPr/>
            <p:nvPr/>
          </p:nvSpPr>
          <p:spPr>
            <a:xfrm rot="-2699590">
              <a:off x="5940318" y="35714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72" name="Google Shape;872;p78"/>
            <p:cNvSpPr/>
            <p:nvPr/>
          </p:nvSpPr>
          <p:spPr>
            <a:xfrm>
              <a:off x="6778080" y="2891160"/>
              <a:ext cx="1596300" cy="1596300"/>
            </a:xfrm>
            <a:prstGeom prst="ellipse">
              <a:avLst/>
            </a:prstGeom>
            <a:noFill/>
            <a:ln cap="flat" cmpd="sng" w="9525">
              <a:solidFill>
                <a:srgbClr val="F8F8F8"/>
              </a:solidFill>
              <a:prstDash val="lg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873" name="Google Shape;873;p78"/>
          <p:cNvSpPr/>
          <p:nvPr/>
        </p:nvSpPr>
        <p:spPr>
          <a:xfrm>
            <a:off x="5397480" y="1055160"/>
            <a:ext cx="3033000" cy="3033000"/>
          </a:xfrm>
          <a:prstGeom prst="ellipse">
            <a:avLst/>
          </a:prstGeom>
          <a:blipFill rotWithShape="1">
            <a:blip r:embed="rId3">
              <a:alphaModFix/>
            </a:blip>
            <a:stretch>
              <a:fillRect b="0" l="0" r="0" t="0"/>
            </a:stretch>
          </a:blipFill>
          <a:ln cap="flat" cmpd="sng" w="38100">
            <a:solidFill>
              <a:srgbClr val="F8F8F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874" name="Google Shape;874;p78"/>
          <p:cNvGrpSpPr/>
          <p:nvPr/>
        </p:nvGrpSpPr>
        <p:grpSpPr>
          <a:xfrm>
            <a:off x="5405271" y="1044240"/>
            <a:ext cx="3160020" cy="3290700"/>
            <a:chOff x="5405271" y="1044240"/>
            <a:chExt cx="3160020" cy="3290700"/>
          </a:xfrm>
        </p:grpSpPr>
        <p:sp>
          <p:nvSpPr>
            <p:cNvPr id="875" name="Google Shape;875;p78"/>
            <p:cNvSpPr/>
            <p:nvPr/>
          </p:nvSpPr>
          <p:spPr>
            <a:xfrm rot="-2700000">
              <a:off x="7674867" y="13795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76" name="Google Shape;876;p78"/>
            <p:cNvSpPr/>
            <p:nvPr/>
          </p:nvSpPr>
          <p:spPr>
            <a:xfrm rot="-2700000">
              <a:off x="5299947" y="38851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877" name="Google Shape;877;p78"/>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878" name="Google Shape;878;p78"/>
          <p:cNvSpPr txBox="1"/>
          <p:nvPr>
            <p:ph type="title"/>
          </p:nvPr>
        </p:nvSpPr>
        <p:spPr>
          <a:xfrm>
            <a:off x="0" y="1928750"/>
            <a:ext cx="4383600" cy="14097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Próximos Pasos y Continuidad</a:t>
            </a:r>
            <a:endParaRPr b="1" sz="3200" u="none" strike="noStrike">
              <a:solidFill>
                <a:schemeClr val="dk1"/>
              </a:solidFill>
              <a:latin typeface="Roboto"/>
              <a:ea typeface="Roboto"/>
              <a:cs typeface="Roboto"/>
              <a:sym typeface="Roboto"/>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sp>
        <p:nvSpPr>
          <p:cNvPr id="883" name="Google Shape;883;p79"/>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884" name="Google Shape;884;p79"/>
          <p:cNvSpPr txBox="1"/>
          <p:nvPr>
            <p:ph type="title"/>
          </p:nvPr>
        </p:nvSpPr>
        <p:spPr>
          <a:xfrm>
            <a:off x="986075" y="114075"/>
            <a:ext cx="6184800" cy="551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Próximos Pasos y Continuidad</a:t>
            </a:r>
            <a:endParaRPr b="1" sz="3200">
              <a:solidFill>
                <a:schemeClr val="dk1"/>
              </a:solidFill>
              <a:latin typeface="Roboto"/>
              <a:ea typeface="Roboto"/>
              <a:cs typeface="Roboto"/>
              <a:sym typeface="Roboto"/>
            </a:endParaRPr>
          </a:p>
        </p:txBody>
      </p:sp>
      <p:sp>
        <p:nvSpPr>
          <p:cNvPr id="885" name="Google Shape;885;p79"/>
          <p:cNvSpPr txBox="1"/>
          <p:nvPr/>
        </p:nvSpPr>
        <p:spPr>
          <a:xfrm>
            <a:off x="2437186" y="1118248"/>
            <a:ext cx="60300" cy="7500"/>
          </a:xfrm>
          <a:prstGeom prst="rect">
            <a:avLst/>
          </a:prstGeom>
          <a:noFill/>
          <a:ln>
            <a:noFill/>
          </a:ln>
        </p:spPr>
        <p:txBody>
          <a:bodyPr anchorCtr="0" anchor="t" bIns="102450" lIns="102450" spcFirstLastPara="1" rIns="102450" wrap="square" tIns="102450">
            <a:noAutofit/>
          </a:bodyPr>
          <a:lstStyle/>
          <a:p>
            <a:pPr indent="0" lvl="0" marL="0" rtl="0" algn="l">
              <a:spcBef>
                <a:spcPts val="0"/>
              </a:spcBef>
              <a:spcAft>
                <a:spcPts val="0"/>
              </a:spcAft>
              <a:buNone/>
            </a:pPr>
            <a:r>
              <a:t/>
            </a:r>
            <a:endParaRPr sz="1456">
              <a:solidFill>
                <a:schemeClr val="dk2"/>
              </a:solidFill>
              <a:latin typeface="Roboto"/>
              <a:ea typeface="Roboto"/>
              <a:cs typeface="Roboto"/>
              <a:sym typeface="Roboto"/>
            </a:endParaRPr>
          </a:p>
        </p:txBody>
      </p:sp>
      <p:grpSp>
        <p:nvGrpSpPr>
          <p:cNvPr id="886" name="Google Shape;886;p79"/>
          <p:cNvGrpSpPr/>
          <p:nvPr/>
        </p:nvGrpSpPr>
        <p:grpSpPr>
          <a:xfrm>
            <a:off x="5440762" y="1246241"/>
            <a:ext cx="2779249" cy="1937353"/>
            <a:chOff x="4526679" y="1857800"/>
            <a:chExt cx="2480144" cy="1728853"/>
          </a:xfrm>
        </p:grpSpPr>
        <p:sp>
          <p:nvSpPr>
            <p:cNvPr id="887" name="Google Shape;887;p79"/>
            <p:cNvSpPr/>
            <p:nvPr/>
          </p:nvSpPr>
          <p:spPr>
            <a:xfrm>
              <a:off x="4849302" y="3079475"/>
              <a:ext cx="1958400" cy="133500"/>
            </a:xfrm>
            <a:prstGeom prst="rect">
              <a:avLst/>
            </a:prstGeom>
            <a:solidFill>
              <a:srgbClr val="307AF3"/>
            </a:solidFill>
            <a:ln>
              <a:noFill/>
            </a:ln>
          </p:spPr>
          <p:txBody>
            <a:bodyPr anchorCtr="0" anchor="ctr" bIns="102450" lIns="102450" spcFirstLastPara="1" rIns="102450" wrap="square" tIns="102450">
              <a:noAutofit/>
            </a:bodyPr>
            <a:lstStyle/>
            <a:p>
              <a:pPr indent="0" lvl="0" marL="0" rtl="0" algn="l">
                <a:spcBef>
                  <a:spcPts val="0"/>
                </a:spcBef>
                <a:spcAft>
                  <a:spcPts val="0"/>
                </a:spcAft>
                <a:buNone/>
              </a:pPr>
              <a:r>
                <a:t/>
              </a:r>
              <a:endParaRPr/>
            </a:p>
          </p:txBody>
        </p:sp>
        <p:grpSp>
          <p:nvGrpSpPr>
            <p:cNvPr id="888" name="Google Shape;888;p79"/>
            <p:cNvGrpSpPr/>
            <p:nvPr/>
          </p:nvGrpSpPr>
          <p:grpSpPr>
            <a:xfrm>
              <a:off x="4526679" y="1857800"/>
              <a:ext cx="2480144" cy="1728853"/>
              <a:chOff x="4526679" y="1857800"/>
              <a:chExt cx="2480144" cy="1728853"/>
            </a:xfrm>
          </p:grpSpPr>
          <p:grpSp>
            <p:nvGrpSpPr>
              <p:cNvPr id="889" name="Google Shape;889;p79"/>
              <p:cNvGrpSpPr/>
              <p:nvPr/>
            </p:nvGrpSpPr>
            <p:grpSpPr>
              <a:xfrm>
                <a:off x="4808316" y="2800065"/>
                <a:ext cx="92400" cy="411825"/>
                <a:chOff x="845575" y="2563700"/>
                <a:chExt cx="92400" cy="411825"/>
              </a:xfrm>
            </p:grpSpPr>
            <p:cxnSp>
              <p:nvCxnSpPr>
                <p:cNvPr id="890" name="Google Shape;890;p79"/>
                <p:cNvCxnSpPr/>
                <p:nvPr/>
              </p:nvCxnSpPr>
              <p:spPr>
                <a:xfrm>
                  <a:off x="891775" y="2616125"/>
                  <a:ext cx="0" cy="359400"/>
                </a:xfrm>
                <a:prstGeom prst="straightConnector1">
                  <a:avLst/>
                </a:prstGeom>
                <a:noFill/>
                <a:ln cap="flat" cmpd="sng" w="9525">
                  <a:solidFill>
                    <a:srgbClr val="000000"/>
                  </a:solidFill>
                  <a:prstDash val="solid"/>
                  <a:round/>
                  <a:headEnd len="sm" w="sm" type="none"/>
                  <a:tailEnd len="sm" w="sm" type="none"/>
                </a:ln>
              </p:spPr>
            </p:cxnSp>
            <p:sp>
              <p:nvSpPr>
                <p:cNvPr id="891" name="Google Shape;891;p79"/>
                <p:cNvSpPr/>
                <p:nvPr/>
              </p:nvSpPr>
              <p:spPr>
                <a:xfrm>
                  <a:off x="845575" y="2563700"/>
                  <a:ext cx="92400" cy="92400"/>
                </a:xfrm>
                <a:prstGeom prst="ellipse">
                  <a:avLst/>
                </a:prstGeom>
                <a:solidFill>
                  <a:srgbClr val="000000"/>
                </a:solidFill>
                <a:ln>
                  <a:noFill/>
                </a:ln>
              </p:spPr>
              <p:txBody>
                <a:bodyPr anchorCtr="0" anchor="ctr" bIns="102450" lIns="102450" spcFirstLastPara="1" rIns="102450" wrap="square" tIns="102450">
                  <a:noAutofit/>
                </a:bodyPr>
                <a:lstStyle/>
                <a:p>
                  <a:pPr indent="0" lvl="0" marL="0" rtl="0" algn="l">
                    <a:spcBef>
                      <a:spcPts val="0"/>
                    </a:spcBef>
                    <a:spcAft>
                      <a:spcPts val="0"/>
                    </a:spcAft>
                    <a:buNone/>
                  </a:pPr>
                  <a:r>
                    <a:t/>
                  </a:r>
                  <a:endParaRPr/>
                </a:p>
              </p:txBody>
            </p:sp>
          </p:grpSp>
          <p:sp>
            <p:nvSpPr>
              <p:cNvPr id="892" name="Google Shape;892;p79"/>
              <p:cNvSpPr txBox="1"/>
              <p:nvPr/>
            </p:nvSpPr>
            <p:spPr>
              <a:xfrm>
                <a:off x="4526679" y="3215253"/>
                <a:ext cx="692700" cy="371400"/>
              </a:xfrm>
              <a:prstGeom prst="rect">
                <a:avLst/>
              </a:prstGeom>
              <a:noFill/>
              <a:ln>
                <a:noFill/>
              </a:ln>
            </p:spPr>
            <p:txBody>
              <a:bodyPr anchorCtr="0" anchor="t" bIns="102450" lIns="102450" spcFirstLastPara="1" rIns="102450" wrap="square" tIns="102450">
                <a:noAutofit/>
              </a:bodyPr>
              <a:lstStyle/>
              <a:p>
                <a:pPr indent="0" lvl="0" marL="0" rtl="0" algn="ctr">
                  <a:lnSpc>
                    <a:spcPct val="115000"/>
                  </a:lnSpc>
                  <a:spcBef>
                    <a:spcPts val="0"/>
                  </a:spcBef>
                  <a:spcAft>
                    <a:spcPts val="1793"/>
                  </a:spcAft>
                  <a:buNone/>
                </a:pPr>
                <a:r>
                  <a:rPr b="1" lang="en-US" sz="1344">
                    <a:latin typeface="Roboto"/>
                    <a:ea typeface="Roboto"/>
                    <a:cs typeface="Roboto"/>
                    <a:sym typeface="Roboto"/>
                  </a:rPr>
                  <a:t>Fase 2</a:t>
                </a:r>
                <a:endParaRPr b="1" sz="1344">
                  <a:latin typeface="Roboto"/>
                  <a:ea typeface="Roboto"/>
                  <a:cs typeface="Roboto"/>
                  <a:sym typeface="Roboto"/>
                </a:endParaRPr>
              </a:p>
            </p:txBody>
          </p:sp>
          <p:sp>
            <p:nvSpPr>
              <p:cNvPr id="893" name="Google Shape;893;p79"/>
              <p:cNvSpPr txBox="1"/>
              <p:nvPr/>
            </p:nvSpPr>
            <p:spPr>
              <a:xfrm>
                <a:off x="4753223" y="1857800"/>
                <a:ext cx="2253600" cy="943800"/>
              </a:xfrm>
              <a:prstGeom prst="rect">
                <a:avLst/>
              </a:prstGeom>
              <a:noFill/>
              <a:ln>
                <a:noFill/>
              </a:ln>
            </p:spPr>
            <p:txBody>
              <a:bodyPr anchorCtr="0" anchor="t" bIns="102450" lIns="102450" spcFirstLastPara="1" rIns="102450" wrap="square" tIns="102450">
                <a:noAutofit/>
              </a:bodyPr>
              <a:lstStyle/>
              <a:p>
                <a:pPr indent="0" lvl="0" marL="0" rtl="0" algn="l">
                  <a:spcBef>
                    <a:spcPts val="0"/>
                  </a:spcBef>
                  <a:spcAft>
                    <a:spcPts val="0"/>
                  </a:spcAft>
                  <a:buNone/>
                </a:pPr>
                <a:r>
                  <a:rPr b="1" lang="en-US" sz="896">
                    <a:latin typeface="Roboto"/>
                    <a:ea typeface="Roboto"/>
                    <a:cs typeface="Roboto"/>
                    <a:sym typeface="Roboto"/>
                  </a:rPr>
                  <a:t>Viabilidad y Despliegue</a:t>
                </a:r>
                <a:endParaRPr b="1" sz="896">
                  <a:latin typeface="Roboto"/>
                  <a:ea typeface="Roboto"/>
                  <a:cs typeface="Roboto"/>
                  <a:sym typeface="Roboto"/>
                </a:endParaRPr>
              </a:p>
              <a:p>
                <a:pPr indent="0" lvl="0" marL="0" rtl="0" algn="l">
                  <a:spcBef>
                    <a:spcPts val="0"/>
                  </a:spcBef>
                  <a:spcAft>
                    <a:spcPts val="0"/>
                  </a:spcAft>
                  <a:buNone/>
                </a:pPr>
                <a:r>
                  <a:t/>
                </a:r>
                <a:endParaRPr b="1" sz="896">
                  <a:latin typeface="Roboto"/>
                  <a:ea typeface="Roboto"/>
                  <a:cs typeface="Roboto"/>
                  <a:sym typeface="Roboto"/>
                </a:endParaRPr>
              </a:p>
              <a:p>
                <a:pPr indent="0" lvl="0" marL="0" rtl="0" algn="l">
                  <a:spcBef>
                    <a:spcPts val="0"/>
                  </a:spcBef>
                  <a:spcAft>
                    <a:spcPts val="1793"/>
                  </a:spcAft>
                  <a:buNone/>
                </a:pPr>
                <a:r>
                  <a:rPr lang="en-US" sz="896">
                    <a:latin typeface="Roboto"/>
                    <a:ea typeface="Roboto"/>
                    <a:cs typeface="Roboto"/>
                    <a:sym typeface="Roboto"/>
                  </a:rPr>
                  <a:t>Definición del presupuesto y recursos de infraestructura necesarios para la puesta en marcha productiva y mantenimiento.</a:t>
                </a:r>
                <a:endParaRPr b="1" sz="896">
                  <a:latin typeface="Roboto"/>
                  <a:ea typeface="Roboto"/>
                  <a:cs typeface="Roboto"/>
                  <a:sym typeface="Roboto"/>
                </a:endParaRPr>
              </a:p>
            </p:txBody>
          </p:sp>
        </p:grpSp>
      </p:grpSp>
      <p:grpSp>
        <p:nvGrpSpPr>
          <p:cNvPr id="894" name="Google Shape;894;p79"/>
          <p:cNvGrpSpPr/>
          <p:nvPr/>
        </p:nvGrpSpPr>
        <p:grpSpPr>
          <a:xfrm>
            <a:off x="923989" y="1005606"/>
            <a:ext cx="2891950" cy="2178011"/>
            <a:chOff x="496006" y="1643063"/>
            <a:chExt cx="2580716" cy="1943611"/>
          </a:xfrm>
        </p:grpSpPr>
        <p:sp>
          <p:nvSpPr>
            <p:cNvPr id="895" name="Google Shape;895;p79"/>
            <p:cNvSpPr/>
            <p:nvPr/>
          </p:nvSpPr>
          <p:spPr>
            <a:xfrm>
              <a:off x="932600" y="3079475"/>
              <a:ext cx="1958400" cy="133500"/>
            </a:xfrm>
            <a:prstGeom prst="rect">
              <a:avLst/>
            </a:prstGeom>
            <a:solidFill>
              <a:srgbClr val="307AF3"/>
            </a:solidFill>
            <a:ln>
              <a:noFill/>
            </a:ln>
          </p:spPr>
          <p:txBody>
            <a:bodyPr anchorCtr="0" anchor="ctr" bIns="102450" lIns="102450" spcFirstLastPara="1" rIns="102450" wrap="square" tIns="102450">
              <a:noAutofit/>
            </a:bodyPr>
            <a:lstStyle/>
            <a:p>
              <a:pPr indent="0" lvl="0" marL="0" rtl="0" algn="l">
                <a:spcBef>
                  <a:spcPts val="0"/>
                </a:spcBef>
                <a:spcAft>
                  <a:spcPts val="0"/>
                </a:spcAft>
                <a:buNone/>
              </a:pPr>
              <a:r>
                <a:t/>
              </a:r>
              <a:endParaRPr/>
            </a:p>
          </p:txBody>
        </p:sp>
        <p:grpSp>
          <p:nvGrpSpPr>
            <p:cNvPr id="896" name="Google Shape;896;p79"/>
            <p:cNvGrpSpPr/>
            <p:nvPr/>
          </p:nvGrpSpPr>
          <p:grpSpPr>
            <a:xfrm>
              <a:off x="496006" y="1643063"/>
              <a:ext cx="2580716" cy="1943611"/>
              <a:chOff x="496006" y="1643063"/>
              <a:chExt cx="2580716" cy="1943611"/>
            </a:xfrm>
          </p:grpSpPr>
          <p:sp>
            <p:nvSpPr>
              <p:cNvPr id="897" name="Google Shape;897;p79"/>
              <p:cNvSpPr txBox="1"/>
              <p:nvPr/>
            </p:nvSpPr>
            <p:spPr>
              <a:xfrm>
                <a:off x="496006" y="3215274"/>
                <a:ext cx="1404000" cy="371400"/>
              </a:xfrm>
              <a:prstGeom prst="rect">
                <a:avLst/>
              </a:prstGeom>
              <a:noFill/>
              <a:ln>
                <a:noFill/>
              </a:ln>
            </p:spPr>
            <p:txBody>
              <a:bodyPr anchorCtr="0" anchor="t" bIns="102450" lIns="102450" spcFirstLastPara="1" rIns="102450" wrap="square" tIns="102450">
                <a:noAutofit/>
              </a:bodyPr>
              <a:lstStyle/>
              <a:p>
                <a:pPr indent="0" lvl="0" marL="0" rtl="0" algn="ctr">
                  <a:lnSpc>
                    <a:spcPct val="115000"/>
                  </a:lnSpc>
                  <a:spcBef>
                    <a:spcPts val="0"/>
                  </a:spcBef>
                  <a:spcAft>
                    <a:spcPts val="1793"/>
                  </a:spcAft>
                  <a:buNone/>
                </a:pPr>
                <a:r>
                  <a:rPr b="1" lang="en-US" sz="1344">
                    <a:latin typeface="Roboto"/>
                    <a:ea typeface="Roboto"/>
                    <a:cs typeface="Roboto"/>
                    <a:sym typeface="Roboto"/>
                  </a:rPr>
                  <a:t>Fase - Semana 1</a:t>
                </a:r>
                <a:endParaRPr b="1" sz="1344">
                  <a:latin typeface="Roboto"/>
                  <a:ea typeface="Roboto"/>
                  <a:cs typeface="Roboto"/>
                  <a:sym typeface="Roboto"/>
                </a:endParaRPr>
              </a:p>
            </p:txBody>
          </p:sp>
          <p:grpSp>
            <p:nvGrpSpPr>
              <p:cNvPr id="898" name="Google Shape;898;p79"/>
              <p:cNvGrpSpPr/>
              <p:nvPr/>
            </p:nvGrpSpPr>
            <p:grpSpPr>
              <a:xfrm>
                <a:off x="881025" y="2800065"/>
                <a:ext cx="92400" cy="411825"/>
                <a:chOff x="845575" y="2563700"/>
                <a:chExt cx="92400" cy="411825"/>
              </a:xfrm>
            </p:grpSpPr>
            <p:cxnSp>
              <p:nvCxnSpPr>
                <p:cNvPr id="899" name="Google Shape;899;p79"/>
                <p:cNvCxnSpPr/>
                <p:nvPr/>
              </p:nvCxnSpPr>
              <p:spPr>
                <a:xfrm>
                  <a:off x="891775" y="2616125"/>
                  <a:ext cx="0" cy="359400"/>
                </a:xfrm>
                <a:prstGeom prst="straightConnector1">
                  <a:avLst/>
                </a:prstGeom>
                <a:noFill/>
                <a:ln cap="flat" cmpd="sng" w="9525">
                  <a:solidFill>
                    <a:srgbClr val="000000"/>
                  </a:solidFill>
                  <a:prstDash val="solid"/>
                  <a:round/>
                  <a:headEnd len="sm" w="sm" type="none"/>
                  <a:tailEnd len="sm" w="sm" type="none"/>
                </a:ln>
              </p:spPr>
            </p:cxnSp>
            <p:sp>
              <p:nvSpPr>
                <p:cNvPr id="900" name="Google Shape;900;p79"/>
                <p:cNvSpPr/>
                <p:nvPr/>
              </p:nvSpPr>
              <p:spPr>
                <a:xfrm>
                  <a:off x="845575" y="2563700"/>
                  <a:ext cx="92400" cy="92400"/>
                </a:xfrm>
                <a:prstGeom prst="ellipse">
                  <a:avLst/>
                </a:prstGeom>
                <a:solidFill>
                  <a:srgbClr val="000000"/>
                </a:solidFill>
                <a:ln>
                  <a:noFill/>
                </a:ln>
              </p:spPr>
              <p:txBody>
                <a:bodyPr anchorCtr="0" anchor="ctr" bIns="102450" lIns="102450" spcFirstLastPara="1" rIns="102450" wrap="square" tIns="102450">
                  <a:noAutofit/>
                </a:bodyPr>
                <a:lstStyle/>
                <a:p>
                  <a:pPr indent="0" lvl="0" marL="0" rtl="0" algn="l">
                    <a:spcBef>
                      <a:spcPts val="0"/>
                    </a:spcBef>
                    <a:spcAft>
                      <a:spcPts val="0"/>
                    </a:spcAft>
                    <a:buNone/>
                  </a:pPr>
                  <a:r>
                    <a:t/>
                  </a:r>
                  <a:endParaRPr/>
                </a:p>
              </p:txBody>
            </p:sp>
          </p:grpSp>
          <p:sp>
            <p:nvSpPr>
              <p:cNvPr id="901" name="Google Shape;901;p79"/>
              <p:cNvSpPr txBox="1"/>
              <p:nvPr/>
            </p:nvSpPr>
            <p:spPr>
              <a:xfrm>
                <a:off x="823122" y="1643063"/>
                <a:ext cx="2253600" cy="943800"/>
              </a:xfrm>
              <a:prstGeom prst="rect">
                <a:avLst/>
              </a:prstGeom>
              <a:noFill/>
              <a:ln>
                <a:noFill/>
              </a:ln>
            </p:spPr>
            <p:txBody>
              <a:bodyPr anchorCtr="0" anchor="t" bIns="102450" lIns="102450" spcFirstLastPara="1" rIns="102450" wrap="square" tIns="102450">
                <a:noAutofit/>
              </a:bodyPr>
              <a:lstStyle/>
              <a:p>
                <a:pPr indent="0" lvl="0" marL="0" rtl="0" algn="l">
                  <a:spcBef>
                    <a:spcPts val="0"/>
                  </a:spcBef>
                  <a:spcAft>
                    <a:spcPts val="0"/>
                  </a:spcAft>
                  <a:buNone/>
                </a:pPr>
                <a:r>
                  <a:rPr b="1" lang="en-US" sz="896">
                    <a:latin typeface="Roboto"/>
                    <a:ea typeface="Roboto"/>
                    <a:cs typeface="Roboto"/>
                    <a:sym typeface="Roboto"/>
                  </a:rPr>
                  <a:t>Validación Operativa</a:t>
                </a:r>
                <a:endParaRPr b="1" sz="896">
                  <a:latin typeface="Roboto"/>
                  <a:ea typeface="Roboto"/>
                  <a:cs typeface="Roboto"/>
                  <a:sym typeface="Roboto"/>
                </a:endParaRPr>
              </a:p>
              <a:p>
                <a:pPr indent="0" lvl="0" marL="0" rtl="0" algn="l">
                  <a:spcBef>
                    <a:spcPts val="1793"/>
                  </a:spcBef>
                  <a:spcAft>
                    <a:spcPts val="0"/>
                  </a:spcAft>
                  <a:buNone/>
                </a:pPr>
                <a:r>
                  <a:rPr lang="en-US" sz="896">
                    <a:latin typeface="Roboto"/>
                    <a:ea typeface="Roboto"/>
                    <a:cs typeface="Roboto"/>
                    <a:sym typeface="Roboto"/>
                  </a:rPr>
                  <a:t>Reunión de cierre con el Jefe de Planificación para incorporar las últimas observaciones de usabilidad al MVP.</a:t>
                </a:r>
                <a:endParaRPr sz="896">
                  <a:latin typeface="Roboto"/>
                  <a:ea typeface="Roboto"/>
                  <a:cs typeface="Roboto"/>
                  <a:sym typeface="Roboto"/>
                </a:endParaRPr>
              </a:p>
              <a:p>
                <a:pPr indent="0" lvl="0" marL="0" rtl="0" algn="l">
                  <a:spcBef>
                    <a:spcPts val="1793"/>
                  </a:spcBef>
                  <a:spcAft>
                    <a:spcPts val="1793"/>
                  </a:spcAft>
                  <a:buNone/>
                </a:pPr>
                <a:r>
                  <a:t/>
                </a:r>
                <a:endParaRPr b="1" sz="896">
                  <a:latin typeface="Roboto"/>
                  <a:ea typeface="Roboto"/>
                  <a:cs typeface="Roboto"/>
                  <a:sym typeface="Roboto"/>
                </a:endParaRPr>
              </a:p>
            </p:txBody>
          </p:sp>
        </p:grpSp>
      </p:grpSp>
      <p:grpSp>
        <p:nvGrpSpPr>
          <p:cNvPr id="902" name="Google Shape;902;p79"/>
          <p:cNvGrpSpPr/>
          <p:nvPr/>
        </p:nvGrpSpPr>
        <p:grpSpPr>
          <a:xfrm>
            <a:off x="3198353" y="2192923"/>
            <a:ext cx="2803013" cy="1944971"/>
            <a:chOff x="2525600" y="2702599"/>
            <a:chExt cx="2501350" cy="1735651"/>
          </a:xfrm>
        </p:grpSpPr>
        <p:sp>
          <p:nvSpPr>
            <p:cNvPr id="903" name="Google Shape;903;p79"/>
            <p:cNvSpPr/>
            <p:nvPr/>
          </p:nvSpPr>
          <p:spPr>
            <a:xfrm>
              <a:off x="2890952" y="3079475"/>
              <a:ext cx="1958400" cy="133500"/>
            </a:xfrm>
            <a:prstGeom prst="rect">
              <a:avLst/>
            </a:prstGeom>
            <a:solidFill>
              <a:srgbClr val="0942A1"/>
            </a:solidFill>
            <a:ln>
              <a:noFill/>
            </a:ln>
          </p:spPr>
          <p:txBody>
            <a:bodyPr anchorCtr="0" anchor="ctr" bIns="102450" lIns="102450" spcFirstLastPara="1" rIns="102450" wrap="square" tIns="102450">
              <a:noAutofit/>
            </a:bodyPr>
            <a:lstStyle/>
            <a:p>
              <a:pPr indent="0" lvl="0" marL="0" rtl="0" algn="l">
                <a:spcBef>
                  <a:spcPts val="0"/>
                </a:spcBef>
                <a:spcAft>
                  <a:spcPts val="0"/>
                </a:spcAft>
                <a:buNone/>
              </a:pPr>
              <a:r>
                <a:t/>
              </a:r>
              <a:endParaRPr/>
            </a:p>
          </p:txBody>
        </p:sp>
        <p:grpSp>
          <p:nvGrpSpPr>
            <p:cNvPr id="904" name="Google Shape;904;p79"/>
            <p:cNvGrpSpPr/>
            <p:nvPr/>
          </p:nvGrpSpPr>
          <p:grpSpPr>
            <a:xfrm>
              <a:off x="2525600" y="2702599"/>
              <a:ext cx="2501350" cy="1735651"/>
              <a:chOff x="2525600" y="2702599"/>
              <a:chExt cx="2501350" cy="1735651"/>
            </a:xfrm>
          </p:grpSpPr>
          <p:sp>
            <p:nvSpPr>
              <p:cNvPr id="905" name="Google Shape;905;p79"/>
              <p:cNvSpPr txBox="1"/>
              <p:nvPr/>
            </p:nvSpPr>
            <p:spPr>
              <a:xfrm>
                <a:off x="2525600" y="2702599"/>
                <a:ext cx="1570200" cy="371400"/>
              </a:xfrm>
              <a:prstGeom prst="rect">
                <a:avLst/>
              </a:prstGeom>
              <a:noFill/>
              <a:ln>
                <a:noFill/>
              </a:ln>
            </p:spPr>
            <p:txBody>
              <a:bodyPr anchorCtr="0" anchor="t" bIns="102450" lIns="102450" spcFirstLastPara="1" rIns="102450" wrap="square" tIns="102450">
                <a:noAutofit/>
              </a:bodyPr>
              <a:lstStyle/>
              <a:p>
                <a:pPr indent="0" lvl="0" marL="0" rtl="0" algn="ctr">
                  <a:lnSpc>
                    <a:spcPct val="115000"/>
                  </a:lnSpc>
                  <a:spcBef>
                    <a:spcPts val="0"/>
                  </a:spcBef>
                  <a:spcAft>
                    <a:spcPts val="1793"/>
                  </a:spcAft>
                  <a:buNone/>
                </a:pPr>
                <a:r>
                  <a:rPr b="1" lang="en-US" sz="1344">
                    <a:latin typeface="Roboto"/>
                    <a:ea typeface="Roboto"/>
                    <a:cs typeface="Roboto"/>
                    <a:sym typeface="Roboto"/>
                  </a:rPr>
                  <a:t>Fase 1 - Semana 2</a:t>
                </a:r>
                <a:endParaRPr b="1" sz="1344">
                  <a:latin typeface="Roboto"/>
                  <a:ea typeface="Roboto"/>
                  <a:cs typeface="Roboto"/>
                  <a:sym typeface="Roboto"/>
                </a:endParaRPr>
              </a:p>
            </p:txBody>
          </p:sp>
          <p:grpSp>
            <p:nvGrpSpPr>
              <p:cNvPr id="906" name="Google Shape;906;p79"/>
              <p:cNvGrpSpPr/>
              <p:nvPr/>
            </p:nvGrpSpPr>
            <p:grpSpPr>
              <a:xfrm rot="10800000">
                <a:off x="2849073" y="3079467"/>
                <a:ext cx="92400" cy="411825"/>
                <a:chOff x="2070100" y="2563700"/>
                <a:chExt cx="92400" cy="411825"/>
              </a:xfrm>
            </p:grpSpPr>
            <p:cxnSp>
              <p:nvCxnSpPr>
                <p:cNvPr id="907" name="Google Shape;907;p79"/>
                <p:cNvCxnSpPr/>
                <p:nvPr/>
              </p:nvCxnSpPr>
              <p:spPr>
                <a:xfrm>
                  <a:off x="2116300" y="2616125"/>
                  <a:ext cx="0" cy="359400"/>
                </a:xfrm>
                <a:prstGeom prst="straightConnector1">
                  <a:avLst/>
                </a:prstGeom>
                <a:noFill/>
                <a:ln cap="flat" cmpd="sng" w="9525">
                  <a:solidFill>
                    <a:srgbClr val="000000"/>
                  </a:solidFill>
                  <a:prstDash val="solid"/>
                  <a:round/>
                  <a:headEnd len="sm" w="sm" type="none"/>
                  <a:tailEnd len="sm" w="sm" type="none"/>
                </a:ln>
              </p:spPr>
            </p:cxnSp>
            <p:sp>
              <p:nvSpPr>
                <p:cNvPr id="908" name="Google Shape;908;p79"/>
                <p:cNvSpPr/>
                <p:nvPr/>
              </p:nvSpPr>
              <p:spPr>
                <a:xfrm>
                  <a:off x="2070100" y="2563700"/>
                  <a:ext cx="92400" cy="92400"/>
                </a:xfrm>
                <a:prstGeom prst="ellipse">
                  <a:avLst/>
                </a:prstGeom>
                <a:solidFill>
                  <a:srgbClr val="000000"/>
                </a:solidFill>
                <a:ln>
                  <a:noFill/>
                </a:ln>
              </p:spPr>
              <p:txBody>
                <a:bodyPr anchorCtr="0" anchor="ctr" bIns="102450" lIns="102450" spcFirstLastPara="1" rIns="102450" wrap="square" tIns="102450">
                  <a:noAutofit/>
                </a:bodyPr>
                <a:lstStyle/>
                <a:p>
                  <a:pPr indent="0" lvl="0" marL="0" rtl="0" algn="l">
                    <a:spcBef>
                      <a:spcPts val="0"/>
                    </a:spcBef>
                    <a:spcAft>
                      <a:spcPts val="0"/>
                    </a:spcAft>
                    <a:buNone/>
                  </a:pPr>
                  <a:r>
                    <a:t/>
                  </a:r>
                  <a:endParaRPr/>
                </a:p>
              </p:txBody>
            </p:sp>
          </p:grpSp>
          <p:sp>
            <p:nvSpPr>
              <p:cNvPr id="909" name="Google Shape;909;p79"/>
              <p:cNvSpPr txBox="1"/>
              <p:nvPr/>
            </p:nvSpPr>
            <p:spPr>
              <a:xfrm>
                <a:off x="2773350" y="3494450"/>
                <a:ext cx="2253600" cy="943800"/>
              </a:xfrm>
              <a:prstGeom prst="rect">
                <a:avLst/>
              </a:prstGeom>
              <a:noFill/>
              <a:ln>
                <a:noFill/>
              </a:ln>
            </p:spPr>
            <p:txBody>
              <a:bodyPr anchorCtr="0" anchor="t" bIns="102450" lIns="102450" spcFirstLastPara="1" rIns="102450" wrap="square" tIns="102450">
                <a:noAutofit/>
              </a:bodyPr>
              <a:lstStyle/>
              <a:p>
                <a:pPr indent="0" lvl="0" marL="0" rtl="0" algn="l">
                  <a:spcBef>
                    <a:spcPts val="0"/>
                  </a:spcBef>
                  <a:spcAft>
                    <a:spcPts val="0"/>
                  </a:spcAft>
                  <a:buNone/>
                </a:pPr>
                <a:r>
                  <a:rPr b="1" lang="en-US" sz="896">
                    <a:latin typeface="Roboto"/>
                    <a:ea typeface="Roboto"/>
                    <a:cs typeface="Roboto"/>
                    <a:sym typeface="Roboto"/>
                  </a:rPr>
                  <a:t>Aprobación Ejecutiva</a:t>
                </a:r>
                <a:endParaRPr b="1" sz="896">
                  <a:latin typeface="Roboto"/>
                  <a:ea typeface="Roboto"/>
                  <a:cs typeface="Roboto"/>
                  <a:sym typeface="Roboto"/>
                </a:endParaRPr>
              </a:p>
              <a:p>
                <a:pPr indent="0" lvl="0" marL="0" rtl="0" algn="l">
                  <a:spcBef>
                    <a:spcPts val="0"/>
                  </a:spcBef>
                  <a:spcAft>
                    <a:spcPts val="0"/>
                  </a:spcAft>
                  <a:buNone/>
                </a:pPr>
                <a:r>
                  <a:t/>
                </a:r>
                <a:endParaRPr b="1" sz="896">
                  <a:latin typeface="Roboto"/>
                  <a:ea typeface="Roboto"/>
                  <a:cs typeface="Roboto"/>
                  <a:sym typeface="Roboto"/>
                </a:endParaRPr>
              </a:p>
              <a:p>
                <a:pPr indent="0" lvl="0" marL="0" rtl="0" algn="l">
                  <a:spcBef>
                    <a:spcPts val="0"/>
                  </a:spcBef>
                  <a:spcAft>
                    <a:spcPts val="1793"/>
                  </a:spcAft>
                  <a:buNone/>
                </a:pPr>
                <a:r>
                  <a:rPr lang="en-US" sz="896">
                    <a:latin typeface="Roboto"/>
                    <a:ea typeface="Roboto"/>
                    <a:cs typeface="Roboto"/>
                    <a:sym typeface="Roboto"/>
                  </a:rPr>
                  <a:t>Presentación formal de la solución al Gerente de Planta para demostrar el valor estratégico y obtener el visto bueno.</a:t>
                </a:r>
                <a:endParaRPr b="1" sz="896">
                  <a:latin typeface="Roboto"/>
                  <a:ea typeface="Roboto"/>
                  <a:cs typeface="Roboto"/>
                  <a:sym typeface="Roboto"/>
                </a:endParaRPr>
              </a:p>
            </p:txBody>
          </p:sp>
        </p:grpSp>
      </p:gr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grpSp>
        <p:nvGrpSpPr>
          <p:cNvPr id="914" name="Google Shape;914;p80"/>
          <p:cNvGrpSpPr/>
          <p:nvPr/>
        </p:nvGrpSpPr>
        <p:grpSpPr>
          <a:xfrm>
            <a:off x="3978720" y="6840"/>
            <a:ext cx="5164200" cy="5143200"/>
            <a:chOff x="3978720" y="6840"/>
            <a:chExt cx="5164200" cy="5143200"/>
          </a:xfrm>
        </p:grpSpPr>
        <p:sp>
          <p:nvSpPr>
            <p:cNvPr id="915" name="Google Shape;915;p80"/>
            <p:cNvSpPr/>
            <p:nvPr/>
          </p:nvSpPr>
          <p:spPr>
            <a:xfrm flipH="1">
              <a:off x="3978720" y="6840"/>
              <a:ext cx="5164200" cy="51432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16" name="Google Shape;916;p80"/>
            <p:cNvSpPr/>
            <p:nvPr/>
          </p:nvSpPr>
          <p:spPr>
            <a:xfrm rot="-2699590">
              <a:off x="4520886" y="36474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17" name="Google Shape;917;p80"/>
            <p:cNvSpPr/>
            <p:nvPr/>
          </p:nvSpPr>
          <p:spPr>
            <a:xfrm rot="-2699590">
              <a:off x="7184166" y="22452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18" name="Google Shape;918;p80"/>
            <p:cNvSpPr/>
            <p:nvPr/>
          </p:nvSpPr>
          <p:spPr>
            <a:xfrm rot="-2699590">
              <a:off x="6716478" y="11666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19" name="Google Shape;919;p80"/>
            <p:cNvSpPr/>
            <p:nvPr/>
          </p:nvSpPr>
          <p:spPr>
            <a:xfrm rot="-2699590">
              <a:off x="5940318" y="35714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20" name="Google Shape;920;p80"/>
            <p:cNvSpPr/>
            <p:nvPr/>
          </p:nvSpPr>
          <p:spPr>
            <a:xfrm>
              <a:off x="6778080" y="2891160"/>
              <a:ext cx="1596300" cy="1596300"/>
            </a:xfrm>
            <a:prstGeom prst="ellipse">
              <a:avLst/>
            </a:prstGeom>
            <a:noFill/>
            <a:ln cap="flat" cmpd="sng" w="9525">
              <a:solidFill>
                <a:srgbClr val="F8F8F8"/>
              </a:solidFill>
              <a:prstDash val="lg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921" name="Google Shape;921;p80"/>
          <p:cNvSpPr/>
          <p:nvPr/>
        </p:nvSpPr>
        <p:spPr>
          <a:xfrm>
            <a:off x="5397480" y="1055160"/>
            <a:ext cx="3033000" cy="3033000"/>
          </a:xfrm>
          <a:prstGeom prst="ellipse">
            <a:avLst/>
          </a:prstGeom>
          <a:blipFill rotWithShape="1">
            <a:blip r:embed="rId3">
              <a:alphaModFix/>
            </a:blip>
            <a:stretch>
              <a:fillRect b="0" l="0" r="0" t="0"/>
            </a:stretch>
          </a:blipFill>
          <a:ln cap="flat" cmpd="sng" w="38100">
            <a:solidFill>
              <a:srgbClr val="F8F8F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922" name="Google Shape;922;p80"/>
          <p:cNvGrpSpPr/>
          <p:nvPr/>
        </p:nvGrpSpPr>
        <p:grpSpPr>
          <a:xfrm>
            <a:off x="5405271" y="1044240"/>
            <a:ext cx="3160020" cy="3290700"/>
            <a:chOff x="5405271" y="1044240"/>
            <a:chExt cx="3160020" cy="3290700"/>
          </a:xfrm>
        </p:grpSpPr>
        <p:sp>
          <p:nvSpPr>
            <p:cNvPr id="923" name="Google Shape;923;p80"/>
            <p:cNvSpPr/>
            <p:nvPr/>
          </p:nvSpPr>
          <p:spPr>
            <a:xfrm rot="-2700000">
              <a:off x="7674867" y="13795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24" name="Google Shape;924;p80"/>
            <p:cNvSpPr/>
            <p:nvPr/>
          </p:nvSpPr>
          <p:spPr>
            <a:xfrm rot="-2700000">
              <a:off x="5299947" y="38851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925" name="Google Shape;925;p80"/>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926" name="Google Shape;926;p80"/>
          <p:cNvSpPr txBox="1"/>
          <p:nvPr>
            <p:ph type="title"/>
          </p:nvPr>
        </p:nvSpPr>
        <p:spPr>
          <a:xfrm>
            <a:off x="346028" y="1948375"/>
            <a:ext cx="6990900" cy="818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Conclusiones</a:t>
            </a:r>
            <a:endParaRPr b="1" sz="3200" u="none" strike="noStrike">
              <a:solidFill>
                <a:schemeClr val="dk1"/>
              </a:solidFill>
              <a:latin typeface="Roboto"/>
              <a:ea typeface="Roboto"/>
              <a:cs typeface="Roboto"/>
              <a:sym typeface="Roboto"/>
            </a:endParaRPr>
          </a:p>
        </p:txBody>
      </p:sp>
      <p:pic>
        <p:nvPicPr>
          <p:cNvPr id="927" name="Google Shape;927;p80"/>
          <p:cNvPicPr preferRelativeResize="0"/>
          <p:nvPr/>
        </p:nvPicPr>
        <p:blipFill>
          <a:blip r:embed="rId4">
            <a:alphaModFix/>
          </a:blip>
          <a:stretch>
            <a:fillRect/>
          </a:stretch>
        </p:blipFill>
        <p:spPr>
          <a:xfrm>
            <a:off x="3249650" y="1279300"/>
            <a:ext cx="1655581" cy="167115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pic>
        <p:nvPicPr>
          <p:cNvPr id="932" name="Google Shape;932;p81"/>
          <p:cNvPicPr preferRelativeResize="0"/>
          <p:nvPr/>
        </p:nvPicPr>
        <p:blipFill>
          <a:blip r:embed="rId3">
            <a:alphaModFix/>
          </a:blip>
          <a:stretch>
            <a:fillRect/>
          </a:stretch>
        </p:blipFill>
        <p:spPr>
          <a:xfrm>
            <a:off x="4443950" y="778850"/>
            <a:ext cx="4260424" cy="3425126"/>
          </a:xfrm>
          <a:prstGeom prst="rect">
            <a:avLst/>
          </a:prstGeom>
          <a:noFill/>
          <a:ln>
            <a:noFill/>
          </a:ln>
        </p:spPr>
      </p:pic>
      <p:sp>
        <p:nvSpPr>
          <p:cNvPr id="933" name="Google Shape;933;p81"/>
          <p:cNvSpPr txBox="1"/>
          <p:nvPr>
            <p:ph idx="4294967295" type="title"/>
          </p:nvPr>
        </p:nvSpPr>
        <p:spPr>
          <a:xfrm>
            <a:off x="3251250" y="124250"/>
            <a:ext cx="2641500" cy="818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100000"/>
              <a:buFont typeface="Archivo Black"/>
              <a:buNone/>
            </a:pPr>
            <a:r>
              <a:rPr b="1" lang="en-US" sz="3200" u="none" strike="noStrike">
                <a:solidFill>
                  <a:schemeClr val="dk1"/>
                </a:solidFill>
                <a:latin typeface="Roboto"/>
                <a:ea typeface="Roboto"/>
                <a:cs typeface="Roboto"/>
                <a:sym typeface="Roboto"/>
              </a:rPr>
              <a:t>Conclusiones</a:t>
            </a:r>
            <a:endParaRPr b="1" sz="3200" u="none" strike="noStrike">
              <a:solidFill>
                <a:schemeClr val="dk1"/>
              </a:solidFill>
              <a:latin typeface="Roboto"/>
              <a:ea typeface="Roboto"/>
              <a:cs typeface="Roboto"/>
              <a:sym typeface="Roboto"/>
            </a:endParaRPr>
          </a:p>
        </p:txBody>
      </p:sp>
      <p:sp>
        <p:nvSpPr>
          <p:cNvPr id="934" name="Google Shape;934;p8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pic>
        <p:nvPicPr>
          <p:cNvPr id="935" name="Google Shape;935;p81"/>
          <p:cNvPicPr preferRelativeResize="0"/>
          <p:nvPr/>
        </p:nvPicPr>
        <p:blipFill>
          <a:blip r:embed="rId4">
            <a:alphaModFix/>
          </a:blip>
          <a:stretch>
            <a:fillRect/>
          </a:stretch>
        </p:blipFill>
        <p:spPr>
          <a:xfrm>
            <a:off x="41625" y="778850"/>
            <a:ext cx="4402325" cy="3425126"/>
          </a:xfrm>
          <a:prstGeom prst="rect">
            <a:avLst/>
          </a:prstGeom>
          <a:noFill/>
          <a:ln>
            <a:noFill/>
          </a:ln>
        </p:spPr>
      </p:pic>
      <p:sp>
        <p:nvSpPr>
          <p:cNvPr id="936" name="Google Shape;936;p81"/>
          <p:cNvSpPr txBox="1"/>
          <p:nvPr/>
        </p:nvSpPr>
        <p:spPr>
          <a:xfrm>
            <a:off x="295650" y="1794800"/>
            <a:ext cx="4029000" cy="2047200"/>
          </a:xfrm>
          <a:prstGeom prst="rect">
            <a:avLst/>
          </a:prstGeom>
          <a:solidFill>
            <a:schemeClr val="lt1"/>
          </a:solid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1200">
                <a:solidFill>
                  <a:srgbClr val="073763"/>
                </a:solidFill>
                <a:latin typeface="Roboto"/>
                <a:ea typeface="Roboto"/>
                <a:cs typeface="Roboto"/>
                <a:sym typeface="Roboto"/>
              </a:rPr>
              <a:t>El desarrollo de este proyecto me proporcionó un aprendizaje significativo, complementando mis capacidades profesionales. Reafirmó la importancia crítica del análisis de datos como herramienta para la toma de decisiones informadas, tanto en el ámbito laboral como en el personal.</a:t>
            </a:r>
            <a:endParaRPr/>
          </a:p>
        </p:txBody>
      </p:sp>
      <p:sp>
        <p:nvSpPr>
          <p:cNvPr id="937" name="Google Shape;937;p81"/>
          <p:cNvSpPr txBox="1"/>
          <p:nvPr/>
        </p:nvSpPr>
        <p:spPr>
          <a:xfrm>
            <a:off x="962800" y="1198775"/>
            <a:ext cx="2477100" cy="3402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300">
                <a:solidFill>
                  <a:schemeClr val="dk2"/>
                </a:solidFill>
                <a:latin typeface="Roboto"/>
                <a:ea typeface="Roboto"/>
                <a:cs typeface="Roboto"/>
                <a:sym typeface="Roboto"/>
              </a:rPr>
              <a:t>Boris Arriagada Rojas</a:t>
            </a:r>
            <a:endParaRPr b="1" sz="1300">
              <a:solidFill>
                <a:schemeClr val="dk2"/>
              </a:solidFill>
              <a:latin typeface="Roboto"/>
              <a:ea typeface="Roboto"/>
              <a:cs typeface="Roboto"/>
              <a:sym typeface="Roboto"/>
            </a:endParaRPr>
          </a:p>
        </p:txBody>
      </p:sp>
      <p:sp>
        <p:nvSpPr>
          <p:cNvPr id="938" name="Google Shape;938;p81"/>
          <p:cNvSpPr txBox="1"/>
          <p:nvPr/>
        </p:nvSpPr>
        <p:spPr>
          <a:xfrm>
            <a:off x="5335613" y="1198775"/>
            <a:ext cx="2477100" cy="3402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300">
                <a:solidFill>
                  <a:schemeClr val="dk2"/>
                </a:solidFill>
                <a:latin typeface="Roboto"/>
                <a:ea typeface="Roboto"/>
                <a:cs typeface="Roboto"/>
                <a:sym typeface="Roboto"/>
              </a:rPr>
              <a:t>Jaime Vicencio Rubilar</a:t>
            </a:r>
            <a:endParaRPr b="1" sz="1300">
              <a:solidFill>
                <a:schemeClr val="dk2"/>
              </a:solidFill>
              <a:latin typeface="Roboto"/>
              <a:ea typeface="Roboto"/>
              <a:cs typeface="Roboto"/>
              <a:sym typeface="Roboto"/>
            </a:endParaRPr>
          </a:p>
        </p:txBody>
      </p:sp>
      <p:sp>
        <p:nvSpPr>
          <p:cNvPr id="939" name="Google Shape;939;p81"/>
          <p:cNvSpPr txBox="1"/>
          <p:nvPr/>
        </p:nvSpPr>
        <p:spPr>
          <a:xfrm>
            <a:off x="4559663" y="1779488"/>
            <a:ext cx="4029000" cy="2047200"/>
          </a:xfrm>
          <a:prstGeom prst="rect">
            <a:avLst/>
          </a:prstGeom>
          <a:solidFill>
            <a:schemeClr val="lt1"/>
          </a:solid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1200">
                <a:solidFill>
                  <a:srgbClr val="073763"/>
                </a:solidFill>
                <a:latin typeface="Roboto"/>
                <a:ea typeface="Roboto"/>
                <a:cs typeface="Roboto"/>
                <a:sym typeface="Roboto"/>
              </a:rPr>
              <a:t>Con este proyecto logramos conectar una arquitectura robusta con necesidades reales. Aprendí a </a:t>
            </a:r>
            <a:r>
              <a:rPr b="1" lang="en-US" sz="1200">
                <a:solidFill>
                  <a:srgbClr val="073763"/>
                </a:solidFill>
                <a:latin typeface="Roboto"/>
                <a:ea typeface="Roboto"/>
                <a:cs typeface="Roboto"/>
                <a:sym typeface="Roboto"/>
              </a:rPr>
              <a:t>transformar datos en valor para el cliente</a:t>
            </a:r>
            <a:r>
              <a:rPr lang="en-US" sz="1200">
                <a:solidFill>
                  <a:srgbClr val="073763"/>
                </a:solidFill>
                <a:latin typeface="Roboto"/>
                <a:ea typeface="Roboto"/>
                <a:cs typeface="Roboto"/>
                <a:sym typeface="Roboto"/>
              </a:rPr>
              <a:t>, marcando mi paso de estudiante a profesional, demostrando que cuento con las herramientas no solo para programar, sino para diseñar soluciones tecnológicas que impactan positivamente en el negocio.</a:t>
            </a:r>
            <a:endParaRPr sz="1200">
              <a:solidFill>
                <a:srgbClr val="073763"/>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